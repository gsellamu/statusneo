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5" r:id="rId26"/>
    <p:sldId id="276" r:id="rId27"/>
    <p:sldId id="277" r:id="rId28"/>
    <p:sldId id="278" r:id="rId29"/>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90-second framing: I didn't study the job description, I studied the business. Buildings should compound, not restart — three context loops. Most vendors pitch a chatbot on top; that's not the work. Today: two tracks — what the platform must become, and how we ship it. Everything here is offered for validation; decisions stay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what exists before any critique: the vision is differentiated and the three context loops are the right model. Position yourself as the person who makes it shippable, not the person who reinvents it. Land the phrase: 'your sign-off is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through homework, humility through framing. Mention that the portfolio (requirements, BDD, ADRs) exists so his sign-offs become reviews, not rescues. Invite correction explicitly — strict CTOs trust people who make their own falsifiability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thesis: effort hasn't translated to outcomes because two different problems are conflated. Track 1 is platform identity; Track 2 is shipping discipline. Then anchor everything on the single measurable north star — strict CTOs relax when a number replaces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PROBE-DEFENSE - issue / what it solves / why now, per theme. Lead with the theme; if Wilson asks 'why does that matter / why now,' answer from here. Credit what they already have first.
1) VALUE-STREAM ORG. ISSUE: sliced by skill across two companies + geographies, ~6 handoffs per feature, no end-to-end owner, duplicated effort - this is the E2E-doesn't-flow diagnosis. SOLVES: vertical, outcome-owning streams with single-threaded ownership; integration only through owned contracts (Conway's Law: clean services need a clean org). WHY NOW: the pod transition is happening anyway - set the value-stream axis at the same time or you re-pour the same silos into new pods.
2) PRODUCT OPERATING SYSTEM. ISSUE: task-driven, no cadence or working-backwards, unpredictable delivery, features unmoored from customer outcomes. SOLVES: a repeatable rhythm (PRFAQ in -&gt; release out, release trains, DORA/flow metrics) -&gt; forecastable, outcome-anchored shipping. WHY NOW: zero paying customers - you can't manage velocity you don't measure; the baseline must start now to show a trend by the time it matters.
3) CONTEXT SPINE. ISSUE: the core promise - contextual intelligence as the source of truth - is marketing, not a system; context is asserted, not grounded in retrievable facts. SOLVES: twin + knowledge graph + GraphRAG so every claim resolves to a versioned fact or codified rule - grounded, citable, learns. WHY NOW: it's the moat vs Autodesk; every day it stays a promise, buyer credibility erodes - and it's the foundation the agentic + compliance layer sits on.
4) MODUCULE CONTRACT (MDS). ISSUE: catalog is reusable by name, but the rules each Moducule carries aren't an enforced contract - batch validation lets reuse silently propagate non-compliance. SOLVES: a versioned contract (ports, constraints, invariants) enforced by the gate at composition time -&gt; reuse correct-by-construction + a certified registry. WHY NOW: hospital compliance - a wrong reuse is a code violation in a real building; prevention must be in place before the catalog scales.
5) TWIN HIERARCHY, ONE API. ISSUE: truth is split (Unity scene + DB), not journaled at every level -&gt; can't answer 'what's true and how it changed,' can't test headlessly, can't scale. SOLVES: one event-sourced Twin API owns truth at every level (component-&gt;room-&gt;floor-&gt;building), versioned -&gt; testable, observable, scalable, AI-readable. WHY NOW: step 0 - gate, AI, BIM, scale all depend on it; until truth lives in one place, E2E stays broken and nothing ships.
6) POLYGLOT PERSISTENCE. ISSUE: one RDBMS forced to do relationships + semantic search + telemetry -&gt; slow traversals, no native vectors, caps scale and the AI/compliance features. SOLVES: store matched to workload (graph/vector/time-series/relational), each behind a port, via strangler - no big-bang migration. WHY NOW: GraphRAG and blast-radius can't run on a pure RDBMS; the strangler approach lets you start now without risking the live system.
7) THIN UNITY. ISSUE: Unity is judged a liability on anxiety, not evidence - and the real issue isn't the renderer, it's the renderer owning state. SOLVES: move state to the twin -&gt; Unity becomes one swappable lens; keep its XR edge; record the call in an ADR. WHY NOW: the suspicion is already blocking roadmap decisions; a 4-week spike with pass/fail gates converts a paralyzing question into evidence.
UNIFYING WHY-NOW (whole slide): the StatusNeo transition is reshaping the team regardless, the product has zero paying customers and a broken E2E flow, and the people are being re-formed right now. This is the single moment where org and architecture can be set together. Reshape the org without these architecture themes and you've just re-poured the silos into new pods. That's why this is a Track 1 slide, not Track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 chatbot and contextual intelligence: ground first (Phase A is just structuring data Modutecture already owns), assist second, learn third. Spend time on the guardrails — they are the answer to the liability question before he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the CTO will remember: reusability fails today because it depends on people, not the platform. The MDS makes a Moducule a contract; validation makes composition legal-by-construction; the registry with certification makes reuse safe in a regulated, healthcare context. Interop stays vendor-neutral: IFC-aligned semantics, glTF/USD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respectful points: the RDBMS pain is acknowledged work — the Postgres/Lakebase migration is already in flight, and this plan finishes it rather than restarting it. And no store is added by fashion: each comes with an ADR, thresholds, and a revisit date. Event sourcing doubles as the compliance audit trail healthcare will demand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the team while addressing the risk: the constraints are hypotheses to test, not verdicts. Decoupling state from the client is the real de-risking move — it buys engine optionality regardless of the spike's outcome, and ends logic-in-client drift. XR stays as a differentiator the current pod can genuinely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with humility: 'this is your proposal — my job is to make it enforceable.' Each card has a gate: ADR sign-off, ready/done definitions, human-only merge, exit criteria. The pilot-pod recommendation (Context &amp; Twin Services) keeps business continuity in the UI streams while unblocking the platform-critical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authority move delivered humbly: invite measurement. The promised numbers in the proposal become published targets, and the scorecard runs every governance cycle. A strict CTO hears: this person expects to be audited — and built the instrument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slide. A optimizes the next board meeting; B the terminal architecture; C decision quality — and your credibility — landing at B's destination two weeks later. Be straight about the thumb on the scale: declare web-first as the recommendation; the gates exist to falsify it on his hardware and his content, not to feign neutrality. UE5 is assessed on paper — standing up pixel streaming inside a two-week timebox would be theater. Invite David to amend the gates; his authority bookends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math said out loud: a single-thread wedge sized for a six-person pod that is simultaneously executing the eight-week transition — roughly half of what an unconstrained plan would promise, deliverable with near-certainty. What moved to days 91-150 and why: Floor aggregates, Designer publishing, and the hardened agent need a stable spine first. Day 90 still demos end-to-end and still opens the sales motion. Smaller promise,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asks that respect his authority and pre-empt the politics: he keeps decision rights; access on day one; the design partner is HIS deliverable with a synthetic fallback so day 90 never depends on procurement; the pilot gets his exit criteria; and ask 5 defuses the threat the transition poses to Lloyd and Byron — co-authorship, not extraction. End on the tagline,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open this section if David asks for Unity depth. Set the frame in one line: the constraint is Unity as the only delivery vehicle into hospital IT — not the engine. RAG legend keeps the discussion about commercial motion, not technology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RED rows first — endpoints/VDI, web ceilings at BIM scale, accessibility, and BIM handover are the four that stop deals rather than slow them. Be precise: these bind the *delivery vehicle*; authoring value is untouched. Vendor-terms volatility (Industry tier, 2026 price changes) is a contract-contingency line, deliberately not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to emphasize: every mitigation comes with a falsifiable proof gate, so 'green' is a demonstrated state, not a declared one. The right-hand column is what David signs off on — gates, not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backup section here: twelve weeks, three gates, and a definition of green that is testable. If David challenges the timeline, the spike (weeks 1–4) is the only firm commitment — everything after is gated on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mechanisms, deliberately separated: content is cached (immutable, content-addressed bundles at the edge), state is synced (snapshot + event delta — never CDN-cached), and the brain is relocated, not cached (inference co-located with the graph; the local-first posture already is edge inference). The latency table is the rebuttal to 'the AI will feel slow': T0/T1 prediction plus asset caching kills perceived latency; the LLM never sits on the interaction path. Jobsite edge node is the AEC-specific differentiator — construction trailers have terrible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p:bgPr>
    </p:bg>
    <p:spTree>
      <p:nvGrpSpPr>
        <p:cNvPr id="1" name=""/>
        <p:cNvGrpSpPr/>
        <p:nvPr/>
      </p:nvGrpSpPr>
      <p:grpSpPr>
        <a:xfrm>
          <a:off x="0" y="0"/>
          <a:ext cx="0" cy="0"/>
          <a:chOff x="0" y="0"/>
          <a:chExt cx="0" cy="0"/>
        </a:xfrm>
      </p:grpSpPr>
      <p:sp>
        <p:nvSpPr>
          <p:cNvPr id="2" name="Shape 0"/>
          <p:cNvSpPr/>
          <p:nvPr/>
        </p:nvSpPr>
        <p:spPr>
          <a:xfrm>
            <a:off x="6720840" y="1417320"/>
            <a:ext cx="603504" cy="603504"/>
          </a:xfrm>
          <a:prstGeom prst="roundRect">
            <a:avLst>
              <a:gd name="adj" fmla="val 10606"/>
            </a:avLst>
          </a:prstGeom>
          <a:solidFill>
            <a:srgbClr val="E8A816"/>
          </a:solidFill>
          <a:ln w="12700">
            <a:solidFill>
              <a:srgbClr val="3A4F78"/>
            </a:solidFill>
            <a:prstDash val="solid"/>
          </a:ln>
        </p:spPr>
      </p:sp>
      <p:sp>
        <p:nvSpPr>
          <p:cNvPr id="3" name="Shape 1"/>
          <p:cNvSpPr/>
          <p:nvPr/>
        </p:nvSpPr>
        <p:spPr>
          <a:xfrm>
            <a:off x="7452360" y="1417320"/>
            <a:ext cx="603504" cy="603504"/>
          </a:xfrm>
          <a:prstGeom prst="roundRect">
            <a:avLst>
              <a:gd name="adj" fmla="val 10606"/>
            </a:avLst>
          </a:prstGeom>
          <a:solidFill>
            <a:srgbClr val="23375A"/>
          </a:solidFill>
          <a:ln w="9525">
            <a:solidFill>
              <a:srgbClr val="3A4F78"/>
            </a:solidFill>
            <a:prstDash val="solid"/>
          </a:ln>
        </p:spPr>
      </p:sp>
      <p:sp>
        <p:nvSpPr>
          <p:cNvPr id="4" name="Shape 2"/>
          <p:cNvSpPr/>
          <p:nvPr/>
        </p:nvSpPr>
        <p:spPr>
          <a:xfrm>
            <a:off x="8183880" y="1417320"/>
            <a:ext cx="603504" cy="603504"/>
          </a:xfrm>
          <a:prstGeom prst="roundRect">
            <a:avLst>
              <a:gd name="adj" fmla="val 10606"/>
            </a:avLst>
          </a:prstGeom>
          <a:solidFill>
            <a:srgbClr val="23375A"/>
          </a:solidFill>
          <a:ln w="9525">
            <a:solidFill>
              <a:srgbClr val="3A4F78"/>
            </a:solidFill>
            <a:prstDash val="solid"/>
          </a:ln>
        </p:spPr>
      </p:sp>
      <p:sp>
        <p:nvSpPr>
          <p:cNvPr id="5" name="Shape 3"/>
          <p:cNvSpPr/>
          <p:nvPr/>
        </p:nvSpPr>
        <p:spPr>
          <a:xfrm>
            <a:off x="6720840" y="2148840"/>
            <a:ext cx="603504" cy="603504"/>
          </a:xfrm>
          <a:prstGeom prst="roundRect">
            <a:avLst>
              <a:gd name="adj" fmla="val 10606"/>
            </a:avLst>
          </a:prstGeom>
          <a:solidFill>
            <a:srgbClr val="23375A"/>
          </a:solidFill>
          <a:ln w="9525">
            <a:solidFill>
              <a:srgbClr val="3A4F78"/>
            </a:solidFill>
            <a:prstDash val="solid"/>
          </a:ln>
        </p:spPr>
      </p:sp>
      <p:sp>
        <p:nvSpPr>
          <p:cNvPr id="6" name="Shape 4"/>
          <p:cNvSpPr/>
          <p:nvPr/>
        </p:nvSpPr>
        <p:spPr>
          <a:xfrm>
            <a:off x="7452360" y="2148840"/>
            <a:ext cx="603504" cy="603504"/>
          </a:xfrm>
          <a:prstGeom prst="roundRect">
            <a:avLst>
              <a:gd name="adj" fmla="val 10606"/>
            </a:avLst>
          </a:prstGeom>
          <a:solidFill>
            <a:srgbClr val="E8A816"/>
          </a:solidFill>
          <a:ln w="12700">
            <a:solidFill>
              <a:srgbClr val="3A4F78"/>
            </a:solidFill>
            <a:prstDash val="solid"/>
          </a:ln>
        </p:spPr>
      </p:sp>
      <p:sp>
        <p:nvSpPr>
          <p:cNvPr id="7" name="Shape 5"/>
          <p:cNvSpPr/>
          <p:nvPr/>
        </p:nvSpPr>
        <p:spPr>
          <a:xfrm>
            <a:off x="8183880" y="2148840"/>
            <a:ext cx="603504" cy="603504"/>
          </a:xfrm>
          <a:prstGeom prst="roundRect">
            <a:avLst>
              <a:gd name="adj" fmla="val 10606"/>
            </a:avLst>
          </a:prstGeom>
          <a:solidFill>
            <a:srgbClr val="23375A"/>
          </a:solidFill>
          <a:ln w="9525">
            <a:solidFill>
              <a:srgbClr val="3A4F78"/>
            </a:solidFill>
            <a:prstDash val="solid"/>
          </a:ln>
        </p:spPr>
      </p:sp>
      <p:sp>
        <p:nvSpPr>
          <p:cNvPr id="8" name="Shape 6"/>
          <p:cNvSpPr/>
          <p:nvPr/>
        </p:nvSpPr>
        <p:spPr>
          <a:xfrm>
            <a:off x="6720840" y="2880360"/>
            <a:ext cx="603504" cy="603504"/>
          </a:xfrm>
          <a:prstGeom prst="roundRect">
            <a:avLst>
              <a:gd name="adj" fmla="val 10606"/>
            </a:avLst>
          </a:prstGeom>
          <a:solidFill>
            <a:srgbClr val="23375A"/>
          </a:solidFill>
          <a:ln w="9525">
            <a:solidFill>
              <a:srgbClr val="3A4F78"/>
            </a:solidFill>
            <a:prstDash val="solid"/>
          </a:ln>
        </p:spPr>
      </p:sp>
      <p:sp>
        <p:nvSpPr>
          <p:cNvPr id="9" name="Shape 7"/>
          <p:cNvSpPr/>
          <p:nvPr/>
        </p:nvSpPr>
        <p:spPr>
          <a:xfrm>
            <a:off x="7452360" y="2880360"/>
            <a:ext cx="603504" cy="603504"/>
          </a:xfrm>
          <a:prstGeom prst="roundRect">
            <a:avLst>
              <a:gd name="adj" fmla="val 10606"/>
            </a:avLst>
          </a:prstGeom>
          <a:solidFill>
            <a:srgbClr val="23375A"/>
          </a:solidFill>
          <a:ln w="9525">
            <a:solidFill>
              <a:srgbClr val="3A4F78"/>
            </a:solidFill>
            <a:prstDash val="solid"/>
          </a:ln>
        </p:spPr>
      </p:sp>
      <p:sp>
        <p:nvSpPr>
          <p:cNvPr id="10" name="Shape 8"/>
          <p:cNvSpPr/>
          <p:nvPr/>
        </p:nvSpPr>
        <p:spPr>
          <a:xfrm>
            <a:off x="8183880" y="2880360"/>
            <a:ext cx="603504" cy="603504"/>
          </a:xfrm>
          <a:prstGeom prst="roundRect">
            <a:avLst>
              <a:gd name="adj" fmla="val 10606"/>
            </a:avLst>
          </a:prstGeom>
          <a:solidFill>
            <a:srgbClr val="E8A816"/>
          </a:solidFill>
          <a:ln w="12700">
            <a:solidFill>
              <a:srgbClr val="3A4F78"/>
            </a:solidFill>
            <a:prstDash val="solid"/>
          </a:ln>
        </p:spPr>
      </p:sp>
      <p:sp>
        <p:nvSpPr>
          <p:cNvPr id="11" name="Text 9"/>
          <p:cNvSpPr/>
          <p:nvPr/>
        </p:nvSpPr>
        <p:spPr>
          <a:xfrm>
            <a:off x="502920" y="457200"/>
            <a:ext cx="8138160" cy="274320"/>
          </a:xfrm>
          <a:prstGeom prst="rect">
            <a:avLst/>
          </a:prstGeom>
          <a:noFill/>
          <a:ln/>
        </p:spPr>
        <p:txBody>
          <a:bodyPr wrap="square" lIns="0" tIns="0" rIns="0" bIns="0" rtlCol="0" anchor="ctr"/>
          <a:lstStyle/>
          <a:p>
            <a:pPr indent="0" marL="0">
              <a:buNone/>
            </a:pPr>
            <a:r>
              <a:rPr lang="en-US" sz="1050" b="1" spc="250" kern="0" dirty="0">
                <a:solidFill>
                  <a:srgbClr val="E8A816"/>
                </a:solidFill>
                <a:latin typeface="Calibri" pitchFamily="34" charset="0"/>
                <a:ea typeface="Calibri" pitchFamily="34" charset="-122"/>
                <a:cs typeface="Calibri" pitchFamily="34" charset="-120"/>
              </a:rPr>
              <a:t>STATUSNEO × MODUTECTURE  ·  FORWARD-DEPLOYED ENGINEERING</a:t>
            </a:r>
            <a:endParaRPr lang="en-US" sz="1050" dirty="0"/>
          </a:p>
        </p:txBody>
      </p:sp>
      <p:sp>
        <p:nvSpPr>
          <p:cNvPr id="12" name="Text 10"/>
          <p:cNvSpPr/>
          <p:nvPr/>
        </p:nvSpPr>
        <p:spPr>
          <a:xfrm>
            <a:off x="502920" y="1325880"/>
            <a:ext cx="5943600" cy="15544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Making Contextual Intelligence</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Construction Shippable</a:t>
            </a:r>
            <a:endParaRPr lang="en-US" sz="3800" dirty="0"/>
          </a:p>
        </p:txBody>
      </p:sp>
      <p:sp>
        <p:nvSpPr>
          <p:cNvPr id="13" name="Text 11"/>
          <p:cNvSpPr/>
          <p:nvPr/>
        </p:nvSpPr>
        <p:spPr>
          <a:xfrm>
            <a:off x="502920" y="2971800"/>
            <a:ext cx="5760720" cy="640080"/>
          </a:xfrm>
          <a:prstGeom prst="rect">
            <a:avLst/>
          </a:prstGeom>
          <a:noFill/>
          <a:ln/>
        </p:spPr>
        <p:txBody>
          <a:bodyPr wrap="square" lIns="0" tIns="0" rIns="0" bIns="0" rtlCol="0" anchor="ctr"/>
          <a:lstStyle/>
          <a:p>
            <a:pPr indent="0" marL="0">
              <a:buNone/>
            </a:pPr>
            <a:r>
              <a:rPr lang="en-US" sz="1450" dirty="0">
                <a:solidFill>
                  <a:srgbClr val="C9D6E8"/>
                </a:solidFill>
                <a:latin typeface="Calibri" pitchFamily="34" charset="0"/>
                <a:ea typeface="Calibri" pitchFamily="34" charset="-122"/>
                <a:cs typeface="Calibri" pitchFamily="34" charset="-120"/>
              </a:rPr>
              <a:t>A two-track execution blueprint — what the platform must become,</a:t>
            </a:r>
            <a:endParaRPr lang="en-US" sz="1450" dirty="0"/>
          </a:p>
          <a:p>
            <a:pPr indent="0" marL="0">
              <a:buNone/>
            </a:pPr>
            <a:r>
              <a:rPr lang="en-US" sz="1450" dirty="0">
                <a:solidFill>
                  <a:srgbClr val="C9D6E8"/>
                </a:solidFill>
                <a:latin typeface="Calibri" pitchFamily="34" charset="0"/>
                <a:ea typeface="Calibri" pitchFamily="34" charset="-122"/>
                <a:cs typeface="Calibri" pitchFamily="34" charset="-120"/>
              </a:rPr>
              <a:t>and how the organization ships it.</a:t>
            </a:r>
            <a:endParaRPr lang="en-US" sz="1450" dirty="0"/>
          </a:p>
        </p:txBody>
      </p:sp>
      <p:sp>
        <p:nvSpPr>
          <p:cNvPr id="14" name="Text 12"/>
          <p:cNvSpPr/>
          <p:nvPr/>
        </p:nvSpPr>
        <p:spPr>
          <a:xfrm>
            <a:off x="502920" y="3703320"/>
            <a:ext cx="5760720" cy="292608"/>
          </a:xfrm>
          <a:prstGeom prst="rect">
            <a:avLst/>
          </a:prstGeom>
          <a:noFill/>
          <a:ln/>
        </p:spPr>
        <p:txBody>
          <a:bodyPr wrap="square" lIns="0" tIns="0" rIns="0" bIns="0" rtlCol="0" anchor="ctr"/>
          <a:lstStyle/>
          <a:p>
            <a:pPr indent="0" marL="0">
              <a:buNone/>
            </a:pPr>
            <a:r>
              <a:rPr lang="en-US" sz="1250" i="1" dirty="0">
                <a:solidFill>
                  <a:srgbClr val="E8A816"/>
                </a:solidFill>
                <a:latin typeface="Calibri" pitchFamily="34" charset="0"/>
                <a:ea typeface="Calibri" pitchFamily="34" charset="-122"/>
                <a:cs typeface="Calibri" pitchFamily="34" charset="-120"/>
              </a:rPr>
              <a:t>A working perspective, offered for your validation.</a:t>
            </a:r>
            <a:endParaRPr lang="en-US" sz="1250" dirty="0"/>
          </a:p>
        </p:txBody>
      </p:sp>
      <p:sp>
        <p:nvSpPr>
          <p:cNvPr id="15" name="Shape 13"/>
          <p:cNvSpPr/>
          <p:nvPr/>
        </p:nvSpPr>
        <p:spPr>
          <a:xfrm>
            <a:off x="502920" y="4370832"/>
            <a:ext cx="8138160" cy="0"/>
          </a:xfrm>
          <a:prstGeom prst="line">
            <a:avLst/>
          </a:prstGeom>
          <a:noFill/>
          <a:ln w="9525">
            <a:solidFill>
              <a:srgbClr val="3A4F78"/>
            </a:solidFill>
            <a:prstDash val="solid"/>
          </a:ln>
        </p:spPr>
      </p:sp>
      <p:sp>
        <p:nvSpPr>
          <p:cNvPr id="16" name="Text 14"/>
          <p:cNvSpPr/>
          <p:nvPr/>
        </p:nvSpPr>
        <p:spPr>
          <a:xfrm>
            <a:off x="502920" y="4498848"/>
            <a:ext cx="8138160" cy="274320"/>
          </a:xfrm>
          <a:prstGeom prst="rect">
            <a:avLst/>
          </a:prstGeom>
          <a:noFill/>
          <a:ln/>
        </p:spPr>
        <p:txBody>
          <a:bodyPr wrap="square" lIns="0" tIns="0" rIns="0" bIns="0" rtlCol="0" anchor="ctr"/>
          <a:lstStyle/>
          <a:p>
            <a:pPr indent="0" marL="0">
              <a:buNone/>
            </a:pPr>
            <a:r>
              <a:rPr lang="en-US" sz="1150" dirty="0">
                <a:solidFill>
                  <a:srgbClr val="C9D6E8"/>
                </a:solidFill>
                <a:latin typeface="Calibri" pitchFamily="34" charset="0"/>
                <a:ea typeface="Calibri" pitchFamily="34" charset="-122"/>
                <a:cs typeface="Calibri" pitchFamily="34" charset="-120"/>
              </a:rPr>
              <a:t>Prepared for David Wilson · Tech Head, Modutecture</a:t>
            </a:r>
            <a:pPr indent="0" marL="0">
              <a:buNone/>
            </a:pPr>
            <a:r>
              <a:rPr lang="en-US" sz="1150" dirty="0">
                <a:solidFill>
                  <a:srgbClr val="5B6B7E"/>
                </a:solidFill>
                <a:latin typeface="Calibri" pitchFamily="34" charset="0"/>
                <a:ea typeface="Calibri" pitchFamily="34" charset="-122"/>
                <a:cs typeface="Calibri" pitchFamily="34" charset="-120"/>
              </a:rPr>
              <a:t>      June 12,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RESPECT FOR THE FOUNDATION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What you've already built</a:t>
            </a:r>
            <a:endParaRPr lang="en-US" sz="2800" dirty="0"/>
          </a:p>
        </p:txBody>
      </p:sp>
      <p:sp>
        <p:nvSpPr>
          <p:cNvPr id="4" name="Text 2"/>
          <p:cNvSpPr/>
          <p:nvPr/>
        </p:nvSpPr>
        <p:spPr>
          <a:xfrm>
            <a:off x="457200" y="1170432"/>
            <a:ext cx="8229600" cy="292608"/>
          </a:xfrm>
          <a:prstGeom prst="rect">
            <a:avLst/>
          </a:prstGeom>
          <a:noFill/>
          <a:ln/>
        </p:spPr>
        <p:txBody>
          <a:bodyPr wrap="square" lIns="0" tIns="0" rIns="0" bIns="0" rtlCol="0" anchor="ctr"/>
          <a:lstStyle/>
          <a:p>
            <a:pPr indent="0" marL="0">
              <a:buNone/>
            </a:pPr>
            <a:r>
              <a:rPr lang="en-US" sz="1300" dirty="0">
                <a:solidFill>
                  <a:srgbClr val="5B6B7E"/>
                </a:solidFill>
                <a:latin typeface="Calibri" pitchFamily="34" charset="0"/>
                <a:ea typeface="Calibri" pitchFamily="34" charset="-122"/>
                <a:cs typeface="Calibri" pitchFamily="34" charset="-120"/>
              </a:rPr>
              <a:t>Modutecture's bet is right: buildings should compound, not restart from zero. Three context loops, one platform.</a:t>
            </a:r>
            <a:endParaRPr lang="en-US" sz="1300" dirty="0"/>
          </a:p>
        </p:txBody>
      </p:sp>
      <p:sp>
        <p:nvSpPr>
          <p:cNvPr id="5" name="Shape 3"/>
          <p:cNvSpPr/>
          <p:nvPr/>
        </p:nvSpPr>
        <p:spPr>
          <a:xfrm>
            <a:off x="457200"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6" name="Shape 4"/>
          <p:cNvSpPr/>
          <p:nvPr/>
        </p:nvSpPr>
        <p:spPr>
          <a:xfrm>
            <a:off x="658368" y="1828800"/>
            <a:ext cx="512064" cy="512064"/>
          </a:xfrm>
          <a:prstGeom prst="ellipse">
            <a:avLst/>
          </a:prstGeom>
          <a:solidFill>
            <a:srgbClr val="16263F"/>
          </a:solidFill>
          <a:ln/>
        </p:spPr>
      </p:sp>
      <p:pic>
        <p:nvPicPr>
          <p:cNvPr id="7" name="Image 0" descr="preencoded.png"/>
          <p:cNvPicPr>
            <a:picLocks noChangeAspect="1"/>
          </p:cNvPicPr>
          <p:nvPr/>
        </p:nvPicPr>
        <p:blipFill>
          <a:blip r:embed="rId1"/>
          <a:stretch>
            <a:fillRect/>
          </a:stretch>
        </p:blipFill>
        <p:spPr>
          <a:xfrm>
            <a:off x="791505" y="1961937"/>
            <a:ext cx="245791" cy="245791"/>
          </a:xfrm>
          <a:prstGeom prst="rect">
            <a:avLst/>
          </a:prstGeom>
        </p:spPr>
      </p:pic>
      <p:sp>
        <p:nvSpPr>
          <p:cNvPr id="8" name="Text 5"/>
          <p:cNvSpPr/>
          <p:nvPr/>
        </p:nvSpPr>
        <p:spPr>
          <a:xfrm>
            <a:off x="658368"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Historical Context</a:t>
            </a:r>
            <a:endParaRPr lang="en-US" sz="1400" dirty="0"/>
          </a:p>
        </p:txBody>
      </p:sp>
      <p:sp>
        <p:nvSpPr>
          <p:cNvPr id="9" name="Text 6"/>
          <p:cNvSpPr/>
          <p:nvPr/>
        </p:nvSpPr>
        <p:spPr>
          <a:xfrm>
            <a:off x="658368"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Institutional design knowledge — past performance, costs, lessons — feeding Moducule Planner so every next facility starts smarter.</a:t>
            </a:r>
            <a:endParaRPr lang="en-US" sz="1100" dirty="0"/>
          </a:p>
        </p:txBody>
      </p:sp>
      <p:sp>
        <p:nvSpPr>
          <p:cNvPr id="10" name="Shape 7"/>
          <p:cNvSpPr/>
          <p:nvPr/>
        </p:nvSpPr>
        <p:spPr>
          <a:xfrm>
            <a:off x="3264408"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1" name="Shape 8"/>
          <p:cNvSpPr/>
          <p:nvPr/>
        </p:nvSpPr>
        <p:spPr>
          <a:xfrm>
            <a:off x="3465576" y="1828800"/>
            <a:ext cx="512064" cy="512064"/>
          </a:xfrm>
          <a:prstGeom prst="ellipse">
            <a:avLst/>
          </a:prstGeom>
          <a:solidFill>
            <a:srgbClr val="16263F"/>
          </a:solidFill>
          <a:ln/>
        </p:spPr>
      </p:sp>
      <p:pic>
        <p:nvPicPr>
          <p:cNvPr id="12" name="Image 1" descr="preencoded.png"/>
          <p:cNvPicPr>
            <a:picLocks noChangeAspect="1"/>
          </p:cNvPicPr>
          <p:nvPr/>
        </p:nvPicPr>
        <p:blipFill>
          <a:blip r:embed="rId2"/>
          <a:stretch>
            <a:fillRect/>
          </a:stretch>
        </p:blipFill>
        <p:spPr>
          <a:xfrm>
            <a:off x="3598713" y="1961937"/>
            <a:ext cx="245791" cy="245791"/>
          </a:xfrm>
          <a:prstGeom prst="rect">
            <a:avLst/>
          </a:prstGeom>
        </p:spPr>
      </p:pic>
      <p:sp>
        <p:nvSpPr>
          <p:cNvPr id="13" name="Text 9"/>
          <p:cNvSpPr/>
          <p:nvPr/>
        </p:nvSpPr>
        <p:spPr>
          <a:xfrm>
            <a:off x="3465576"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Supply-Chain Context</a:t>
            </a:r>
            <a:endParaRPr lang="en-US" sz="1400" dirty="0"/>
          </a:p>
        </p:txBody>
      </p:sp>
      <p:sp>
        <p:nvSpPr>
          <p:cNvPr id="14" name="Text 10"/>
          <p:cNvSpPr/>
          <p:nvPr/>
        </p:nvSpPr>
        <p:spPr>
          <a:xfrm>
            <a:off x="3465576"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The digital twin deconstructed into micro-tasks and supplier orders, opening large capital projects to local and certified-diverse vendors.</a:t>
            </a:r>
            <a:endParaRPr lang="en-US" sz="1100" dirty="0"/>
          </a:p>
        </p:txBody>
      </p:sp>
      <p:sp>
        <p:nvSpPr>
          <p:cNvPr id="15" name="Shape 11"/>
          <p:cNvSpPr/>
          <p:nvPr/>
        </p:nvSpPr>
        <p:spPr>
          <a:xfrm>
            <a:off x="6071616"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6" name="Shape 12"/>
          <p:cNvSpPr/>
          <p:nvPr/>
        </p:nvSpPr>
        <p:spPr>
          <a:xfrm>
            <a:off x="6272784" y="1828800"/>
            <a:ext cx="512064" cy="512064"/>
          </a:xfrm>
          <a:prstGeom prst="ellipse">
            <a:avLst/>
          </a:prstGeom>
          <a:solidFill>
            <a:srgbClr val="16263F"/>
          </a:solidFill>
          <a:ln/>
        </p:spPr>
      </p:sp>
      <p:pic>
        <p:nvPicPr>
          <p:cNvPr id="17" name="Image 2" descr="preencoded.png"/>
          <p:cNvPicPr>
            <a:picLocks noChangeAspect="1"/>
          </p:cNvPicPr>
          <p:nvPr/>
        </p:nvPicPr>
        <p:blipFill>
          <a:blip r:embed="rId3"/>
          <a:stretch>
            <a:fillRect/>
          </a:stretch>
        </p:blipFill>
        <p:spPr>
          <a:xfrm>
            <a:off x="6405921" y="1961937"/>
            <a:ext cx="245791" cy="245791"/>
          </a:xfrm>
          <a:prstGeom prst="rect">
            <a:avLst/>
          </a:prstGeom>
        </p:spPr>
      </p:pic>
      <p:sp>
        <p:nvSpPr>
          <p:cNvPr id="18" name="Text 13"/>
          <p:cNvSpPr/>
          <p:nvPr/>
        </p:nvSpPr>
        <p:spPr>
          <a:xfrm>
            <a:off x="6272784"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Operational Context</a:t>
            </a:r>
            <a:endParaRPr lang="en-US" sz="1400" dirty="0"/>
          </a:p>
        </p:txBody>
      </p:sp>
      <p:sp>
        <p:nvSpPr>
          <p:cNvPr id="19" name="Text 14"/>
          <p:cNvSpPr/>
          <p:nvPr/>
        </p:nvSpPr>
        <p:spPr>
          <a:xfrm>
            <a:off x="6272784"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Live performance data from operating assets streaming back upstream into the next design — the loop that makes intelligence continuous.</a:t>
            </a:r>
            <a:endParaRPr lang="en-US" sz="1100" dirty="0"/>
          </a:p>
        </p:txBody>
      </p:sp>
      <p:sp>
        <p:nvSpPr>
          <p:cNvPr id="20" name="Text 15"/>
          <p:cNvSpPr/>
          <p:nvPr/>
        </p:nvSpPr>
        <p:spPr>
          <a:xfrm>
            <a:off x="457200" y="4315968"/>
            <a:ext cx="8229600" cy="457200"/>
          </a:xfrm>
          <a:prstGeom prst="rect">
            <a:avLst/>
          </a:prstGeom>
          <a:noFill/>
          <a:ln/>
        </p:spPr>
        <p:txBody>
          <a:bodyPr wrap="square" lIns="0" tIns="0" rIns="0" bIns="0" rtlCol="0" anchor="ctr"/>
          <a:lstStyle/>
          <a:p>
            <a:pPr indent="0" marL="0">
              <a:buNone/>
            </a:pPr>
            <a:r>
              <a:rPr lang="en-US" sz="1300" i="1" dirty="0">
                <a:solidFill>
                  <a:srgbClr val="5B6B7E"/>
                </a:solidFill>
                <a:latin typeface="Calibri" pitchFamily="34" charset="0"/>
                <a:ea typeface="Calibri" pitchFamily="34" charset="-122"/>
                <a:cs typeface="Calibri" pitchFamily="34" charset="-120"/>
              </a:rPr>
              <a:t>A strong foundation and a differentiated vision.  </a:t>
            </a:r>
            <a:pPr indent="0" marL="0">
              <a:buNone/>
            </a:pPr>
            <a:r>
              <a:rPr lang="en-US" sz="1300" b="1" dirty="0">
                <a:solidFill>
                  <a:srgbClr val="16263F"/>
                </a:solidFill>
                <a:latin typeface="Calibri" pitchFamily="34" charset="0"/>
                <a:ea typeface="Calibri" pitchFamily="34" charset="-122"/>
                <a:cs typeface="Calibri" pitchFamily="34" charset="-120"/>
              </a:rPr>
              <a:t>My role is to make it shippable — with your sign-off as the gate on every decision.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DUE DILIGENCE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What I studied before forming a view</a:t>
            </a:r>
            <a:endParaRPr lang="en-US" sz="2800" dirty="0"/>
          </a:p>
        </p:txBody>
      </p:sp>
      <p:sp>
        <p:nvSpPr>
          <p:cNvPr id="4" name="Shape 2"/>
          <p:cNvSpPr/>
          <p:nvPr/>
        </p:nvSpPr>
        <p:spPr>
          <a:xfrm>
            <a:off x="457200" y="1298448"/>
            <a:ext cx="457200" cy="457200"/>
          </a:xfrm>
          <a:prstGeom prst="ellipse">
            <a:avLst/>
          </a:prstGeom>
          <a:solidFill>
            <a:srgbClr val="16263F"/>
          </a:solidFill>
          <a:ln/>
        </p:spPr>
      </p:sp>
      <p:pic>
        <p:nvPicPr>
          <p:cNvPr id="5" name="Image 0" descr="preencoded.png"/>
          <p:cNvPicPr>
            <a:picLocks noChangeAspect="1"/>
          </p:cNvPicPr>
          <p:nvPr/>
        </p:nvPicPr>
        <p:blipFill>
          <a:blip r:embed="rId1"/>
          <a:stretch>
            <a:fillRect/>
          </a:stretch>
        </p:blipFill>
        <p:spPr>
          <a:xfrm>
            <a:off x="576072" y="1417320"/>
            <a:ext cx="219456" cy="219456"/>
          </a:xfrm>
          <a:prstGeom prst="rect">
            <a:avLst/>
          </a:prstGeom>
        </p:spPr>
      </p:pic>
      <p:sp>
        <p:nvSpPr>
          <p:cNvPr id="6" name="Text 3"/>
          <p:cNvSpPr/>
          <p:nvPr/>
        </p:nvSpPr>
        <p:spPr>
          <a:xfrm>
            <a:off x="1097280" y="1280160"/>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StatusNeo transformation proposal</a:t>
            </a:r>
            <a:endParaRPr lang="en-US" sz="1300" dirty="0"/>
          </a:p>
        </p:txBody>
      </p:sp>
      <p:sp>
        <p:nvSpPr>
          <p:cNvPr id="7" name="Text 4"/>
          <p:cNvSpPr/>
          <p:nvPr/>
        </p:nvSpPr>
        <p:spPr>
          <a:xfrm>
            <a:off x="1097280" y="1536192"/>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Current-state observations, FDE operating model, AI-DLC loops, transition options.</a:t>
            </a:r>
            <a:endParaRPr lang="en-US" sz="1050" dirty="0"/>
          </a:p>
        </p:txBody>
      </p:sp>
      <p:sp>
        <p:nvSpPr>
          <p:cNvPr id="8" name="Shape 5"/>
          <p:cNvSpPr/>
          <p:nvPr/>
        </p:nvSpPr>
        <p:spPr>
          <a:xfrm>
            <a:off x="457200" y="2048256"/>
            <a:ext cx="457200" cy="457200"/>
          </a:xfrm>
          <a:prstGeom prst="ellipse">
            <a:avLst/>
          </a:prstGeom>
          <a:solidFill>
            <a:srgbClr val="16263F"/>
          </a:solidFill>
          <a:ln/>
        </p:spPr>
      </p:sp>
      <p:pic>
        <p:nvPicPr>
          <p:cNvPr id="9" name="Image 1" descr="preencoded.png"/>
          <p:cNvPicPr>
            <a:picLocks noChangeAspect="1"/>
          </p:cNvPicPr>
          <p:nvPr/>
        </p:nvPicPr>
        <p:blipFill>
          <a:blip r:embed="rId2"/>
          <a:stretch>
            <a:fillRect/>
          </a:stretch>
        </p:blipFill>
        <p:spPr>
          <a:xfrm>
            <a:off x="576072" y="2167128"/>
            <a:ext cx="219456" cy="219456"/>
          </a:xfrm>
          <a:prstGeom prst="rect">
            <a:avLst/>
          </a:prstGeom>
        </p:spPr>
      </p:pic>
      <p:sp>
        <p:nvSpPr>
          <p:cNvPr id="10" name="Text 6"/>
          <p:cNvSpPr/>
          <p:nvPr/>
        </p:nvSpPr>
        <p:spPr>
          <a:xfrm>
            <a:off x="1097280" y="2029968"/>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Team onboarding &amp; first-5-days plan</a:t>
            </a:r>
            <a:endParaRPr lang="en-US" sz="1300" dirty="0"/>
          </a:p>
        </p:txBody>
      </p:sp>
      <p:sp>
        <p:nvSpPr>
          <p:cNvPr id="11" name="Text 7"/>
          <p:cNvSpPr/>
          <p:nvPr/>
        </p:nvSpPr>
        <p:spPr>
          <a:xfrm>
            <a:off x="1097280" y="2286000"/>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Ways of working, cadence, tooling, skill matrix, access paths, quality model.</a:t>
            </a:r>
            <a:endParaRPr lang="en-US" sz="1050" dirty="0"/>
          </a:p>
        </p:txBody>
      </p:sp>
      <p:sp>
        <p:nvSpPr>
          <p:cNvPr id="12" name="Shape 8"/>
          <p:cNvSpPr/>
          <p:nvPr/>
        </p:nvSpPr>
        <p:spPr>
          <a:xfrm>
            <a:off x="457200" y="2798064"/>
            <a:ext cx="457200" cy="457200"/>
          </a:xfrm>
          <a:prstGeom prst="ellipse">
            <a:avLst/>
          </a:prstGeom>
          <a:solidFill>
            <a:srgbClr val="16263F"/>
          </a:solidFill>
          <a:ln/>
        </p:spPr>
      </p:sp>
      <p:pic>
        <p:nvPicPr>
          <p:cNvPr id="13" name="Image 2" descr="preencoded.png"/>
          <p:cNvPicPr>
            <a:picLocks noChangeAspect="1"/>
          </p:cNvPicPr>
          <p:nvPr/>
        </p:nvPicPr>
        <p:blipFill>
          <a:blip r:embed="rId3"/>
          <a:stretch>
            <a:fillRect/>
          </a:stretch>
        </p:blipFill>
        <p:spPr>
          <a:xfrm>
            <a:off x="576072" y="2916936"/>
            <a:ext cx="219456" cy="219456"/>
          </a:xfrm>
          <a:prstGeom prst="rect">
            <a:avLst/>
          </a:prstGeom>
        </p:spPr>
      </p:pic>
      <p:sp>
        <p:nvSpPr>
          <p:cNvPr id="14" name="Text 9"/>
          <p:cNvSpPr/>
          <p:nvPr/>
        </p:nvSpPr>
        <p:spPr>
          <a:xfrm>
            <a:off x="1097280" y="2779776"/>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Product workflows in the documents</a:t>
            </a:r>
            <a:endParaRPr lang="en-US" sz="1300" dirty="0"/>
          </a:p>
        </p:txBody>
      </p:sp>
      <p:sp>
        <p:nvSpPr>
          <p:cNvPr id="15" name="Text 10"/>
          <p:cNvSpPr/>
          <p:nvPr/>
        </p:nvSpPr>
        <p:spPr>
          <a:xfrm>
            <a:off x="1097280" y="3035808"/>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Moducule Builder, Room Planner / Space Bot, Catalog, ASP/SPA pipelines, GraphQL &amp; security work.</a:t>
            </a:r>
            <a:endParaRPr lang="en-US" sz="1050" dirty="0"/>
          </a:p>
        </p:txBody>
      </p:sp>
      <p:sp>
        <p:nvSpPr>
          <p:cNvPr id="16" name="Shape 11"/>
          <p:cNvSpPr/>
          <p:nvPr/>
        </p:nvSpPr>
        <p:spPr>
          <a:xfrm>
            <a:off x="457200" y="3547872"/>
            <a:ext cx="457200" cy="457200"/>
          </a:xfrm>
          <a:prstGeom prst="ellipse">
            <a:avLst/>
          </a:prstGeom>
          <a:solidFill>
            <a:srgbClr val="16263F"/>
          </a:solidFill>
          <a:ln/>
        </p:spPr>
      </p:sp>
      <p:pic>
        <p:nvPicPr>
          <p:cNvPr id="17" name="Image 3" descr="preencoded.png"/>
          <p:cNvPicPr>
            <a:picLocks noChangeAspect="1"/>
          </p:cNvPicPr>
          <p:nvPr/>
        </p:nvPicPr>
        <p:blipFill>
          <a:blip r:embed="rId4"/>
          <a:stretch>
            <a:fillRect/>
          </a:stretch>
        </p:blipFill>
        <p:spPr>
          <a:xfrm>
            <a:off x="576072" y="3666744"/>
            <a:ext cx="219456" cy="219456"/>
          </a:xfrm>
          <a:prstGeom prst="rect">
            <a:avLst/>
          </a:prstGeom>
        </p:spPr>
      </p:pic>
      <p:sp>
        <p:nvSpPr>
          <p:cNvPr id="18" name="Text 12"/>
          <p:cNvSpPr/>
          <p:nvPr/>
        </p:nvSpPr>
        <p:spPr>
          <a:xfrm>
            <a:off x="1097280" y="3529584"/>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Architecture portfolio, prepared in advance</a:t>
            </a:r>
            <a:endParaRPr lang="en-US" sz="1300" dirty="0"/>
          </a:p>
        </p:txBody>
      </p:sp>
      <p:sp>
        <p:nvSpPr>
          <p:cNvPr id="19" name="Text 13"/>
          <p:cNvSpPr/>
          <p:nvPr/>
        </p:nvSpPr>
        <p:spPr>
          <a:xfrm>
            <a:off x="1097280" y="3785616"/>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Requirements → BDD → acceptance tests → ADRs, drafted so day one starts at execution, not discovery.</a:t>
            </a:r>
            <a:endParaRPr lang="en-US" sz="1050" dirty="0"/>
          </a:p>
        </p:txBody>
      </p:sp>
      <p:sp>
        <p:nvSpPr>
          <p:cNvPr id="20" name="Shape 14"/>
          <p:cNvSpPr/>
          <p:nvPr/>
        </p:nvSpPr>
        <p:spPr>
          <a:xfrm>
            <a:off x="5715000" y="1298448"/>
            <a:ext cx="2971800" cy="3017520"/>
          </a:xfrm>
          <a:prstGeom prst="roundRect">
            <a:avLst>
              <a:gd name="adj" fmla="val 1846"/>
            </a:avLst>
          </a:prstGeom>
          <a:solidFill>
            <a:srgbClr val="FBF2DC"/>
          </a:solidFill>
          <a:ln/>
          <a:effectLst>
            <a:outerShdw sx="100000" sy="100000" kx="0" ky="0" algn="bl" rotWithShape="0" blurRad="88900" dist="25400" dir="2700000">
              <a:srgbClr val="000000">
                <a:alpha val="14000"/>
              </a:srgbClr>
            </a:outerShdw>
          </a:effectLst>
        </p:spPr>
      </p:sp>
      <p:pic>
        <p:nvPicPr>
          <p:cNvPr id="21" name="Image 4" descr="preencoded.png"/>
          <p:cNvPicPr>
            <a:picLocks noChangeAspect="1"/>
          </p:cNvPicPr>
          <p:nvPr/>
        </p:nvPicPr>
        <p:blipFill>
          <a:blip r:embed="rId5"/>
          <a:stretch>
            <a:fillRect/>
          </a:stretch>
        </p:blipFill>
        <p:spPr>
          <a:xfrm>
            <a:off x="5943600" y="1536192"/>
            <a:ext cx="384048" cy="384048"/>
          </a:xfrm>
          <a:prstGeom prst="rect">
            <a:avLst/>
          </a:prstGeom>
        </p:spPr>
      </p:pic>
      <p:sp>
        <p:nvSpPr>
          <p:cNvPr id="22" name="Text 15"/>
          <p:cNvSpPr/>
          <p:nvPr/>
        </p:nvSpPr>
        <p:spPr>
          <a:xfrm>
            <a:off x="5943600" y="2011680"/>
            <a:ext cx="256032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A commitment, up front</a:t>
            </a:r>
            <a:endParaRPr lang="en-US" sz="1400" dirty="0"/>
          </a:p>
        </p:txBody>
      </p:sp>
      <p:sp>
        <p:nvSpPr>
          <p:cNvPr id="23" name="Text 16"/>
          <p:cNvSpPr/>
          <p:nvPr/>
        </p:nvSpPr>
        <p:spPr>
          <a:xfrm>
            <a:off x="5943600" y="2304288"/>
            <a:ext cx="2542032" cy="1737360"/>
          </a:xfrm>
          <a:prstGeom prst="rect">
            <a:avLst/>
          </a:prstGeom>
          <a:noFill/>
          <a:ln/>
        </p:spPr>
        <p:txBody>
          <a:bodyPr wrap="square" lIns="0" tIns="0" rIns="0" bIns="0" rtlCol="0" anchor="ctr"/>
          <a:lstStyle/>
          <a:p>
            <a:pPr indent="0" marL="0">
              <a:buNone/>
            </a:pPr>
            <a:r>
              <a:rPr lang="en-US" sz="1150" dirty="0">
                <a:solidFill>
                  <a:srgbClr val="1F2A38"/>
                </a:solidFill>
                <a:latin typeface="Calibri" pitchFamily="34" charset="0"/>
                <a:ea typeface="Calibri" pitchFamily="34" charset="-122"/>
                <a:cs typeface="Calibri" pitchFamily="34" charset="-120"/>
              </a:rPr>
              <a:t>Everything that follows is an observation to validate with you — not a verdict.</a:t>
            </a:r>
            <a:endParaRPr lang="en-US" sz="1150" dirty="0"/>
          </a:p>
          <a:p>
            <a:pPr indent="0" marL="0">
              <a:buNone/>
            </a:pPr>
            <a:endParaRPr lang="en-US" sz="1150" dirty="0"/>
          </a:p>
          <a:p>
            <a:pPr indent="0" marL="0">
              <a:buNone/>
            </a:pPr>
            <a:r>
              <a:rPr lang="en-US" sz="1150" dirty="0">
                <a:solidFill>
                  <a:srgbClr val="1F2A38"/>
                </a:solidFill>
                <a:latin typeface="Calibri" pitchFamily="34" charset="0"/>
                <a:ea typeface="Calibri" pitchFamily="34" charset="-122"/>
                <a:cs typeface="Calibri" pitchFamily="34" charset="-120"/>
              </a:rPr>
              <a:t>Where I'm wrong, the decision record will show it fast, and we correct course on evidence.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THE SHAPE OF THE PROBLEM</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Two tracks, one diagnosis</a:t>
            </a:r>
            <a:endParaRPr lang="en-US" sz="2800" dirty="0"/>
          </a:p>
        </p:txBody>
      </p:sp>
      <p:sp>
        <p:nvSpPr>
          <p:cNvPr id="4" name="Shape 2"/>
          <p:cNvSpPr/>
          <p:nvPr/>
        </p:nvSpPr>
        <p:spPr>
          <a:xfrm>
            <a:off x="457200" y="1280160"/>
            <a:ext cx="404164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40080" y="1444752"/>
            <a:ext cx="420624" cy="420624"/>
          </a:xfrm>
          <a:prstGeom prst="ellipse">
            <a:avLst/>
          </a:prstGeom>
          <a:solidFill>
            <a:srgbClr val="16263F"/>
          </a:solidFill>
          <a:ln/>
        </p:spPr>
      </p:sp>
      <p:pic>
        <p:nvPicPr>
          <p:cNvPr id="6" name="Image 0" descr="preencoded.png"/>
          <p:cNvPicPr>
            <a:picLocks noChangeAspect="1"/>
          </p:cNvPicPr>
          <p:nvPr/>
        </p:nvPicPr>
        <p:blipFill>
          <a:blip r:embed="rId1"/>
          <a:stretch>
            <a:fillRect/>
          </a:stretch>
        </p:blipFill>
        <p:spPr>
          <a:xfrm>
            <a:off x="749442" y="1554114"/>
            <a:ext cx="201900" cy="201900"/>
          </a:xfrm>
          <a:prstGeom prst="rect">
            <a:avLst/>
          </a:prstGeom>
        </p:spPr>
      </p:pic>
      <p:sp>
        <p:nvSpPr>
          <p:cNvPr id="7" name="Text 4"/>
          <p:cNvSpPr/>
          <p:nvPr/>
        </p:nvSpPr>
        <p:spPr>
          <a:xfrm>
            <a:off x="1170432" y="1481328"/>
            <a:ext cx="3246120" cy="365760"/>
          </a:xfrm>
          <a:prstGeom prst="rect">
            <a:avLst/>
          </a:prstGeom>
          <a:noFill/>
          <a:ln/>
        </p:spPr>
        <p:txBody>
          <a:bodyPr wrap="square" lIns="0" tIns="0" rIns="0" bIns="0" rtlCol="0" anchor="ctr"/>
          <a:lstStyle/>
          <a:p>
            <a:pPr indent="0" marL="0">
              <a:buNone/>
            </a:pPr>
            <a:r>
              <a:rPr lang="en-US" sz="1250" b="1" dirty="0">
                <a:solidFill>
                  <a:srgbClr val="16263F"/>
                </a:solidFill>
                <a:latin typeface="Calibri" pitchFamily="34" charset="0"/>
                <a:ea typeface="Calibri" pitchFamily="34" charset="-122"/>
                <a:cs typeface="Calibri" pitchFamily="34" charset="-120"/>
              </a:rPr>
              <a:t>TRACK 1 — What the platform must become</a:t>
            </a:r>
            <a:endParaRPr lang="en-US" sz="1250" dirty="0"/>
          </a:p>
        </p:txBody>
      </p:sp>
      <p:sp>
        <p:nvSpPr>
          <p:cNvPr id="8" name="Text 5"/>
          <p:cNvSpPr/>
          <p:nvPr/>
        </p:nvSpPr>
        <p:spPr>
          <a:xfrm>
            <a:off x="685800" y="1975104"/>
            <a:ext cx="3657600" cy="1627632"/>
          </a:xfrm>
          <a:prstGeom prst="rect">
            <a:avLst/>
          </a:prstGeom>
          <a:noFill/>
          <a:ln/>
        </p:spPr>
        <p:txBody>
          <a:bodyPr wrap="square" lIns="0" tIns="0" rIns="0" bIns="0" rtlCol="0" anchor="ctr"/>
          <a:lstStyle/>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Silos → three product value streams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Promise → a grounded Context Spine</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Catalog → an enforceable Moducule contract</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Client-owned state → one Twin API</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One RDBMS → persistence by workload</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Unity suspicion → a managed, evidenced decision</a:t>
            </a:r>
            <a:endParaRPr lang="en-US" sz="1080" dirty="0"/>
          </a:p>
        </p:txBody>
      </p:sp>
      <p:sp>
        <p:nvSpPr>
          <p:cNvPr id="9" name="Shape 6"/>
          <p:cNvSpPr/>
          <p:nvPr/>
        </p:nvSpPr>
        <p:spPr>
          <a:xfrm>
            <a:off x="4681728" y="1280160"/>
            <a:ext cx="404164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0" name="Shape 7"/>
          <p:cNvSpPr/>
          <p:nvPr/>
        </p:nvSpPr>
        <p:spPr>
          <a:xfrm>
            <a:off x="4864608" y="1444752"/>
            <a:ext cx="420624" cy="420624"/>
          </a:xfrm>
          <a:prstGeom prst="ellipse">
            <a:avLst/>
          </a:prstGeom>
          <a:solidFill>
            <a:srgbClr val="16263F"/>
          </a:solidFill>
          <a:ln/>
        </p:spPr>
      </p:sp>
      <p:pic>
        <p:nvPicPr>
          <p:cNvPr id="11" name="Image 1" descr="preencoded.png"/>
          <p:cNvPicPr>
            <a:picLocks noChangeAspect="1"/>
          </p:cNvPicPr>
          <p:nvPr/>
        </p:nvPicPr>
        <p:blipFill>
          <a:blip r:embed="rId2"/>
          <a:stretch>
            <a:fillRect/>
          </a:stretch>
        </p:blipFill>
        <p:spPr>
          <a:xfrm>
            <a:off x="4973970" y="1554114"/>
            <a:ext cx="201900" cy="201900"/>
          </a:xfrm>
          <a:prstGeom prst="rect">
            <a:avLst/>
          </a:prstGeom>
        </p:spPr>
      </p:pic>
      <p:sp>
        <p:nvSpPr>
          <p:cNvPr id="12" name="Text 8"/>
          <p:cNvSpPr/>
          <p:nvPr/>
        </p:nvSpPr>
        <p:spPr>
          <a:xfrm>
            <a:off x="5394960" y="1481328"/>
            <a:ext cx="3246120" cy="365760"/>
          </a:xfrm>
          <a:prstGeom prst="rect">
            <a:avLst/>
          </a:prstGeom>
          <a:noFill/>
          <a:ln/>
        </p:spPr>
        <p:txBody>
          <a:bodyPr wrap="square" lIns="0" tIns="0" rIns="0" bIns="0" rtlCol="0" anchor="ctr"/>
          <a:lstStyle/>
          <a:p>
            <a:pPr indent="0" marL="0">
              <a:buNone/>
            </a:pPr>
            <a:r>
              <a:rPr lang="en-US" sz="1250" b="1" dirty="0">
                <a:solidFill>
                  <a:srgbClr val="16263F"/>
                </a:solidFill>
                <a:latin typeface="Calibri" pitchFamily="34" charset="0"/>
                <a:ea typeface="Calibri" pitchFamily="34" charset="-122"/>
                <a:cs typeface="Calibri" pitchFamily="34" charset="-120"/>
              </a:rPr>
              <a:t>TRACK 2 — How the organization ships</a:t>
            </a:r>
            <a:endParaRPr lang="en-US" sz="1250" dirty="0"/>
          </a:p>
        </p:txBody>
      </p:sp>
      <p:sp>
        <p:nvSpPr>
          <p:cNvPr id="13" name="Text 9"/>
          <p:cNvSpPr/>
          <p:nvPr/>
        </p:nvSpPr>
        <p:spPr>
          <a:xfrm>
            <a:off x="4910328" y="1975104"/>
            <a:ext cx="3657600" cy="1627632"/>
          </a:xfrm>
          <a:prstGeom prst="rect">
            <a:avLst/>
          </a:prstGeom>
          <a:noFill/>
          <a:ln/>
        </p:spPr>
        <p:txBody>
          <a:bodyPr wrap="square" lIns="0" tIns="0" rIns="0" bIns="0" rtlCol="0" anchor="ctr"/>
          <a:lstStyle/>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Single-threaded ownership + decision records (ADRs)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One backlog, one cadence — sprints inside release trains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Spec → BDD → ATDD as the delivery contract</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AI-augmented SDLC with human-only merge authority</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CI/CD + feature flags — deploy ≠ release</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Phased pod transition with exit criteria</a:t>
            </a:r>
            <a:endParaRPr lang="en-US" sz="1080" dirty="0"/>
          </a:p>
        </p:txBody>
      </p:sp>
      <p:sp>
        <p:nvSpPr>
          <p:cNvPr id="14" name="Shape 10"/>
          <p:cNvSpPr/>
          <p:nvPr/>
        </p:nvSpPr>
        <p:spPr>
          <a:xfrm>
            <a:off x="457200" y="3858768"/>
            <a:ext cx="8229600" cy="868680"/>
          </a:xfrm>
          <a:prstGeom prst="roundRect">
            <a:avLst>
              <a:gd name="adj" fmla="val 7368"/>
            </a:avLst>
          </a:prstGeom>
          <a:solidFill>
            <a:srgbClr val="16263F"/>
          </a:solidFill>
          <a:ln/>
          <a:effectLst>
            <a:outerShdw sx="100000" sy="100000" kx="0" ky="0" algn="bl" rotWithShape="0" blurRad="88900" dist="25400" dir="2700000">
              <a:srgbClr val="000000">
                <a:alpha val="14000"/>
              </a:srgbClr>
            </a:outerShdw>
          </a:effectLst>
        </p:spPr>
      </p:sp>
      <p:sp>
        <p:nvSpPr>
          <p:cNvPr id="15" name="Shape 11"/>
          <p:cNvSpPr/>
          <p:nvPr/>
        </p:nvSpPr>
        <p:spPr>
          <a:xfrm>
            <a:off x="713232" y="4041648"/>
            <a:ext cx="502920" cy="502920"/>
          </a:xfrm>
          <a:prstGeom prst="ellipse">
            <a:avLst/>
          </a:prstGeom>
          <a:solidFill>
            <a:srgbClr val="E8A816"/>
          </a:solidFill>
          <a:ln/>
        </p:spPr>
      </p:sp>
      <p:pic>
        <p:nvPicPr>
          <p:cNvPr id="16" name="Image 2" descr="preencoded.png"/>
          <p:cNvPicPr>
            <a:picLocks noChangeAspect="1"/>
          </p:cNvPicPr>
          <p:nvPr/>
        </p:nvPicPr>
        <p:blipFill>
          <a:blip r:embed="rId3"/>
          <a:stretch>
            <a:fillRect/>
          </a:stretch>
        </p:blipFill>
        <p:spPr>
          <a:xfrm>
            <a:off x="843991" y="4172407"/>
            <a:ext cx="241402" cy="241402"/>
          </a:xfrm>
          <a:prstGeom prst="rect">
            <a:avLst/>
          </a:prstGeom>
        </p:spPr>
      </p:pic>
      <p:sp>
        <p:nvSpPr>
          <p:cNvPr id="17" name="Text 12"/>
          <p:cNvSpPr/>
          <p:nvPr/>
        </p:nvSpPr>
        <p:spPr>
          <a:xfrm>
            <a:off x="1371600" y="3959352"/>
            <a:ext cx="71780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NORTH STAR — Time-to-Compliant-Design</a:t>
            </a:r>
            <a:endParaRPr lang="en-US" sz="1500" dirty="0"/>
          </a:p>
          <a:p>
            <a:pPr indent="0" marL="0">
              <a:buNone/>
            </a:pPr>
            <a:r>
              <a:rPr lang="en-US" sz="1100" dirty="0">
                <a:solidFill>
                  <a:srgbClr val="C9D6E8"/>
                </a:solidFill>
                <a:latin typeface="Calibri" pitchFamily="34" charset="0"/>
                <a:ea typeface="Calibri" pitchFamily="34" charset="-122"/>
                <a:cs typeface="Calibri" pitchFamily="34" charset="-120"/>
              </a:rPr>
              <a:t>From intake to an approved, standards-compliant design assembled from reusable Moducules. Every theme moves this number.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050" b="1" spc="300" kern="0" dirty="0">
                <a:solidFill>
                  <a:srgbClr val="C9952F"/>
                </a:solidFill>
                <a:latin typeface="Calibri" pitchFamily="34" charset="0"/>
                <a:ea typeface="Calibri" pitchFamily="34" charset="-122"/>
                <a:cs typeface="Calibri" pitchFamily="34" charset="-120"/>
              </a:rPr>
              <a:t>TRACK 1 · PLATFORM &amp; ORGANIZATION</a:t>
            </a:r>
            <a:endParaRPr lang="en-US" sz="1050" dirty="0"/>
          </a:p>
        </p:txBody>
      </p:sp>
      <p:sp>
        <p:nvSpPr>
          <p:cNvPr id="3" name="Text 1"/>
          <p:cNvSpPr/>
          <p:nvPr/>
        </p:nvSpPr>
        <p:spPr>
          <a:xfrm>
            <a:off x="502920" y="548640"/>
            <a:ext cx="8412480" cy="548640"/>
          </a:xfrm>
          <a:prstGeom prst="rect">
            <a:avLst/>
          </a:prstGeom>
          <a:noFill/>
          <a:ln/>
        </p:spPr>
        <p:txBody>
          <a:bodyPr wrap="square" lIns="0" tIns="0" rIns="0" bIns="0" rtlCol="0" anchor="ctr"/>
          <a:lstStyle/>
          <a:p>
            <a:pPr indent="0" marL="0">
              <a:buNone/>
            </a:pPr>
            <a:r>
              <a:rPr lang="en-US" sz="2600" b="1" dirty="0">
                <a:solidFill>
                  <a:srgbClr val="16263F"/>
                </a:solidFill>
                <a:latin typeface="Cambria" pitchFamily="34" charset="0"/>
                <a:ea typeface="Cambria" pitchFamily="34" charset="-122"/>
                <a:cs typeface="Cambria" pitchFamily="34" charset="-120"/>
              </a:rPr>
              <a:t>Seven themes, mapped to what we heard</a:t>
            </a:r>
            <a:endParaRPr lang="en-US" sz="2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335024"/>
          <a:ext cx="8229600" cy="914400"/>
        </p:xfrm>
        <a:graphic>
          <a:graphicData uri="http://schemas.openxmlformats.org/drawingml/2006/table">
            <a:tbl>
              <a:tblPr/>
              <a:tblGrid>
                <a:gridCol w="1463040"/>
                <a:gridCol w="2148840"/>
                <a:gridCol w="2697480"/>
                <a:gridCol w="1920240"/>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Finding on the table</a:t>
                      </a:r>
                      <a:endParaRPr lang="en-US" sz="95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6263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Prescribed theme</a:t>
                      </a:r>
                      <a:endParaRPr lang="en-US" sz="95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6263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Why it matters now</a:t>
                      </a:r>
                      <a:endParaRPr lang="en-US" sz="95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6263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First proof — 30 days</a:t>
                      </a:r>
                      <a:endParaRPr lang="en-US" sz="95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6263F"/>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Distributed silos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Value-stream organization (3 product streams, FDE integrating)</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6 handoffs/feature, no end-to-end owner → flow + single ownership.</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Set it during the transition, or re-pour the silos.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Charters + RASCI signed · one backlog live</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No cadence, MVPs, or working backwards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Product operating system — PRFAQ in, release out</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Task-driven, unpredictable → forecastable, outcome-led shipping.</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No revenue milestones without it; baseline now.</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Train #1 scoped · DORA &amp; flow baseline</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Contextual Intelligence promised, not realized</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The Context Spine — graph-grounded retrieval &amp; learning</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A promise, not a system → grounded, citable truth.</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The moat vs Autodesk; the AI layer's foundation.</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Ontology v0.1 · golden eval set v0</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Plug-&amp;-play: Moducule → Module → Room → Building</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Component contract (MDS) + certified registry</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Batch validation lets bad reuse spread → correct-by-construction.</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Prevention must precede catalog scale.</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MDS v0.1 schema reviewed with you</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Digital twin at every level</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Twin hierarchy — change-journaled, one API</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Truth split across Unity + DB → one testable, scalable source.</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Step 0 — E2E and scale depend on it.</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Twin API ADR + read-path design</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Current RDBMS constraints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Polyglot persistence by workload — strangler, no big bang</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One RDBMS caps scale + AI → right store per workload.</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GraphRAG/blast-radius need it; start now via strangler.</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ADR with graduation thresholds · parity gates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4F6FA"/>
                    </a:solidFill>
                  </a:tcPr>
                </a:tc>
              </a:tr>
              <a:tr h="457200">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Suspected Unity limitations</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16263F"/>
                          </a:solidFill>
                          <a:latin typeface="Calibri" pitchFamily="34" charset="0"/>
                          <a:ea typeface="Calibri" pitchFamily="34" charset="-122"/>
                          <a:cs typeface="Calibri" pitchFamily="34" charset="-120"/>
                        </a:rPr>
                        <a:t>“Thin Unity” — decouple state, add web track, keep XR edge</a:t>
                      </a:r>
                      <a:endParaRPr lang="en-US" sz="860" dirty="0">
                        <a:latin typeface="Calibri" charset="0"/>
                        <a:ea typeface="Calibri" charset="0"/>
                        <a:cs typeface="Calibri" charset="0"/>
                      </a:endParaRPr>
                    </a:p>
                  </a:txBody>
                  <a:tcPr marL="91440" marR="91440"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A38"/>
                          </a:solidFill>
                          <a:latin typeface="Calibri" pitchFamily="34" charset="0"/>
                          <a:ea typeface="Calibri" pitchFamily="34" charset="-122"/>
                          <a:cs typeface="Calibri" pitchFamily="34" charset="-120"/>
                        </a:rPr>
                        <a:t>Judged on anxiety, not evidence → state moves out, Unity = a lens.</a:t>
                      </a:r>
                      <a:pPr algn="l" indent="0" marL="0">
                        <a:buNone/>
                      </a:pPr>
                      <a:endParaRPr lang="en-US" sz="860" dirty="0">
                        <a:latin typeface="Calibri" charset="0"/>
                        <a:ea typeface="Calibri" charset="0"/>
                        <a:cs typeface="Calibri" charset="0"/>
                      </a:endParaRPr>
                    </a:p>
                    <a:p>
                      <a:pPr algn="l" indent="0" marL="0">
                        <a:buNone/>
                      </a:pPr>
                      <a:r>
                        <a:rPr lang="en-US" sz="780" i="1" dirty="0">
                          <a:solidFill>
                            <a:srgbClr val="C9952F"/>
                          </a:solidFill>
                          <a:latin typeface="Calibri" pitchFamily="34" charset="0"/>
                          <a:ea typeface="Calibri" pitchFamily="34" charset="-122"/>
                          <a:cs typeface="Calibri" pitchFamily="34" charset="-120"/>
                        </a:rPr>
                        <a:t>A 4-week spike turns doubt into a decision.</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60" dirty="0">
                          <a:solidFill>
                            <a:srgbClr val="5B6B7E"/>
                          </a:solidFill>
                          <a:latin typeface="Calibri" pitchFamily="34" charset="0"/>
                          <a:ea typeface="Calibri" pitchFamily="34" charset="-122"/>
                          <a:cs typeface="Calibri" pitchFamily="34" charset="-120"/>
                        </a:rPr>
                        <a:t>4-week spike scoped, pass/fail gates agreed</a:t>
                      </a:r>
                      <a:endParaRPr lang="en-US" sz="860" dirty="0">
                        <a:latin typeface="Calibri" charset="0"/>
                        <a:ea typeface="Calibri" charset="0"/>
                        <a:cs typeface="Calibri" charset="0"/>
                      </a:endParaRPr>
                    </a:p>
                  </a:txBody>
                  <a:tcPr marL="50800" marR="50800" marT="25400" marB="2540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The Context Spine — making the promise real</a:t>
            </a:r>
            <a:endParaRPr lang="en-US" sz="2800" dirty="0"/>
          </a:p>
        </p:txBody>
      </p:sp>
      <p:sp>
        <p:nvSpPr>
          <p:cNvPr id="4" name="Shape 2"/>
          <p:cNvSpPr/>
          <p:nvPr/>
        </p:nvSpPr>
        <p:spPr>
          <a:xfrm>
            <a:off x="45720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40080" y="1463040"/>
            <a:ext cx="420624" cy="420624"/>
          </a:xfrm>
          <a:prstGeom prst="ellipse">
            <a:avLst/>
          </a:prstGeom>
          <a:solidFill>
            <a:srgbClr val="16263F"/>
          </a:solidFill>
          <a:ln/>
        </p:spPr>
      </p:sp>
      <p:pic>
        <p:nvPicPr>
          <p:cNvPr id="6" name="Image 0" descr="preencoded.png"/>
          <p:cNvPicPr>
            <a:picLocks noChangeAspect="1"/>
          </p:cNvPicPr>
          <p:nvPr/>
        </p:nvPicPr>
        <p:blipFill>
          <a:blip r:embed="rId1"/>
          <a:stretch>
            <a:fillRect/>
          </a:stretch>
        </p:blipFill>
        <p:spPr>
          <a:xfrm>
            <a:off x="749442" y="1572402"/>
            <a:ext cx="201900" cy="201900"/>
          </a:xfrm>
          <a:prstGeom prst="rect">
            <a:avLst/>
          </a:prstGeom>
        </p:spPr>
      </p:pic>
      <p:sp>
        <p:nvSpPr>
          <p:cNvPr id="7" name="Text 4"/>
          <p:cNvSpPr/>
          <p:nvPr/>
        </p:nvSpPr>
        <p:spPr>
          <a:xfrm>
            <a:off x="115214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 · GROUND</a:t>
            </a:r>
            <a:endParaRPr lang="en-US" sz="1300" dirty="0"/>
          </a:p>
        </p:txBody>
      </p:sp>
      <p:sp>
        <p:nvSpPr>
          <p:cNvPr id="8" name="Text 5"/>
          <p:cNvSpPr/>
          <p:nvPr/>
        </p:nvSpPr>
        <p:spPr>
          <a:xfrm>
            <a:off x="65836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Unify standards (ASP/SPA), catalog, and room/department hierarchies into a knowledge graph + vector recall. Retrieval is GraphRAG: hard facts first, semantics second.</a:t>
            </a:r>
            <a:endParaRPr lang="en-US" sz="1030" dirty="0"/>
          </a:p>
        </p:txBody>
      </p:sp>
      <p:pic>
        <p:nvPicPr>
          <p:cNvPr id="9" name="Image 1" descr="preencoded.png"/>
          <p:cNvPicPr>
            <a:picLocks noChangeAspect="1"/>
          </p:cNvPicPr>
          <p:nvPr/>
        </p:nvPicPr>
        <p:blipFill>
          <a:blip r:embed="rId2"/>
          <a:stretch>
            <a:fillRect/>
          </a:stretch>
        </p:blipFill>
        <p:spPr>
          <a:xfrm>
            <a:off x="3054096" y="2084832"/>
            <a:ext cx="274320" cy="274320"/>
          </a:xfrm>
          <a:prstGeom prst="rect">
            <a:avLst/>
          </a:prstGeom>
        </p:spPr>
      </p:pic>
      <p:sp>
        <p:nvSpPr>
          <p:cNvPr id="10" name="Shape 6"/>
          <p:cNvSpPr/>
          <p:nvPr/>
        </p:nvSpPr>
        <p:spPr>
          <a:xfrm>
            <a:off x="338328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11" name="Shape 7"/>
          <p:cNvSpPr/>
          <p:nvPr/>
        </p:nvSpPr>
        <p:spPr>
          <a:xfrm>
            <a:off x="3566160" y="1463040"/>
            <a:ext cx="420624" cy="420624"/>
          </a:xfrm>
          <a:prstGeom prst="ellipse">
            <a:avLst/>
          </a:prstGeom>
          <a:solidFill>
            <a:srgbClr val="16263F"/>
          </a:solidFill>
          <a:ln/>
        </p:spPr>
      </p:sp>
      <p:pic>
        <p:nvPicPr>
          <p:cNvPr id="12" name="Image 2" descr="preencoded.png"/>
          <p:cNvPicPr>
            <a:picLocks noChangeAspect="1"/>
          </p:cNvPicPr>
          <p:nvPr/>
        </p:nvPicPr>
        <p:blipFill>
          <a:blip r:embed="rId3"/>
          <a:stretch>
            <a:fillRect/>
          </a:stretch>
        </p:blipFill>
        <p:spPr>
          <a:xfrm>
            <a:off x="3675522" y="1572402"/>
            <a:ext cx="201900" cy="201900"/>
          </a:xfrm>
          <a:prstGeom prst="rect">
            <a:avLst/>
          </a:prstGeom>
        </p:spPr>
      </p:pic>
      <p:sp>
        <p:nvSpPr>
          <p:cNvPr id="13" name="Text 8"/>
          <p:cNvSpPr/>
          <p:nvPr/>
        </p:nvSpPr>
        <p:spPr>
          <a:xfrm>
            <a:off x="407822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B · ASSIST</a:t>
            </a:r>
            <a:endParaRPr lang="en-US" sz="1300" dirty="0"/>
          </a:p>
        </p:txBody>
      </p:sp>
      <p:sp>
        <p:nvSpPr>
          <p:cNvPr id="14" name="Text 9"/>
          <p:cNvSpPr/>
          <p:nvPr/>
        </p:nvSpPr>
        <p:spPr>
          <a:xfrm>
            <a:off x="358444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Grounded copilots in-product: compliance Q&amp;A with rule citations, semantic catalog search, layout suggestions constrained by the rules engine.</a:t>
            </a:r>
            <a:endParaRPr lang="en-US" sz="1030" dirty="0"/>
          </a:p>
        </p:txBody>
      </p:sp>
      <p:pic>
        <p:nvPicPr>
          <p:cNvPr id="15" name="Image 3" descr="preencoded.png"/>
          <p:cNvPicPr>
            <a:picLocks noChangeAspect="1"/>
          </p:cNvPicPr>
          <p:nvPr/>
        </p:nvPicPr>
        <p:blipFill>
          <a:blip r:embed="rId4"/>
          <a:stretch>
            <a:fillRect/>
          </a:stretch>
        </p:blipFill>
        <p:spPr>
          <a:xfrm>
            <a:off x="5980176" y="2084832"/>
            <a:ext cx="274320" cy="274320"/>
          </a:xfrm>
          <a:prstGeom prst="rect">
            <a:avLst/>
          </a:prstGeom>
        </p:spPr>
      </p:pic>
      <p:sp>
        <p:nvSpPr>
          <p:cNvPr id="16" name="Shape 10"/>
          <p:cNvSpPr/>
          <p:nvPr/>
        </p:nvSpPr>
        <p:spPr>
          <a:xfrm>
            <a:off x="630936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17" name="Shape 11"/>
          <p:cNvSpPr/>
          <p:nvPr/>
        </p:nvSpPr>
        <p:spPr>
          <a:xfrm>
            <a:off x="6492240" y="1463040"/>
            <a:ext cx="420624" cy="420624"/>
          </a:xfrm>
          <a:prstGeom prst="ellipse">
            <a:avLst/>
          </a:prstGeom>
          <a:solidFill>
            <a:srgbClr val="16263F"/>
          </a:solidFill>
          <a:ln/>
        </p:spPr>
      </p:sp>
      <p:pic>
        <p:nvPicPr>
          <p:cNvPr id="18" name="Image 4" descr="preencoded.png"/>
          <p:cNvPicPr>
            <a:picLocks noChangeAspect="1"/>
          </p:cNvPicPr>
          <p:nvPr/>
        </p:nvPicPr>
        <p:blipFill>
          <a:blip r:embed="rId5"/>
          <a:stretch>
            <a:fillRect/>
          </a:stretch>
        </p:blipFill>
        <p:spPr>
          <a:xfrm>
            <a:off x="6601602" y="1572402"/>
            <a:ext cx="201900" cy="201900"/>
          </a:xfrm>
          <a:prstGeom prst="rect">
            <a:avLst/>
          </a:prstGeom>
        </p:spPr>
      </p:pic>
      <p:sp>
        <p:nvSpPr>
          <p:cNvPr id="19" name="Text 12"/>
          <p:cNvSpPr/>
          <p:nvPr/>
        </p:nvSpPr>
        <p:spPr>
          <a:xfrm>
            <a:off x="700430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 · COMPOUND</a:t>
            </a:r>
            <a:endParaRPr lang="en-US" sz="1300" dirty="0"/>
          </a:p>
        </p:txBody>
      </p:sp>
      <p:sp>
        <p:nvSpPr>
          <p:cNvPr id="20" name="Text 13"/>
          <p:cNvSpPr/>
          <p:nvPr/>
        </p:nvSpPr>
        <p:spPr>
          <a:xfrm>
            <a:off x="651052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Corrections captured as structured deltas from day one. Adapter training is data-gated — it begins only once enough validated deltas exist, behind the eval harness.</a:t>
            </a:r>
            <a:endParaRPr lang="en-US" sz="1030" dirty="0"/>
          </a:p>
        </p:txBody>
      </p:sp>
      <p:sp>
        <p:nvSpPr>
          <p:cNvPr id="21" name="Text 14"/>
          <p:cNvSpPr/>
          <p:nvPr/>
        </p:nvSpPr>
        <p:spPr>
          <a:xfrm>
            <a:off x="457200" y="3310128"/>
            <a:ext cx="8229600" cy="256032"/>
          </a:xfrm>
          <a:prstGeom prst="rect">
            <a:avLst/>
          </a:prstGeom>
          <a:noFill/>
          <a:ln/>
        </p:spPr>
        <p:txBody>
          <a:bodyPr wrap="square" lIns="0" tIns="0" rIns="0" bIns="0" rtlCol="0" anchor="ctr"/>
          <a:lstStyle/>
          <a:p>
            <a:pPr indent="0" marL="0">
              <a:buNone/>
            </a:pPr>
            <a:r>
              <a:rPr lang="en-US" sz="1250" b="1" dirty="0">
                <a:solidFill>
                  <a:srgbClr val="C78F0D"/>
                </a:solidFill>
                <a:latin typeface="Calibri" pitchFamily="34" charset="0"/>
                <a:ea typeface="Calibri" pitchFamily="34" charset="-122"/>
                <a:cs typeface="Calibri" pitchFamily="34" charset="-120"/>
              </a:rPr>
              <a:t>Non-negotiable guardrails</a:t>
            </a:r>
            <a:endParaRPr lang="en-US" sz="1250" dirty="0"/>
          </a:p>
        </p:txBody>
      </p:sp>
      <p:pic>
        <p:nvPicPr>
          <p:cNvPr id="22" name="Image 5" descr="preencoded.png"/>
          <p:cNvPicPr>
            <a:picLocks noChangeAspect="1"/>
          </p:cNvPicPr>
          <p:nvPr/>
        </p:nvPicPr>
        <p:blipFill>
          <a:blip r:embed="rId6"/>
          <a:stretch>
            <a:fillRect/>
          </a:stretch>
        </p:blipFill>
        <p:spPr>
          <a:xfrm>
            <a:off x="457200" y="3621024"/>
            <a:ext cx="274320" cy="274320"/>
          </a:xfrm>
          <a:prstGeom prst="rect">
            <a:avLst/>
          </a:prstGeom>
        </p:spPr>
      </p:pic>
      <p:sp>
        <p:nvSpPr>
          <p:cNvPr id="23" name="Text 15"/>
          <p:cNvSpPr/>
          <p:nvPr/>
        </p:nvSpPr>
        <p:spPr>
          <a:xfrm>
            <a:off x="84124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Generation may only reference what exists in the graph — fabricated parts or rules are rejected pre-commit.</a:t>
            </a:r>
            <a:endParaRPr lang="en-US" sz="1000" dirty="0"/>
          </a:p>
        </p:txBody>
      </p:sp>
      <p:pic>
        <p:nvPicPr>
          <p:cNvPr id="24" name="Image 6" descr="preencoded.png"/>
          <p:cNvPicPr>
            <a:picLocks noChangeAspect="1"/>
          </p:cNvPicPr>
          <p:nvPr/>
        </p:nvPicPr>
        <p:blipFill>
          <a:blip r:embed="rId7"/>
          <a:stretch>
            <a:fillRect/>
          </a:stretch>
        </p:blipFill>
        <p:spPr>
          <a:xfrm>
            <a:off x="3383280" y="3621024"/>
            <a:ext cx="274320" cy="274320"/>
          </a:xfrm>
          <a:prstGeom prst="rect">
            <a:avLst/>
          </a:prstGeom>
        </p:spPr>
      </p:pic>
      <p:sp>
        <p:nvSpPr>
          <p:cNvPr id="25" name="Text 16"/>
          <p:cNvSpPr/>
          <p:nvPr/>
        </p:nvSpPr>
        <p:spPr>
          <a:xfrm>
            <a:off x="376732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Licensed humans approve anything code- or life-safety-bearing. AI proposes; people decide.</a:t>
            </a:r>
            <a:endParaRPr lang="en-US" sz="1000" dirty="0"/>
          </a:p>
        </p:txBody>
      </p:sp>
      <p:pic>
        <p:nvPicPr>
          <p:cNvPr id="26" name="Image 7" descr="preencoded.png"/>
          <p:cNvPicPr>
            <a:picLocks noChangeAspect="1"/>
          </p:cNvPicPr>
          <p:nvPr/>
        </p:nvPicPr>
        <p:blipFill>
          <a:blip r:embed="rId8"/>
          <a:stretch>
            <a:fillRect/>
          </a:stretch>
        </p:blipFill>
        <p:spPr>
          <a:xfrm>
            <a:off x="6309360" y="3621024"/>
            <a:ext cx="274320" cy="274320"/>
          </a:xfrm>
          <a:prstGeom prst="rect">
            <a:avLst/>
          </a:prstGeom>
        </p:spPr>
      </p:pic>
      <p:sp>
        <p:nvSpPr>
          <p:cNvPr id="27" name="Text 17"/>
          <p:cNvSpPr/>
          <p:nvPr/>
        </p:nvSpPr>
        <p:spPr>
          <a:xfrm>
            <a:off x="669340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No adapter promotes past a failing eval — golden sets from your standards gate every update.</a:t>
            </a:r>
            <a:endParaRPr lang="en-US" sz="1000" dirty="0"/>
          </a:p>
        </p:txBody>
      </p:sp>
      <p:sp>
        <p:nvSpPr>
          <p:cNvPr id="28" name="Text 18"/>
          <p:cNvSpPr/>
          <p:nvPr/>
        </p:nvSpPr>
        <p:spPr>
          <a:xfrm>
            <a:off x="457200" y="4617720"/>
            <a:ext cx="822960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Proprietary data never leaves the tenant boundary — serving location (in-tenant cloud vs local GPUs) is an options-ADR.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Plug-and-play is a contract, not a 3D problem</a:t>
            </a:r>
            <a:endParaRPr lang="en-US" sz="2800" dirty="0"/>
          </a:p>
        </p:txBody>
      </p:sp>
      <p:sp>
        <p:nvSpPr>
          <p:cNvPr id="4" name="Shape 2"/>
          <p:cNvSpPr/>
          <p:nvPr/>
        </p:nvSpPr>
        <p:spPr>
          <a:xfrm>
            <a:off x="640080" y="1298448"/>
            <a:ext cx="1627632" cy="603504"/>
          </a:xfrm>
          <a:prstGeom prst="roundRect">
            <a:avLst>
              <a:gd name="adj" fmla="val 12121"/>
            </a:avLst>
          </a:prstGeom>
          <a:solidFill>
            <a:srgbClr val="E8A816"/>
          </a:solidFill>
          <a:ln/>
          <a:effectLst>
            <a:outerShdw sx="100000" sy="100000" kx="0" ky="0" algn="bl" rotWithShape="0" blurRad="88900" dist="25400" dir="2700000">
              <a:srgbClr val="000000">
                <a:alpha val="14000"/>
              </a:srgbClr>
            </a:outerShdw>
          </a:effectLst>
        </p:spPr>
      </p:sp>
      <p:pic>
        <p:nvPicPr>
          <p:cNvPr id="5" name="Image 0" descr="preencoded.png"/>
          <p:cNvPicPr>
            <a:picLocks noChangeAspect="1"/>
          </p:cNvPicPr>
          <p:nvPr/>
        </p:nvPicPr>
        <p:blipFill>
          <a:blip r:embed="rId1"/>
          <a:stretch>
            <a:fillRect/>
          </a:stretch>
        </p:blipFill>
        <p:spPr>
          <a:xfrm>
            <a:off x="786384" y="1453896"/>
            <a:ext cx="292608" cy="292608"/>
          </a:xfrm>
          <a:prstGeom prst="rect">
            <a:avLst/>
          </a:prstGeom>
        </p:spPr>
      </p:pic>
      <p:sp>
        <p:nvSpPr>
          <p:cNvPr id="6" name="Text 3"/>
          <p:cNvSpPr/>
          <p:nvPr/>
        </p:nvSpPr>
        <p:spPr>
          <a:xfrm>
            <a:off x="113385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Moducule</a:t>
            </a:r>
            <a:endParaRPr lang="en-US" sz="1350" dirty="0"/>
          </a:p>
        </p:txBody>
      </p:sp>
      <p:pic>
        <p:nvPicPr>
          <p:cNvPr id="7" name="Image 1" descr="preencoded.png"/>
          <p:cNvPicPr>
            <a:picLocks noChangeAspect="1"/>
          </p:cNvPicPr>
          <p:nvPr/>
        </p:nvPicPr>
        <p:blipFill>
          <a:blip r:embed="rId2"/>
          <a:stretch>
            <a:fillRect/>
          </a:stretch>
        </p:blipFill>
        <p:spPr>
          <a:xfrm>
            <a:off x="2340864" y="1463040"/>
            <a:ext cx="274320" cy="274320"/>
          </a:xfrm>
          <a:prstGeom prst="rect">
            <a:avLst/>
          </a:prstGeom>
        </p:spPr>
      </p:pic>
      <p:sp>
        <p:nvSpPr>
          <p:cNvPr id="8" name="Shape 4"/>
          <p:cNvSpPr/>
          <p:nvPr/>
        </p:nvSpPr>
        <p:spPr>
          <a:xfrm>
            <a:off x="274320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9" name="Image 2" descr="preencoded.png"/>
          <p:cNvPicPr>
            <a:picLocks noChangeAspect="1"/>
          </p:cNvPicPr>
          <p:nvPr/>
        </p:nvPicPr>
        <p:blipFill>
          <a:blip r:embed="rId3"/>
          <a:stretch>
            <a:fillRect/>
          </a:stretch>
        </p:blipFill>
        <p:spPr>
          <a:xfrm>
            <a:off x="2889504" y="1453896"/>
            <a:ext cx="292608" cy="292608"/>
          </a:xfrm>
          <a:prstGeom prst="rect">
            <a:avLst/>
          </a:prstGeom>
        </p:spPr>
      </p:pic>
      <p:sp>
        <p:nvSpPr>
          <p:cNvPr id="10" name="Text 5"/>
          <p:cNvSpPr/>
          <p:nvPr/>
        </p:nvSpPr>
        <p:spPr>
          <a:xfrm>
            <a:off x="323697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Module</a:t>
            </a:r>
            <a:endParaRPr lang="en-US" sz="1350" dirty="0"/>
          </a:p>
        </p:txBody>
      </p:sp>
      <p:pic>
        <p:nvPicPr>
          <p:cNvPr id="11" name="Image 3" descr="preencoded.png"/>
          <p:cNvPicPr>
            <a:picLocks noChangeAspect="1"/>
          </p:cNvPicPr>
          <p:nvPr/>
        </p:nvPicPr>
        <p:blipFill>
          <a:blip r:embed="rId4"/>
          <a:stretch>
            <a:fillRect/>
          </a:stretch>
        </p:blipFill>
        <p:spPr>
          <a:xfrm>
            <a:off x="4443984" y="1463040"/>
            <a:ext cx="274320" cy="274320"/>
          </a:xfrm>
          <a:prstGeom prst="rect">
            <a:avLst/>
          </a:prstGeom>
        </p:spPr>
      </p:pic>
      <p:sp>
        <p:nvSpPr>
          <p:cNvPr id="12" name="Shape 6"/>
          <p:cNvSpPr/>
          <p:nvPr/>
        </p:nvSpPr>
        <p:spPr>
          <a:xfrm>
            <a:off x="484632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13" name="Image 4" descr="preencoded.png"/>
          <p:cNvPicPr>
            <a:picLocks noChangeAspect="1"/>
          </p:cNvPicPr>
          <p:nvPr/>
        </p:nvPicPr>
        <p:blipFill>
          <a:blip r:embed="rId5"/>
          <a:stretch>
            <a:fillRect/>
          </a:stretch>
        </p:blipFill>
        <p:spPr>
          <a:xfrm>
            <a:off x="4992624" y="1453896"/>
            <a:ext cx="292608" cy="292608"/>
          </a:xfrm>
          <a:prstGeom prst="rect">
            <a:avLst/>
          </a:prstGeom>
        </p:spPr>
      </p:pic>
      <p:sp>
        <p:nvSpPr>
          <p:cNvPr id="14" name="Text 7"/>
          <p:cNvSpPr/>
          <p:nvPr/>
        </p:nvSpPr>
        <p:spPr>
          <a:xfrm>
            <a:off x="534009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Room</a:t>
            </a:r>
            <a:endParaRPr lang="en-US" sz="1350" dirty="0"/>
          </a:p>
        </p:txBody>
      </p:sp>
      <p:pic>
        <p:nvPicPr>
          <p:cNvPr id="15" name="Image 5" descr="preencoded.png"/>
          <p:cNvPicPr>
            <a:picLocks noChangeAspect="1"/>
          </p:cNvPicPr>
          <p:nvPr/>
        </p:nvPicPr>
        <p:blipFill>
          <a:blip r:embed="rId6"/>
          <a:stretch>
            <a:fillRect/>
          </a:stretch>
        </p:blipFill>
        <p:spPr>
          <a:xfrm>
            <a:off x="6547104" y="1463040"/>
            <a:ext cx="274320" cy="274320"/>
          </a:xfrm>
          <a:prstGeom prst="rect">
            <a:avLst/>
          </a:prstGeom>
        </p:spPr>
      </p:pic>
      <p:sp>
        <p:nvSpPr>
          <p:cNvPr id="16" name="Shape 8"/>
          <p:cNvSpPr/>
          <p:nvPr/>
        </p:nvSpPr>
        <p:spPr>
          <a:xfrm>
            <a:off x="694944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17" name="Image 6" descr="preencoded.png"/>
          <p:cNvPicPr>
            <a:picLocks noChangeAspect="1"/>
          </p:cNvPicPr>
          <p:nvPr/>
        </p:nvPicPr>
        <p:blipFill>
          <a:blip r:embed="rId7"/>
          <a:stretch>
            <a:fillRect/>
          </a:stretch>
        </p:blipFill>
        <p:spPr>
          <a:xfrm>
            <a:off x="7095744" y="1453896"/>
            <a:ext cx="292608" cy="292608"/>
          </a:xfrm>
          <a:prstGeom prst="rect">
            <a:avLst/>
          </a:prstGeom>
        </p:spPr>
      </p:pic>
      <p:sp>
        <p:nvSpPr>
          <p:cNvPr id="18" name="Text 9"/>
          <p:cNvSpPr/>
          <p:nvPr/>
        </p:nvSpPr>
        <p:spPr>
          <a:xfrm>
            <a:off x="744321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Building</a:t>
            </a:r>
            <a:endParaRPr lang="en-US" sz="1350" dirty="0"/>
          </a:p>
        </p:txBody>
      </p:sp>
      <p:sp>
        <p:nvSpPr>
          <p:cNvPr id="19" name="Text 10"/>
          <p:cNvSpPr/>
          <p:nvPr/>
        </p:nvSpPr>
        <p:spPr>
          <a:xfrm>
            <a:off x="640080" y="1993392"/>
            <a:ext cx="7863840" cy="274320"/>
          </a:xfrm>
          <a:prstGeom prst="rect">
            <a:avLst/>
          </a:prstGeom>
          <a:noFill/>
          <a:ln/>
        </p:spPr>
        <p:txBody>
          <a:bodyPr wrap="square" lIns="0" tIns="0" rIns="0" bIns="0" rtlCol="0" anchor="ctr"/>
          <a:lstStyle/>
          <a:p>
            <a:pPr algn="ctr" indent="0" marL="0">
              <a:buNone/>
            </a:pPr>
            <a:r>
              <a:rPr lang="en-US" sz="1200" i="1" dirty="0">
                <a:solidFill>
                  <a:srgbClr val="C78F0D"/>
                </a:solidFill>
                <a:latin typeface="Calibri" pitchFamily="34" charset="0"/>
                <a:ea typeface="Calibri" pitchFamily="34" charset="-122"/>
                <a:cs typeface="Calibri" pitchFamily="34" charset="-120"/>
              </a:rPr>
              <a:t>Constraints inherit upward at every level — it only snaps if it's legal.</a:t>
            </a:r>
            <a:endParaRPr lang="en-US" sz="1200" dirty="0"/>
          </a:p>
        </p:txBody>
      </p:sp>
      <p:sp>
        <p:nvSpPr>
          <p:cNvPr id="20" name="Shape 11"/>
          <p:cNvSpPr/>
          <p:nvPr/>
        </p:nvSpPr>
        <p:spPr>
          <a:xfrm>
            <a:off x="457200"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1" name="Text 12"/>
          <p:cNvSpPr/>
          <p:nvPr/>
        </p:nvSpPr>
        <p:spPr>
          <a:xfrm>
            <a:off x="640080"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Moducule Definition Schema (MDS)</a:t>
            </a:r>
            <a:endParaRPr lang="en-US" sz="1300" dirty="0"/>
          </a:p>
        </p:txBody>
      </p:sp>
      <p:sp>
        <p:nvSpPr>
          <p:cNvPr id="22" name="Text 13"/>
          <p:cNvSpPr/>
          <p:nvPr/>
        </p:nvSpPr>
        <p:spPr>
          <a:xfrm>
            <a:off x="640080"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A typed, versioned contract per block: identity + semver · geometry by reference (glTF / USD / IFC) · typed ports (electrical, med-gas, HVAC, data, structural) · parameters · constraints with standards references · lifecycle: draft → validated → certified.</a:t>
            </a:r>
            <a:endParaRPr lang="en-US" sz="1000" dirty="0"/>
          </a:p>
        </p:txBody>
      </p:sp>
      <p:sp>
        <p:nvSpPr>
          <p:cNvPr id="23" name="Shape 14"/>
          <p:cNvSpPr/>
          <p:nvPr/>
        </p:nvSpPr>
        <p:spPr>
          <a:xfrm>
            <a:off x="3264408"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4" name="Text 15"/>
          <p:cNvSpPr/>
          <p:nvPr/>
        </p:nvSpPr>
        <p:spPr>
          <a:xfrm>
            <a:off x="3447288"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Composition validation</a:t>
            </a:r>
            <a:endParaRPr lang="en-US" sz="1300" dirty="0"/>
          </a:p>
        </p:txBody>
      </p:sp>
      <p:sp>
        <p:nvSpPr>
          <p:cNvPr id="25" name="Text 16"/>
          <p:cNvSpPr/>
          <p:nvPr/>
        </p:nvSpPr>
        <p:spPr>
          <a:xfrm>
            <a:off x="3447288"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Module = Moducules with resolved ports. Room = Modules + spatial &amp; code constraints. Building = Rooms + circulation and MEP risers. Port compatibility, collision, and code checks run at composition time — not at review time.</a:t>
            </a:r>
            <a:endParaRPr lang="en-US" sz="1000" dirty="0"/>
          </a:p>
        </p:txBody>
      </p:sp>
      <p:sp>
        <p:nvSpPr>
          <p:cNvPr id="26" name="Shape 17"/>
          <p:cNvSpPr/>
          <p:nvPr/>
        </p:nvSpPr>
        <p:spPr>
          <a:xfrm>
            <a:off x="6071616"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7" name="Text 18"/>
          <p:cNvSpPr/>
          <p:nvPr/>
        </p:nvSpPr>
        <p:spPr>
          <a:xfrm>
            <a:off x="6254496"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Certified registry</a:t>
            </a:r>
            <a:endParaRPr lang="en-US" sz="1300" dirty="0"/>
          </a:p>
        </p:txBody>
      </p:sp>
      <p:sp>
        <p:nvSpPr>
          <p:cNvPr id="28" name="Text 19"/>
          <p:cNvSpPr/>
          <p:nvPr/>
        </p:nvSpPr>
        <p:spPr>
          <a:xfrm>
            <a:off x="6254496"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Versioned, dependency-resolved Moducule packages with provenance and deprecation — and a domain-expert certification gate before any block is usable in a regulated design. Reuse becomes enforceable, not aspirational.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One source of truth — the Twin, on the right stores</a:t>
            </a:r>
            <a:endParaRPr lang="en-US" sz="2800" dirty="0"/>
          </a:p>
        </p:txBody>
      </p:sp>
      <p:sp>
        <p:nvSpPr>
          <p:cNvPr id="4" name="Shape 2"/>
          <p:cNvSpPr/>
          <p:nvPr/>
        </p:nvSpPr>
        <p:spPr>
          <a:xfrm>
            <a:off x="457200" y="1280160"/>
            <a:ext cx="4041648" cy="3035808"/>
          </a:xfrm>
          <a:prstGeom prst="roundRect">
            <a:avLst>
              <a:gd name="adj" fmla="val 1807"/>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58368" y="1444752"/>
            <a:ext cx="3657600" cy="27432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The Digital Twin, properly defined</a:t>
            </a:r>
            <a:endParaRPr lang="en-US" sz="1350" dirty="0"/>
          </a:p>
        </p:txBody>
      </p:sp>
      <p:sp>
        <p:nvSpPr>
          <p:cNvPr id="6" name="Shape 4"/>
          <p:cNvSpPr/>
          <p:nvPr/>
        </p:nvSpPr>
        <p:spPr>
          <a:xfrm>
            <a:off x="658368" y="1810512"/>
            <a:ext cx="384048" cy="384048"/>
          </a:xfrm>
          <a:prstGeom prst="ellipse">
            <a:avLst/>
          </a:prstGeom>
          <a:solidFill>
            <a:srgbClr val="16263F"/>
          </a:solidFill>
          <a:ln/>
        </p:spPr>
      </p:sp>
      <p:pic>
        <p:nvPicPr>
          <p:cNvPr id="7" name="Image 0" descr="preencoded.png"/>
          <p:cNvPicPr>
            <a:picLocks noChangeAspect="1"/>
          </p:cNvPicPr>
          <p:nvPr/>
        </p:nvPicPr>
        <p:blipFill>
          <a:blip r:embed="rId1"/>
          <a:stretch>
            <a:fillRect/>
          </a:stretch>
        </p:blipFill>
        <p:spPr>
          <a:xfrm>
            <a:off x="758220" y="1910364"/>
            <a:ext cx="184343" cy="184343"/>
          </a:xfrm>
          <a:prstGeom prst="rect">
            <a:avLst/>
          </a:prstGeom>
        </p:spPr>
      </p:pic>
      <p:sp>
        <p:nvSpPr>
          <p:cNvPr id="8" name="Text 5"/>
          <p:cNvSpPr/>
          <p:nvPr/>
        </p:nvSpPr>
        <p:spPr>
          <a:xfrm>
            <a:off x="1170432" y="1783080"/>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Type vs instance</a:t>
            </a:r>
            <a:endParaRPr lang="en-US" sz="1150" dirty="0"/>
          </a:p>
        </p:txBody>
      </p:sp>
      <p:sp>
        <p:nvSpPr>
          <p:cNvPr id="9" name="Text 6"/>
          <p:cNvSpPr/>
          <p:nvPr/>
        </p:nvSpPr>
        <p:spPr>
          <a:xfrm>
            <a:off x="1170432" y="2011680"/>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The registry holds types; the Twin holds instances — identity, live state, history at every level: Moducule → Module → Room → Building.</a:t>
            </a:r>
            <a:endParaRPr lang="en-US" sz="960" dirty="0"/>
          </a:p>
        </p:txBody>
      </p:sp>
      <p:sp>
        <p:nvSpPr>
          <p:cNvPr id="10" name="Shape 7"/>
          <p:cNvSpPr/>
          <p:nvPr/>
        </p:nvSpPr>
        <p:spPr>
          <a:xfrm>
            <a:off x="658368" y="2651760"/>
            <a:ext cx="384048" cy="384048"/>
          </a:xfrm>
          <a:prstGeom prst="ellipse">
            <a:avLst/>
          </a:prstGeom>
          <a:solidFill>
            <a:srgbClr val="16263F"/>
          </a:solidFill>
          <a:ln/>
        </p:spPr>
      </p:sp>
      <p:pic>
        <p:nvPicPr>
          <p:cNvPr id="11" name="Image 1" descr="preencoded.png"/>
          <p:cNvPicPr>
            <a:picLocks noChangeAspect="1"/>
          </p:cNvPicPr>
          <p:nvPr/>
        </p:nvPicPr>
        <p:blipFill>
          <a:blip r:embed="rId2"/>
          <a:stretch>
            <a:fillRect/>
          </a:stretch>
        </p:blipFill>
        <p:spPr>
          <a:xfrm>
            <a:off x="758220" y="2751612"/>
            <a:ext cx="184343" cy="184343"/>
          </a:xfrm>
          <a:prstGeom prst="rect">
            <a:avLst/>
          </a:prstGeom>
        </p:spPr>
      </p:pic>
      <p:sp>
        <p:nvSpPr>
          <p:cNvPr id="12" name="Text 8"/>
          <p:cNvSpPr/>
          <p:nvPr/>
        </p:nvSpPr>
        <p:spPr>
          <a:xfrm>
            <a:off x="1170432" y="2624328"/>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Change journal first</a:t>
            </a:r>
            <a:endParaRPr lang="en-US" sz="1150" dirty="0"/>
          </a:p>
        </p:txBody>
      </p:sp>
      <p:sp>
        <p:nvSpPr>
          <p:cNvPr id="13" name="Text 9"/>
          <p:cNvSpPr/>
          <p:nvPr/>
        </p:nvSpPr>
        <p:spPr>
          <a:xfrm>
            <a:off x="1170432" y="2852928"/>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Mutable current state + an append-only journal (outbox): audit, history, and flywheel deltas at 20% of the ceremony. Full event sourcing is the documented v2 path.</a:t>
            </a:r>
            <a:endParaRPr lang="en-US" sz="960" dirty="0"/>
          </a:p>
        </p:txBody>
      </p:sp>
      <p:sp>
        <p:nvSpPr>
          <p:cNvPr id="14" name="Shape 10"/>
          <p:cNvSpPr/>
          <p:nvPr/>
        </p:nvSpPr>
        <p:spPr>
          <a:xfrm>
            <a:off x="658368" y="3493008"/>
            <a:ext cx="384048" cy="384048"/>
          </a:xfrm>
          <a:prstGeom prst="ellipse">
            <a:avLst/>
          </a:prstGeom>
          <a:solidFill>
            <a:srgbClr val="16263F"/>
          </a:solidFill>
          <a:ln/>
        </p:spPr>
      </p:sp>
      <p:pic>
        <p:nvPicPr>
          <p:cNvPr id="15" name="Image 2" descr="preencoded.png"/>
          <p:cNvPicPr>
            <a:picLocks noChangeAspect="1"/>
          </p:cNvPicPr>
          <p:nvPr/>
        </p:nvPicPr>
        <p:blipFill>
          <a:blip r:embed="rId3"/>
          <a:stretch>
            <a:fillRect/>
          </a:stretch>
        </p:blipFill>
        <p:spPr>
          <a:xfrm>
            <a:off x="758220" y="3592860"/>
            <a:ext cx="184343" cy="184343"/>
          </a:xfrm>
          <a:prstGeom prst="rect">
            <a:avLst/>
          </a:prstGeom>
        </p:spPr>
      </p:pic>
      <p:sp>
        <p:nvSpPr>
          <p:cNvPr id="16" name="Text 11"/>
          <p:cNvSpPr/>
          <p:nvPr/>
        </p:nvSpPr>
        <p:spPr>
          <a:xfrm>
            <a:off x="1170432" y="3465576"/>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One API surface</a:t>
            </a:r>
            <a:endParaRPr lang="en-US" sz="1150" dirty="0"/>
          </a:p>
        </p:txBody>
      </p:sp>
      <p:sp>
        <p:nvSpPr>
          <p:cNvPr id="17" name="Text 12"/>
          <p:cNvSpPr/>
          <p:nvPr/>
        </p:nvSpPr>
        <p:spPr>
          <a:xfrm>
            <a:off x="1170432" y="3694176"/>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The Twin API (GraphQL — already your stack) is the only state surface. Unity and web are views; no client owns truth.</a:t>
            </a:r>
            <a:endParaRPr lang="en-US" sz="960" dirty="0"/>
          </a:p>
        </p:txBody>
      </p:sp>
      <p:sp>
        <p:nvSpPr>
          <p:cNvPr id="18" name="Shape 13"/>
          <p:cNvSpPr/>
          <p:nvPr/>
        </p:nvSpPr>
        <p:spPr>
          <a:xfrm>
            <a:off x="4645152" y="1280160"/>
            <a:ext cx="4041648" cy="3035808"/>
          </a:xfrm>
          <a:prstGeom prst="roundRect">
            <a:avLst>
              <a:gd name="adj" fmla="val 1807"/>
            </a:avLst>
          </a:prstGeom>
          <a:solidFill>
            <a:srgbClr val="FFFFFF"/>
          </a:solidFill>
          <a:ln w="12700">
            <a:solidFill>
              <a:srgbClr val="DFE6EE"/>
            </a:solidFill>
            <a:prstDash val="solid"/>
          </a:ln>
          <a:effectLst>
            <a:outerShdw sx="100000" sy="100000" kx="0" ky="0" algn="bl" rotWithShape="0" blurRad="88900" dist="25400" dir="2700000">
              <a:srgbClr val="000000">
                <a:alpha val="14000"/>
              </a:srgbClr>
            </a:outerShdw>
          </a:effectLst>
        </p:spPr>
      </p:sp>
      <p:sp>
        <p:nvSpPr>
          <p:cNvPr id="19" name="Text 14"/>
          <p:cNvSpPr/>
          <p:nvPr/>
        </p:nvSpPr>
        <p:spPr>
          <a:xfrm>
            <a:off x="4846320" y="1444752"/>
            <a:ext cx="3657600" cy="27432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Persistence by workload — never by fashion</a:t>
            </a:r>
            <a:endParaRPr lang="en-US" sz="1350" dirty="0"/>
          </a:p>
        </p:txBody>
      </p:sp>
      <p:pic>
        <p:nvPicPr>
          <p:cNvPr id="20" name="Image 3" descr="preencoded.png"/>
          <p:cNvPicPr>
            <a:picLocks noChangeAspect="1"/>
          </p:cNvPicPr>
          <p:nvPr/>
        </p:nvPicPr>
        <p:blipFill>
          <a:blip r:embed="rId4"/>
          <a:stretch>
            <a:fillRect/>
          </a:stretch>
        </p:blipFill>
        <p:spPr>
          <a:xfrm>
            <a:off x="4864608" y="1828800"/>
            <a:ext cx="274320" cy="274320"/>
          </a:xfrm>
          <a:prstGeom prst="rect">
            <a:avLst/>
          </a:prstGeom>
        </p:spPr>
      </p:pic>
      <p:sp>
        <p:nvSpPr>
          <p:cNvPr id="21" name="Text 15"/>
          <p:cNvSpPr/>
          <p:nvPr/>
        </p:nvSpPr>
        <p:spPr>
          <a:xfrm>
            <a:off x="5266944" y="177393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Postgres — transactional core. Finishes the migration your team already started, behind query-parity gates.</a:t>
            </a:r>
            <a:endParaRPr lang="en-US" sz="960" dirty="0"/>
          </a:p>
        </p:txBody>
      </p:sp>
      <p:pic>
        <p:nvPicPr>
          <p:cNvPr id="22" name="Image 4" descr="preencoded.png"/>
          <p:cNvPicPr>
            <a:picLocks noChangeAspect="1"/>
          </p:cNvPicPr>
          <p:nvPr/>
        </p:nvPicPr>
        <p:blipFill>
          <a:blip r:embed="rId5"/>
          <a:stretch>
            <a:fillRect/>
          </a:stretch>
        </p:blipFill>
        <p:spPr>
          <a:xfrm>
            <a:off x="4864608" y="2331720"/>
            <a:ext cx="274320" cy="274320"/>
          </a:xfrm>
          <a:prstGeom prst="rect">
            <a:avLst/>
          </a:prstGeom>
        </p:spPr>
      </p:pic>
      <p:sp>
        <p:nvSpPr>
          <p:cNvPr id="23" name="Text 16"/>
          <p:cNvSpPr/>
          <p:nvPr/>
        </p:nvSpPr>
        <p:spPr>
          <a:xfrm>
            <a:off x="5266944" y="227685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Graph — composition, ontology, GraphRAG. Start inside Postgres (AGE + pgvector); graduate only past ADR thresholds.</a:t>
            </a:r>
            <a:endParaRPr lang="en-US" sz="960" dirty="0"/>
          </a:p>
        </p:txBody>
      </p:sp>
      <p:pic>
        <p:nvPicPr>
          <p:cNvPr id="24" name="Image 5" descr="preencoded.png"/>
          <p:cNvPicPr>
            <a:picLocks noChangeAspect="1"/>
          </p:cNvPicPr>
          <p:nvPr/>
        </p:nvPicPr>
        <p:blipFill>
          <a:blip r:embed="rId6"/>
          <a:stretch>
            <a:fillRect/>
          </a:stretch>
        </p:blipFill>
        <p:spPr>
          <a:xfrm>
            <a:off x="4864608" y="2834640"/>
            <a:ext cx="274320" cy="274320"/>
          </a:xfrm>
          <a:prstGeom prst="rect">
            <a:avLst/>
          </a:prstGeom>
        </p:spPr>
      </p:pic>
      <p:sp>
        <p:nvSpPr>
          <p:cNvPr id="25" name="Text 17"/>
          <p:cNvSpPr/>
          <p:nvPr/>
        </p:nvSpPr>
        <p:spPr>
          <a:xfrm>
            <a:off x="5266944" y="277977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Object store — geometry &amp; BIM artifacts by reference, never embedded in app state.</a:t>
            </a:r>
            <a:endParaRPr lang="en-US" sz="960" dirty="0"/>
          </a:p>
        </p:txBody>
      </p:sp>
      <p:pic>
        <p:nvPicPr>
          <p:cNvPr id="26" name="Image 6" descr="preencoded.png"/>
          <p:cNvPicPr>
            <a:picLocks noChangeAspect="1"/>
          </p:cNvPicPr>
          <p:nvPr/>
        </p:nvPicPr>
        <p:blipFill>
          <a:blip r:embed="rId7"/>
          <a:stretch>
            <a:fillRect/>
          </a:stretch>
        </p:blipFill>
        <p:spPr>
          <a:xfrm>
            <a:off x="4864608" y="3337560"/>
            <a:ext cx="274320" cy="274320"/>
          </a:xfrm>
          <a:prstGeom prst="rect">
            <a:avLst/>
          </a:prstGeom>
        </p:spPr>
      </p:pic>
      <p:sp>
        <p:nvSpPr>
          <p:cNvPr id="27" name="Text 18"/>
          <p:cNvSpPr/>
          <p:nvPr/>
        </p:nvSpPr>
        <p:spPr>
          <a:xfrm>
            <a:off x="5266944" y="328269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Time-series — operational telemetry, added when the ops loop lands.</a:t>
            </a:r>
            <a:endParaRPr lang="en-US" sz="960" dirty="0"/>
          </a:p>
        </p:txBody>
      </p:sp>
      <p:pic>
        <p:nvPicPr>
          <p:cNvPr id="28" name="Image 7" descr="preencoded.png"/>
          <p:cNvPicPr>
            <a:picLocks noChangeAspect="1"/>
          </p:cNvPicPr>
          <p:nvPr/>
        </p:nvPicPr>
        <p:blipFill>
          <a:blip r:embed="rId8"/>
          <a:stretch>
            <a:fillRect/>
          </a:stretch>
        </p:blipFill>
        <p:spPr>
          <a:xfrm>
            <a:off x="4864608" y="3840480"/>
            <a:ext cx="274320" cy="274320"/>
          </a:xfrm>
          <a:prstGeom prst="rect">
            <a:avLst/>
          </a:prstGeom>
        </p:spPr>
      </p:pic>
      <p:sp>
        <p:nvSpPr>
          <p:cNvPr id="29" name="Text 19"/>
          <p:cNvSpPr/>
          <p:nvPr/>
        </p:nvSpPr>
        <p:spPr>
          <a:xfrm>
            <a:off x="5266944" y="378561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Databricks / Delta — analytics &amp; ML plane, fed by CDC. No dual writes, no big-bang migration.</a:t>
            </a:r>
            <a:endParaRPr lang="en-US" sz="960" dirty="0"/>
          </a:p>
        </p:txBody>
      </p:sp>
      <p:sp>
        <p:nvSpPr>
          <p:cNvPr id="30" name="Text 20"/>
          <p:cNvSpPr/>
          <p:nvPr/>
        </p:nvSpPr>
        <p:spPr>
          <a:xfrm>
            <a:off x="457200" y="4498848"/>
            <a:ext cx="8229600" cy="274320"/>
          </a:xfrm>
          <a:prstGeom prst="rect">
            <a:avLst/>
          </a:prstGeom>
          <a:noFill/>
          <a:ln/>
        </p:spPr>
        <p:txBody>
          <a:bodyPr wrap="square" lIns="0" tIns="0" rIns="0" bIns="0" rtlCol="0" anchor="ctr"/>
          <a:lstStyle/>
          <a:p>
            <a:pPr indent="0" marL="0">
              <a:buNone/>
            </a:pPr>
            <a:r>
              <a:rPr lang="en-US" sz="1100" i="1" dirty="0">
                <a:solidFill>
                  <a:srgbClr val="5B6B7E"/>
                </a:solidFill>
                <a:latin typeface="Calibri" pitchFamily="34" charset="0"/>
                <a:ea typeface="Calibri" pitchFamily="34" charset="-122"/>
                <a:cs typeface="Calibri" pitchFamily="34" charset="-120"/>
              </a:rPr>
              <a:t>Strangler execution: every new capability reads and writes through the Twin API; legacy tables retire domain by domain.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Unity: from suspicion to a managed decision</a:t>
            </a:r>
            <a:endParaRPr lang="en-US" sz="2800" dirty="0"/>
          </a:p>
        </p:txBody>
      </p:sp>
      <p:sp>
        <p:nvSpPr>
          <p:cNvPr id="4" name="Shape 2"/>
          <p:cNvSpPr/>
          <p:nvPr/>
        </p:nvSpPr>
        <p:spPr>
          <a:xfrm>
            <a:off x="457200" y="1280160"/>
            <a:ext cx="4041648" cy="3108960"/>
          </a:xfrm>
          <a:prstGeom prst="roundRect">
            <a:avLst>
              <a:gd name="adj" fmla="val 1765"/>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58368" y="1444752"/>
            <a:ext cx="420624" cy="420624"/>
          </a:xfrm>
          <a:prstGeom prst="ellipse">
            <a:avLst/>
          </a:prstGeom>
          <a:solidFill>
            <a:srgbClr val="16263F"/>
          </a:solidFill>
          <a:ln/>
        </p:spPr>
      </p:sp>
      <p:pic>
        <p:nvPicPr>
          <p:cNvPr id="6" name="Image 0" descr="preencoded.png"/>
          <p:cNvPicPr>
            <a:picLocks noChangeAspect="1"/>
          </p:cNvPicPr>
          <p:nvPr/>
        </p:nvPicPr>
        <p:blipFill>
          <a:blip r:embed="rId1"/>
          <a:stretch>
            <a:fillRect/>
          </a:stretch>
        </p:blipFill>
        <p:spPr>
          <a:xfrm>
            <a:off x="767730" y="1554114"/>
            <a:ext cx="201900" cy="201900"/>
          </a:xfrm>
          <a:prstGeom prst="rect">
            <a:avLst/>
          </a:prstGeom>
        </p:spPr>
      </p:pic>
      <p:sp>
        <p:nvSpPr>
          <p:cNvPr id="7" name="Text 4"/>
          <p:cNvSpPr/>
          <p:nvPr/>
        </p:nvSpPr>
        <p:spPr>
          <a:xfrm>
            <a:off x="1188720" y="1481328"/>
            <a:ext cx="3108960" cy="36576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Re-scope — don't rip out</a:t>
            </a:r>
            <a:endParaRPr lang="en-US" sz="1350" dirty="0"/>
          </a:p>
        </p:txBody>
      </p:sp>
      <p:sp>
        <p:nvSpPr>
          <p:cNvPr id="8" name="Text 5"/>
          <p:cNvSpPr/>
          <p:nvPr/>
        </p:nvSpPr>
        <p:spPr>
          <a:xfrm>
            <a:off x="676656" y="2011680"/>
            <a:ext cx="3611880" cy="2240280"/>
          </a:xfrm>
          <a:prstGeom prst="rect">
            <a:avLst/>
          </a:prstGeom>
          <a:noFill/>
          <a:ln/>
        </p:spPr>
        <p:txBody>
          <a:bodyPr wrap="square" lIns="0" tIns="0" rIns="0" bIns="0" rtlCol="0" anchor="ctr"/>
          <a:lstStyle/>
          <a:p>
            <a:pPr indent="0" marL="0">
              <a:buNone/>
            </a:pPr>
            <a:r>
              <a:rPr lang="en-US" sz="1080" dirty="0">
                <a:solidFill>
                  <a:srgbClr val="1F2A38"/>
                </a:solidFill>
                <a:latin typeface="Calibri" pitchFamily="34" charset="0"/>
                <a:ea typeface="Calibri" pitchFamily="34" charset="-122"/>
                <a:cs typeface="Calibri" pitchFamily="34" charset="-120"/>
              </a:rPr>
              <a:t>Unity keeps what it's best at: high-fidelity authoring, 3D composition, and XR design reviews — skills already in the pod.</a:t>
            </a:r>
            <a:endParaRPr lang="en-US" sz="1080" dirty="0"/>
          </a:p>
          <a:p>
            <a:pPr indent="0" marL="0">
              <a:buNone/>
            </a:pPr>
            <a:endParaRPr lang="en-US" sz="1080" dirty="0"/>
          </a:p>
          <a:p>
            <a:pPr indent="0" marL="0">
              <a:buNone/>
            </a:pPr>
            <a:r>
              <a:rPr lang="en-US" sz="1080" dirty="0">
                <a:solidFill>
                  <a:srgbClr val="1F2A38"/>
                </a:solidFill>
                <a:latin typeface="Calibri" pitchFamily="34" charset="0"/>
                <a:ea typeface="Calibri" pitchFamily="34" charset="-122"/>
                <a:cs typeface="Calibri" pitchFamily="34" charset="-120"/>
              </a:rPr>
              <a:t>All state, rules, and business logic move behind the Twin API. Unity becomes a thin, swappable view over a versioned payload contract.</a:t>
            </a:r>
            <a:endParaRPr lang="en-US" sz="1080" dirty="0"/>
          </a:p>
          <a:p>
            <a:pPr indent="0" marL="0">
              <a:buNone/>
            </a:pPr>
            <a:endParaRPr lang="en-US" sz="1080" dirty="0"/>
          </a:p>
          <a:p>
            <a:pPr indent="0" marL="0">
              <a:buNone/>
            </a:pPr>
            <a:r>
              <a:rPr lang="en-US" sz="1080" dirty="0">
                <a:solidFill>
                  <a:srgbClr val="1F2A38"/>
                </a:solidFill>
                <a:latin typeface="Calibri" pitchFamily="34" charset="0"/>
                <a:ea typeface="Calibri" pitchFamily="34" charset="-122"/>
                <a:cs typeface="Calibri" pitchFamily="34" charset="-120"/>
              </a:rPr>
              <a:t>A lightweight web track (Angular + glTF viewer, same API) serves the ~80% of users who view, assign, and approve — not author.</a:t>
            </a:r>
            <a:endParaRPr lang="en-US" sz="1080" dirty="0"/>
          </a:p>
        </p:txBody>
      </p:sp>
      <p:sp>
        <p:nvSpPr>
          <p:cNvPr id="9" name="Shape 6"/>
          <p:cNvSpPr/>
          <p:nvPr/>
        </p:nvSpPr>
        <p:spPr>
          <a:xfrm>
            <a:off x="4645152" y="1280160"/>
            <a:ext cx="4041648" cy="3108960"/>
          </a:xfrm>
          <a:prstGeom prst="roundRect">
            <a:avLst>
              <a:gd name="adj" fmla="val 1765"/>
            </a:avLst>
          </a:prstGeom>
          <a:solidFill>
            <a:srgbClr val="FBF2DC"/>
          </a:solidFill>
          <a:ln/>
          <a:effectLst>
            <a:outerShdw sx="100000" sy="100000" kx="0" ky="0" algn="bl" rotWithShape="0" blurRad="88900" dist="25400" dir="2700000">
              <a:srgbClr val="000000">
                <a:alpha val="14000"/>
              </a:srgbClr>
            </a:outerShdw>
          </a:effectLst>
        </p:spPr>
      </p:sp>
      <p:sp>
        <p:nvSpPr>
          <p:cNvPr id="10" name="Shape 7"/>
          <p:cNvSpPr/>
          <p:nvPr/>
        </p:nvSpPr>
        <p:spPr>
          <a:xfrm>
            <a:off x="4846320" y="1444752"/>
            <a:ext cx="420624" cy="420624"/>
          </a:xfrm>
          <a:prstGeom prst="ellipse">
            <a:avLst/>
          </a:prstGeom>
          <a:solidFill>
            <a:srgbClr val="E8A816"/>
          </a:solidFill>
          <a:ln/>
        </p:spPr>
      </p:sp>
      <p:pic>
        <p:nvPicPr>
          <p:cNvPr id="11" name="Image 1" descr="preencoded.png"/>
          <p:cNvPicPr>
            <a:picLocks noChangeAspect="1"/>
          </p:cNvPicPr>
          <p:nvPr/>
        </p:nvPicPr>
        <p:blipFill>
          <a:blip r:embed="rId2"/>
          <a:stretch>
            <a:fillRect/>
          </a:stretch>
        </p:blipFill>
        <p:spPr>
          <a:xfrm>
            <a:off x="4955682" y="1554114"/>
            <a:ext cx="201900" cy="201900"/>
          </a:xfrm>
          <a:prstGeom prst="rect">
            <a:avLst/>
          </a:prstGeom>
        </p:spPr>
      </p:pic>
      <p:sp>
        <p:nvSpPr>
          <p:cNvPr id="12" name="Text 8"/>
          <p:cNvSpPr/>
          <p:nvPr/>
        </p:nvSpPr>
        <p:spPr>
          <a:xfrm>
            <a:off x="5376672" y="1481328"/>
            <a:ext cx="3108960" cy="36576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A 2-week spike → an ADR</a:t>
            </a:r>
            <a:endParaRPr lang="en-US" sz="1350" dirty="0"/>
          </a:p>
        </p:txBody>
      </p:sp>
      <p:sp>
        <p:nvSpPr>
          <p:cNvPr id="13" name="Text 9"/>
          <p:cNvSpPr/>
          <p:nvPr/>
        </p:nvSpPr>
        <p:spPr>
          <a:xfrm>
            <a:off x="4864608" y="2011680"/>
            <a:ext cx="3611880" cy="1645920"/>
          </a:xfrm>
          <a:prstGeom prst="rect">
            <a:avLst/>
          </a:prstGeom>
          <a:noFill/>
          <a:ln/>
        </p:spPr>
        <p:txBody>
          <a:bodyPr wrap="square" lIns="0" tIns="0" rIns="0" bIns="0" rtlCol="0" anchor="ctr"/>
          <a:lstStyle/>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Hospital-scale scene against an agreed poly / draw-call budget</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Cold-load time and memory ceilings</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Concurrent-edit synchronization</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WebGL / streaming viability for browser access</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License cost per seat; UE5 assessed via paper evaluation — not built in the timebox</a:t>
            </a:r>
            <a:endParaRPr lang="en-US" sz="1080" dirty="0"/>
          </a:p>
        </p:txBody>
      </p:sp>
      <p:sp>
        <p:nvSpPr>
          <p:cNvPr id="14" name="Text 10"/>
          <p:cNvSpPr/>
          <p:nvPr/>
        </p:nvSpPr>
        <p:spPr>
          <a:xfrm>
            <a:off x="4864608" y="3803904"/>
            <a:ext cx="3611880" cy="457200"/>
          </a:xfrm>
          <a:prstGeom prst="rect">
            <a:avLst/>
          </a:prstGeom>
          <a:noFill/>
          <a:ln/>
        </p:spPr>
        <p:txBody>
          <a:bodyPr wrap="square" lIns="0" tIns="0" rIns="0" bIns="0" rtlCol="0" anchor="ctr"/>
          <a:lstStyle/>
          <a:p>
            <a:pPr indent="0" marL="0">
              <a:buNone/>
            </a:pPr>
            <a:r>
              <a:rPr lang="en-US" sz="1080" b="1" i="1" dirty="0">
                <a:solidFill>
                  <a:srgbClr val="C78F0D"/>
                </a:solidFill>
                <a:latin typeface="Calibri" pitchFamily="34" charset="0"/>
                <a:ea typeface="Calibri" pitchFamily="34" charset="-122"/>
                <a:cs typeface="Calibri" pitchFamily="34" charset="-120"/>
              </a:rPr>
              <a:t>Hypotheses become evidence. The decision is recorded — with a revisit date.</a:t>
            </a:r>
            <a:endParaRPr lang="en-US" sz="1080" dirty="0"/>
          </a:p>
        </p:txBody>
      </p:sp>
      <p:sp>
        <p:nvSpPr>
          <p:cNvPr id="15" name="Text 11"/>
          <p:cNvSpPr/>
          <p:nvPr/>
        </p:nvSpPr>
        <p:spPr>
          <a:xfrm>
            <a:off x="457200" y="4553712"/>
            <a:ext cx="8229600" cy="274320"/>
          </a:xfrm>
          <a:prstGeom prst="rect">
            <a:avLst/>
          </a:prstGeom>
          <a:noFill/>
          <a:ln/>
        </p:spPr>
        <p:txBody>
          <a:bodyPr wrap="square" lIns="0" tIns="0" rIns="0" bIns="0" rtlCol="0" anchor="ctr"/>
          <a:lstStyle/>
          <a:p>
            <a:pPr indent="0" marL="0">
              <a:buNone/>
            </a:pPr>
            <a:r>
              <a:rPr lang="en-US" sz="1150" i="1" dirty="0">
                <a:solidFill>
                  <a:srgbClr val="5B6B7E"/>
                </a:solidFill>
                <a:latin typeface="Calibri" pitchFamily="34" charset="0"/>
                <a:ea typeface="Calibri" pitchFamily="34" charset="-122"/>
                <a:cs typeface="Calibri" pitchFamily="34" charset="-120"/>
              </a:rPr>
              <a:t>The Unity question stops being a bet and becomes a gate we both sign.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2 · EXECUTION DISCIPLINES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Your proposal, instantiated with hard gates</a:t>
            </a:r>
            <a:endParaRPr lang="en-US" sz="2800" dirty="0"/>
          </a:p>
        </p:txBody>
      </p:sp>
      <p:sp>
        <p:nvSpPr>
          <p:cNvPr id="4" name="Shape 2"/>
          <p:cNvSpPr/>
          <p:nvPr/>
        </p:nvSpPr>
        <p:spPr>
          <a:xfrm>
            <a:off x="457200"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21792" y="1444752"/>
            <a:ext cx="384048" cy="384048"/>
          </a:xfrm>
          <a:prstGeom prst="ellipse">
            <a:avLst/>
          </a:prstGeom>
          <a:solidFill>
            <a:srgbClr val="16263F"/>
          </a:solidFill>
          <a:ln/>
        </p:spPr>
      </p:sp>
      <p:pic>
        <p:nvPicPr>
          <p:cNvPr id="6" name="Image 0" descr="preencoded.png"/>
          <p:cNvPicPr>
            <a:picLocks noChangeAspect="1"/>
          </p:cNvPicPr>
          <p:nvPr/>
        </p:nvPicPr>
        <p:blipFill>
          <a:blip r:embed="rId1"/>
          <a:stretch>
            <a:fillRect/>
          </a:stretch>
        </p:blipFill>
        <p:spPr>
          <a:xfrm>
            <a:off x="721644" y="1544604"/>
            <a:ext cx="184343" cy="184343"/>
          </a:xfrm>
          <a:prstGeom prst="rect">
            <a:avLst/>
          </a:prstGeom>
        </p:spPr>
      </p:pic>
      <p:sp>
        <p:nvSpPr>
          <p:cNvPr id="7" name="Text 4"/>
          <p:cNvSpPr/>
          <p:nvPr/>
        </p:nvSpPr>
        <p:spPr>
          <a:xfrm>
            <a:off x="1097280"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Ownership &amp; decisions</a:t>
            </a:r>
            <a:endParaRPr lang="en-US" sz="1150" dirty="0"/>
          </a:p>
        </p:txBody>
      </p:sp>
      <p:sp>
        <p:nvSpPr>
          <p:cNvPr id="8" name="Text 5"/>
          <p:cNvSpPr/>
          <p:nvPr/>
        </p:nvSpPr>
        <p:spPr>
          <a:xfrm>
            <a:off x="640080"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One single-threaded technical owner; every architecture change lands as an ADR you sign. Decisions leave a record, not a meeting.</a:t>
            </a:r>
            <a:endParaRPr lang="en-US" sz="930" dirty="0"/>
          </a:p>
        </p:txBody>
      </p:sp>
      <p:sp>
        <p:nvSpPr>
          <p:cNvPr id="9" name="Shape 6"/>
          <p:cNvSpPr/>
          <p:nvPr/>
        </p:nvSpPr>
        <p:spPr>
          <a:xfrm>
            <a:off x="3264408"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10" name="Shape 7"/>
          <p:cNvSpPr/>
          <p:nvPr/>
        </p:nvSpPr>
        <p:spPr>
          <a:xfrm>
            <a:off x="3429000" y="1444752"/>
            <a:ext cx="384048" cy="384048"/>
          </a:xfrm>
          <a:prstGeom prst="ellipse">
            <a:avLst/>
          </a:prstGeom>
          <a:solidFill>
            <a:srgbClr val="16263F"/>
          </a:solidFill>
          <a:ln/>
        </p:spPr>
      </p:sp>
      <p:pic>
        <p:nvPicPr>
          <p:cNvPr id="11" name="Image 1" descr="preencoded.png"/>
          <p:cNvPicPr>
            <a:picLocks noChangeAspect="1"/>
          </p:cNvPicPr>
          <p:nvPr/>
        </p:nvPicPr>
        <p:blipFill>
          <a:blip r:embed="rId2"/>
          <a:stretch>
            <a:fillRect/>
          </a:stretch>
        </p:blipFill>
        <p:spPr>
          <a:xfrm>
            <a:off x="3528852" y="1544604"/>
            <a:ext cx="184343" cy="184343"/>
          </a:xfrm>
          <a:prstGeom prst="rect">
            <a:avLst/>
          </a:prstGeom>
        </p:spPr>
      </p:pic>
      <p:sp>
        <p:nvSpPr>
          <p:cNvPr id="12" name="Text 8"/>
          <p:cNvSpPr/>
          <p:nvPr/>
        </p:nvSpPr>
        <p:spPr>
          <a:xfrm>
            <a:off x="3904488"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One backlog, one cadence</a:t>
            </a:r>
            <a:endParaRPr lang="en-US" sz="1150" dirty="0"/>
          </a:p>
        </p:txBody>
      </p:sp>
      <p:sp>
        <p:nvSpPr>
          <p:cNvPr id="13" name="Text 9"/>
          <p:cNvSpPr/>
          <p:nvPr/>
        </p:nvSpPr>
        <p:spPr>
          <a:xfrm>
            <a:off x="3447288"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Azure Boards becomes the only backlog; 2-week sprints inside 6-week release trains; the spreadsheet tracker retires in week one.</a:t>
            </a:r>
            <a:endParaRPr lang="en-US" sz="930" dirty="0"/>
          </a:p>
        </p:txBody>
      </p:sp>
      <p:sp>
        <p:nvSpPr>
          <p:cNvPr id="14" name="Shape 10"/>
          <p:cNvSpPr/>
          <p:nvPr/>
        </p:nvSpPr>
        <p:spPr>
          <a:xfrm>
            <a:off x="6071616"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15" name="Shape 11"/>
          <p:cNvSpPr/>
          <p:nvPr/>
        </p:nvSpPr>
        <p:spPr>
          <a:xfrm>
            <a:off x="6236208" y="1444752"/>
            <a:ext cx="384048" cy="384048"/>
          </a:xfrm>
          <a:prstGeom prst="ellipse">
            <a:avLst/>
          </a:prstGeom>
          <a:solidFill>
            <a:srgbClr val="16263F"/>
          </a:solidFill>
          <a:ln/>
        </p:spPr>
      </p:sp>
      <p:pic>
        <p:nvPicPr>
          <p:cNvPr id="16" name="Image 2" descr="preencoded.png"/>
          <p:cNvPicPr>
            <a:picLocks noChangeAspect="1"/>
          </p:cNvPicPr>
          <p:nvPr/>
        </p:nvPicPr>
        <p:blipFill>
          <a:blip r:embed="rId3"/>
          <a:stretch>
            <a:fillRect/>
          </a:stretch>
        </p:blipFill>
        <p:spPr>
          <a:xfrm>
            <a:off x="6336060" y="1544604"/>
            <a:ext cx="184343" cy="184343"/>
          </a:xfrm>
          <a:prstGeom prst="rect">
            <a:avLst/>
          </a:prstGeom>
        </p:spPr>
      </p:pic>
      <p:sp>
        <p:nvSpPr>
          <p:cNvPr id="17" name="Text 12"/>
          <p:cNvSpPr/>
          <p:nvPr/>
        </p:nvSpPr>
        <p:spPr>
          <a:xfrm>
            <a:off x="6711696"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Spec → BDD → ATDD</a:t>
            </a:r>
            <a:endParaRPr lang="en-US" sz="1150" dirty="0"/>
          </a:p>
        </p:txBody>
      </p:sp>
      <p:sp>
        <p:nvSpPr>
          <p:cNvPr id="18" name="Text 13"/>
          <p:cNvSpPr/>
          <p:nvPr/>
        </p:nvSpPr>
        <p:spPr>
          <a:xfrm>
            <a:off x="6254496"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Executable acceptance criteria before development; story ↔ test ↔ release traceability — extending the automation framework you already own.</a:t>
            </a:r>
            <a:endParaRPr lang="en-US" sz="930" dirty="0"/>
          </a:p>
        </p:txBody>
      </p:sp>
      <p:sp>
        <p:nvSpPr>
          <p:cNvPr id="19" name="Shape 14"/>
          <p:cNvSpPr/>
          <p:nvPr/>
        </p:nvSpPr>
        <p:spPr>
          <a:xfrm>
            <a:off x="457200"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20" name="Shape 15"/>
          <p:cNvSpPr/>
          <p:nvPr/>
        </p:nvSpPr>
        <p:spPr>
          <a:xfrm>
            <a:off x="621792" y="3145536"/>
            <a:ext cx="384048" cy="384048"/>
          </a:xfrm>
          <a:prstGeom prst="ellipse">
            <a:avLst/>
          </a:prstGeom>
          <a:solidFill>
            <a:srgbClr val="16263F"/>
          </a:solidFill>
          <a:ln/>
        </p:spPr>
      </p:sp>
      <p:pic>
        <p:nvPicPr>
          <p:cNvPr id="21" name="Image 3" descr="preencoded.png"/>
          <p:cNvPicPr>
            <a:picLocks noChangeAspect="1"/>
          </p:cNvPicPr>
          <p:nvPr/>
        </p:nvPicPr>
        <p:blipFill>
          <a:blip r:embed="rId4"/>
          <a:stretch>
            <a:fillRect/>
          </a:stretch>
        </p:blipFill>
        <p:spPr>
          <a:xfrm>
            <a:off x="721644" y="3245388"/>
            <a:ext cx="184343" cy="184343"/>
          </a:xfrm>
          <a:prstGeom prst="rect">
            <a:avLst/>
          </a:prstGeom>
        </p:spPr>
      </p:pic>
      <p:sp>
        <p:nvSpPr>
          <p:cNvPr id="22" name="Text 16"/>
          <p:cNvSpPr/>
          <p:nvPr/>
        </p:nvSpPr>
        <p:spPr>
          <a:xfrm>
            <a:off x="1097280"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AI-SDLC with guardrails</a:t>
            </a:r>
            <a:endParaRPr lang="en-US" sz="1150" dirty="0"/>
          </a:p>
        </p:txBody>
      </p:sp>
      <p:sp>
        <p:nvSpPr>
          <p:cNvPr id="23" name="Text 17"/>
          <p:cNvSpPr/>
          <p:nvPr/>
        </p:nvSpPr>
        <p:spPr>
          <a:xfrm>
            <a:off x="640080"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Planning, review, and test agents work as drafts; merge authority stays human-only; proprietary data flows only through approved private endpoints.</a:t>
            </a:r>
            <a:endParaRPr lang="en-US" sz="930" dirty="0"/>
          </a:p>
        </p:txBody>
      </p:sp>
      <p:sp>
        <p:nvSpPr>
          <p:cNvPr id="24" name="Shape 18"/>
          <p:cNvSpPr/>
          <p:nvPr/>
        </p:nvSpPr>
        <p:spPr>
          <a:xfrm>
            <a:off x="3264408"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25" name="Shape 19"/>
          <p:cNvSpPr/>
          <p:nvPr/>
        </p:nvSpPr>
        <p:spPr>
          <a:xfrm>
            <a:off x="3429000" y="3145536"/>
            <a:ext cx="384048" cy="384048"/>
          </a:xfrm>
          <a:prstGeom prst="ellipse">
            <a:avLst/>
          </a:prstGeom>
          <a:solidFill>
            <a:srgbClr val="16263F"/>
          </a:solidFill>
          <a:ln/>
        </p:spPr>
      </p:sp>
      <p:pic>
        <p:nvPicPr>
          <p:cNvPr id="26" name="Image 4" descr="preencoded.png"/>
          <p:cNvPicPr>
            <a:picLocks noChangeAspect="1"/>
          </p:cNvPicPr>
          <p:nvPr/>
        </p:nvPicPr>
        <p:blipFill>
          <a:blip r:embed="rId5"/>
          <a:stretch>
            <a:fillRect/>
          </a:stretch>
        </p:blipFill>
        <p:spPr>
          <a:xfrm>
            <a:off x="3528852" y="3245388"/>
            <a:ext cx="184343" cy="184343"/>
          </a:xfrm>
          <a:prstGeom prst="rect">
            <a:avLst/>
          </a:prstGeom>
        </p:spPr>
      </p:pic>
      <p:sp>
        <p:nvSpPr>
          <p:cNvPr id="27" name="Text 20"/>
          <p:cNvSpPr/>
          <p:nvPr/>
        </p:nvSpPr>
        <p:spPr>
          <a:xfrm>
            <a:off x="3904488"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CI/CD &amp; feature flags</a:t>
            </a:r>
            <a:endParaRPr lang="en-US" sz="1150" dirty="0"/>
          </a:p>
        </p:txBody>
      </p:sp>
      <p:sp>
        <p:nvSpPr>
          <p:cNvPr id="28" name="Text 21"/>
          <p:cNvSpPr/>
          <p:nvPr/>
        </p:nvSpPr>
        <p:spPr>
          <a:xfrm>
            <a:off x="3447288"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Trunk-based delivery, Unity build automation with in-pipeline smoke tests, ephemeral review environments. Deploy ≠ release.</a:t>
            </a:r>
            <a:endParaRPr lang="en-US" sz="930" dirty="0"/>
          </a:p>
        </p:txBody>
      </p:sp>
      <p:sp>
        <p:nvSpPr>
          <p:cNvPr id="29" name="Shape 22"/>
          <p:cNvSpPr/>
          <p:nvPr/>
        </p:nvSpPr>
        <p:spPr>
          <a:xfrm>
            <a:off x="6071616"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30" name="Shape 23"/>
          <p:cNvSpPr/>
          <p:nvPr/>
        </p:nvSpPr>
        <p:spPr>
          <a:xfrm>
            <a:off x="6236208" y="3145536"/>
            <a:ext cx="384048" cy="384048"/>
          </a:xfrm>
          <a:prstGeom prst="ellipse">
            <a:avLst/>
          </a:prstGeom>
          <a:solidFill>
            <a:srgbClr val="16263F"/>
          </a:solidFill>
          <a:ln/>
        </p:spPr>
      </p:sp>
      <p:pic>
        <p:nvPicPr>
          <p:cNvPr id="31" name="Image 5" descr="preencoded.png"/>
          <p:cNvPicPr>
            <a:picLocks noChangeAspect="1"/>
          </p:cNvPicPr>
          <p:nvPr/>
        </p:nvPicPr>
        <p:blipFill>
          <a:blip r:embed="rId6"/>
          <a:stretch>
            <a:fillRect/>
          </a:stretch>
        </p:blipFill>
        <p:spPr>
          <a:xfrm>
            <a:off x="6336060" y="3245388"/>
            <a:ext cx="184343" cy="184343"/>
          </a:xfrm>
          <a:prstGeom prst="rect">
            <a:avLst/>
          </a:prstGeom>
        </p:spPr>
      </p:pic>
      <p:sp>
        <p:nvSpPr>
          <p:cNvPr id="32" name="Text 24"/>
          <p:cNvSpPr/>
          <p:nvPr/>
        </p:nvSpPr>
        <p:spPr>
          <a:xfrm>
            <a:off x="6711696"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Phased pod transition</a:t>
            </a:r>
            <a:endParaRPr lang="en-US" sz="1150" dirty="0"/>
          </a:p>
        </p:txBody>
      </p:sp>
      <p:sp>
        <p:nvSpPr>
          <p:cNvPr id="33" name="Text 25"/>
          <p:cNvSpPr/>
          <p:nvPr/>
        </p:nvSpPr>
        <p:spPr>
          <a:xfrm>
            <a:off x="6254496"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Option 2: pilot with the Context &amp; Twin Services pod — eight weeks, exit criteria per phase, the 5-risk register reviewed weekly.</a:t>
            </a:r>
            <a:endParaRPr lang="en-US" sz="9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ACCOUNTABILITY</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Hold me to a public scorecard</a:t>
            </a:r>
            <a:endParaRPr lang="en-US" sz="2800" dirty="0"/>
          </a:p>
        </p:txBody>
      </p:sp>
      <p:sp>
        <p:nvSpPr>
          <p:cNvPr id="4" name="Text 2"/>
          <p:cNvSpPr/>
          <p:nvPr/>
        </p:nvSpPr>
        <p:spPr>
          <a:xfrm>
            <a:off x="457200" y="1225296"/>
            <a:ext cx="3840480" cy="27432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Against the proposal's own promises</a:t>
            </a:r>
            <a:endParaRPr lang="en-US" sz="1300" dirty="0"/>
          </a:p>
        </p:txBody>
      </p:sp>
      <p:sp>
        <p:nvSpPr>
          <p:cNvPr id="5" name="Shape 3"/>
          <p:cNvSpPr/>
          <p:nvPr/>
        </p:nvSpPr>
        <p:spPr>
          <a:xfrm>
            <a:off x="457200" y="1591056"/>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6" name="Text 4"/>
          <p:cNvSpPr/>
          <p:nvPr/>
        </p:nvSpPr>
        <p:spPr>
          <a:xfrm>
            <a:off x="658368" y="1664208"/>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2-wk</a:t>
            </a:r>
            <a:endParaRPr lang="en-US" sz="2600" dirty="0"/>
          </a:p>
        </p:txBody>
      </p:sp>
      <p:sp>
        <p:nvSpPr>
          <p:cNvPr id="7" name="Text 5"/>
          <p:cNvSpPr/>
          <p:nvPr/>
        </p:nvSpPr>
        <p:spPr>
          <a:xfrm>
            <a:off x="2286000" y="1664208"/>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release cycles</a:t>
            </a:r>
            <a:endParaRPr lang="en-US" sz="1250" dirty="0"/>
          </a:p>
        </p:txBody>
      </p:sp>
      <p:sp>
        <p:nvSpPr>
          <p:cNvPr id="8" name="Shape 6"/>
          <p:cNvSpPr/>
          <p:nvPr/>
        </p:nvSpPr>
        <p:spPr>
          <a:xfrm>
            <a:off x="457200" y="2560320"/>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9" name="Text 7"/>
          <p:cNvSpPr/>
          <p:nvPr/>
        </p:nvSpPr>
        <p:spPr>
          <a:xfrm>
            <a:off x="658368" y="2633472"/>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+40–60%</a:t>
            </a:r>
            <a:endParaRPr lang="en-US" sz="2600" dirty="0"/>
          </a:p>
        </p:txBody>
      </p:sp>
      <p:sp>
        <p:nvSpPr>
          <p:cNvPr id="10" name="Text 8"/>
          <p:cNvSpPr/>
          <p:nvPr/>
        </p:nvSpPr>
        <p:spPr>
          <a:xfrm>
            <a:off x="2286000" y="2633472"/>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feature throughput</a:t>
            </a:r>
            <a:endParaRPr lang="en-US" sz="1250" dirty="0"/>
          </a:p>
        </p:txBody>
      </p:sp>
      <p:sp>
        <p:nvSpPr>
          <p:cNvPr id="11" name="Shape 9"/>
          <p:cNvSpPr/>
          <p:nvPr/>
        </p:nvSpPr>
        <p:spPr>
          <a:xfrm>
            <a:off x="457200" y="3529584"/>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12" name="Text 10"/>
          <p:cNvSpPr/>
          <p:nvPr/>
        </p:nvSpPr>
        <p:spPr>
          <a:xfrm>
            <a:off x="658368" y="3602736"/>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2–3×</a:t>
            </a:r>
            <a:endParaRPr lang="en-US" sz="2600" dirty="0"/>
          </a:p>
        </p:txBody>
      </p:sp>
      <p:sp>
        <p:nvSpPr>
          <p:cNvPr id="13" name="Text 11"/>
          <p:cNvSpPr/>
          <p:nvPr/>
        </p:nvSpPr>
        <p:spPr>
          <a:xfrm>
            <a:off x="2286000" y="3602736"/>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time to market</a:t>
            </a:r>
            <a:endParaRPr lang="en-US" sz="1250" dirty="0"/>
          </a:p>
        </p:txBody>
      </p:sp>
      <p:sp>
        <p:nvSpPr>
          <p:cNvPr id="14" name="Text 12"/>
          <p:cNvSpPr/>
          <p:nvPr/>
        </p:nvSpPr>
        <p:spPr>
          <a:xfrm>
            <a:off x="457200" y="4535424"/>
            <a:ext cx="393192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Claims become accountable targets — reviewed every train.</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17720" y="1591056"/>
          <a:ext cx="4069080" cy="914400"/>
        </p:xfrm>
        <a:graphic>
          <a:graphicData uri="http://schemas.openxmlformats.org/drawingml/2006/table">
            <a:tbl>
              <a:tblPr/>
              <a:tblGrid>
                <a:gridCol w="1143000"/>
                <a:gridCol w="292608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Scorecard line</a:t>
                      </a:r>
                      <a:endParaRPr lang="en-US" sz="105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tracks</a:t>
                      </a:r>
                      <a:endParaRPr lang="en-US" sz="105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North Star</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Time-to-Compliant-Design — trend per release train</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Delivery</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DORA four · train commitment hit-rate · defect escape rate</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Product</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Moducule reuse % · validation pass rate · AI acceptance % · eval accuracy</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Transition</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Phase exits on time · KT coverage · velocity continuity through cutover</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bl>
          </a:graphicData>
        </a:graphic>
      </p:graphicFrame>
      <p:sp>
        <p:nvSpPr>
          <p:cNvPr id="16" name="Text 13"/>
          <p:cNvSpPr/>
          <p:nvPr/>
        </p:nvSpPr>
        <p:spPr>
          <a:xfrm>
            <a:off x="4617720" y="4535424"/>
            <a:ext cx="406908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Published every governance cycle. No scorecard, no meeting.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THE DECISION · CLIENT STRATEGY</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Three roads, one spine</a:t>
            </a:r>
            <a:endParaRPr lang="en-US" sz="2800" dirty="0"/>
          </a:p>
        </p:txBody>
      </p:sp>
      <p:sp>
        <p:nvSpPr>
          <p:cNvPr id="4" name="Text 2"/>
          <p:cNvSpPr/>
          <p:nvPr/>
        </p:nvSpPr>
        <p:spPr>
          <a:xfrm>
            <a:off x="457200" y="1152144"/>
            <a:ext cx="8229600" cy="274320"/>
          </a:xfrm>
          <a:prstGeom prst="rect">
            <a:avLst/>
          </a:prstGeom>
          <a:noFill/>
          <a:ln/>
        </p:spPr>
        <p:txBody>
          <a:bodyPr wrap="square" lIns="0" tIns="0" rIns="0" bIns="0" rtlCol="0" anchor="ctr"/>
          <a:lstStyle/>
          <a:p>
            <a:pPr indent="0" marL="0">
              <a:buNone/>
            </a:pPr>
            <a:r>
              <a:rPr lang="en-US" sz="1150" dirty="0">
                <a:solidFill>
                  <a:srgbClr val="5B6B7E"/>
                </a:solidFill>
                <a:latin typeface="Calibri" pitchFamily="34" charset="0"/>
                <a:ea typeface="Calibri" pitchFamily="34" charset="-122"/>
                <a:cs typeface="Calibri" pitchFamily="34" charset="-120"/>
              </a:rPr>
              <a:t>The spine — registry, composition graph, validation, event log — is non-negotiable in every option. </a:t>
            </a:r>
            <a:pPr indent="0" marL="0">
              <a:buNone/>
            </a:pPr>
            <a:r>
              <a:rPr lang="en-US" sz="1150" b="1" dirty="0">
                <a:solidFill>
                  <a:srgbClr val="16263F"/>
                </a:solidFill>
                <a:latin typeface="Calibri" pitchFamily="34" charset="0"/>
                <a:ea typeface="Calibri" pitchFamily="34" charset="-122"/>
                <a:cs typeface="Calibri" pitchFamily="34" charset="-120"/>
              </a:rPr>
              <a:t>The roads differ only on when we pay the client-truth bill.</a:t>
            </a:r>
            <a:endParaRPr lang="en-US" sz="1150" dirty="0"/>
          </a:p>
        </p:txBody>
      </p:sp>
      <p:sp>
        <p:nvSpPr>
          <p:cNvPr id="5" name="Shape 3"/>
          <p:cNvSpPr/>
          <p:nvPr/>
        </p:nvSpPr>
        <p:spPr>
          <a:xfrm>
            <a:off x="457200" y="1517904"/>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6" name="Text 4"/>
          <p:cNvSpPr/>
          <p:nvPr/>
        </p:nvSpPr>
        <p:spPr>
          <a:xfrm>
            <a:off x="621792"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A · STABILIZE ON UNITY</a:t>
            </a:r>
            <a:endParaRPr lang="en-US" sz="1200" dirty="0"/>
          </a:p>
        </p:txBody>
      </p:sp>
      <p:sp>
        <p:nvSpPr>
          <p:cNvPr id="7" name="Text 5"/>
          <p:cNvSpPr/>
          <p:nvPr/>
        </p:nvSpPr>
        <p:spPr>
          <a:xfrm>
            <a:off x="621792" y="1938528"/>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~10–12 wks · Pilot ~5 mo + IT onboarding per client</a:t>
            </a:r>
            <a:endParaRPr lang="en-US" sz="880" dirty="0"/>
          </a:p>
        </p:txBody>
      </p:sp>
      <p:sp>
        <p:nvSpPr>
          <p:cNvPr id="8" name="Text 6"/>
          <p:cNvSpPr/>
          <p:nvPr/>
        </p:nvSpPr>
        <p:spPr>
          <a:xfrm>
            <a:off x="621792" y="237744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Fastest visible progress; zero retraining; smallest scope</a:t>
            </a:r>
            <a:endParaRPr lang="en-US" sz="870" dirty="0"/>
          </a:p>
        </p:txBody>
      </p:sp>
      <p:sp>
        <p:nvSpPr>
          <p:cNvPr id="9" name="Text 7"/>
          <p:cNvSpPr/>
          <p:nvPr/>
        </p:nvSpPr>
        <p:spPr>
          <a:xfrm>
            <a:off x="621792" y="274320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Preserves the existing Unity investment and demos</a:t>
            </a:r>
            <a:endParaRPr lang="en-US" sz="870" dirty="0"/>
          </a:p>
        </p:txBody>
      </p:sp>
      <p:sp>
        <p:nvSpPr>
          <p:cNvPr id="10" name="Text 8"/>
          <p:cNvSpPr/>
          <p:nvPr/>
        </p:nvSpPr>
        <p:spPr>
          <a:xfrm>
            <a:off x="621792" y="3108960"/>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Ships every commercial blocker into sales; re-platform after customer #1 at 5–10×</a:t>
            </a:r>
            <a:endParaRPr lang="en-US" sz="870" dirty="0"/>
          </a:p>
        </p:txBody>
      </p:sp>
      <p:sp>
        <p:nvSpPr>
          <p:cNvPr id="11" name="Shape 9"/>
          <p:cNvSpPr/>
          <p:nvPr/>
        </p:nvSpPr>
        <p:spPr>
          <a:xfrm>
            <a:off x="3264408" y="1517904"/>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2" name="Text 10"/>
          <p:cNvSpPr/>
          <p:nvPr/>
        </p:nvSpPr>
        <p:spPr>
          <a:xfrm>
            <a:off x="3429000"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B · WEB-FIRST REBUILD</a:t>
            </a:r>
            <a:endParaRPr lang="en-US" sz="1200" dirty="0"/>
          </a:p>
        </p:txBody>
      </p:sp>
      <p:sp>
        <p:nvSpPr>
          <p:cNvPr id="13" name="Text 11"/>
          <p:cNvSpPr/>
          <p:nvPr/>
        </p:nvSpPr>
        <p:spPr>
          <a:xfrm>
            <a:off x="3429000" y="1938528"/>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~12–14 wks · Pilot ~5–6 mo, zero-install</a:t>
            </a:r>
            <a:endParaRPr lang="en-US" sz="880" dirty="0"/>
          </a:p>
        </p:txBody>
      </p:sp>
      <p:sp>
        <p:nvSpPr>
          <p:cNvPr id="14" name="Text 12"/>
          <p:cNvSpPr/>
          <p:nvPr/>
        </p:nvSpPr>
        <p:spPr>
          <a:xfrm>
            <a:off x="3429000" y="237744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Kills the #1 blocker natively — earliest revenue-able moment</a:t>
            </a:r>
            <a:endParaRPr lang="en-US" sz="870" dirty="0"/>
          </a:p>
        </p:txBody>
      </p:sp>
      <p:sp>
        <p:nvSpPr>
          <p:cNvPr id="15" name="Text 13"/>
          <p:cNvSpPr/>
          <p:nvPr/>
        </p:nvSpPr>
        <p:spPr>
          <a:xfrm>
            <a:off x="3429000" y="2852928"/>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AI agents cover 100% of the codebase; standards-proof; ~zero cost per seat</a:t>
            </a:r>
            <a:endParaRPr lang="en-US" sz="870" dirty="0"/>
          </a:p>
        </p:txBody>
      </p:sp>
      <p:sp>
        <p:nvSpPr>
          <p:cNvPr id="16" name="Text 14"/>
          <p:cNvSpPr/>
          <p:nvPr/>
        </p:nvSpPr>
        <p:spPr>
          <a:xfrm>
            <a:off x="3429000" y="3328416"/>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Commits without bake-off evidence; second-system risk</a:t>
            </a:r>
            <a:endParaRPr lang="en-US" sz="870" dirty="0"/>
          </a:p>
        </p:txBody>
      </p:sp>
      <p:sp>
        <p:nvSpPr>
          <p:cNvPr id="17" name="Shape 15"/>
          <p:cNvSpPr/>
          <p:nvPr/>
        </p:nvSpPr>
        <p:spPr>
          <a:xfrm>
            <a:off x="6071616" y="1517904"/>
            <a:ext cx="2624328" cy="2395728"/>
          </a:xfrm>
          <a:prstGeom prst="roundRect">
            <a:avLst>
              <a:gd name="adj" fmla="val 2290"/>
            </a:avLst>
          </a:prstGeom>
          <a:solidFill>
            <a:srgbClr val="FBF2DC"/>
          </a:solidFill>
          <a:ln w="19050">
            <a:solidFill>
              <a:srgbClr val="E8A816"/>
            </a:solidFill>
            <a:prstDash val="solid"/>
          </a:ln>
          <a:effectLst>
            <a:outerShdw sx="100000" sy="100000" kx="0" ky="0" algn="bl" rotWithShape="0" blurRad="88900" dist="25400" dir="2700000">
              <a:srgbClr val="000000">
                <a:alpha val="14000"/>
              </a:srgbClr>
            </a:outerShdw>
          </a:effectLst>
        </p:spPr>
      </p:sp>
      <p:sp>
        <p:nvSpPr>
          <p:cNvPr id="18" name="Text 16"/>
          <p:cNvSpPr/>
          <p:nvPr/>
        </p:nvSpPr>
        <p:spPr>
          <a:xfrm>
            <a:off x="6236208"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C · GATED DUAL-TRACK</a:t>
            </a:r>
            <a:endParaRPr lang="en-US" sz="1200" dirty="0"/>
          </a:p>
        </p:txBody>
      </p:sp>
      <p:sp>
        <p:nvSpPr>
          <p:cNvPr id="19" name="Shape 17"/>
          <p:cNvSpPr/>
          <p:nvPr/>
        </p:nvSpPr>
        <p:spPr>
          <a:xfrm>
            <a:off x="6236208" y="1920240"/>
            <a:ext cx="1207008" cy="219456"/>
          </a:xfrm>
          <a:prstGeom prst="roundRect">
            <a:avLst>
              <a:gd name="adj" fmla="val 20833"/>
            </a:avLst>
          </a:prstGeom>
          <a:solidFill>
            <a:srgbClr val="E8A816"/>
          </a:solidFill>
          <a:ln/>
        </p:spPr>
      </p:sp>
      <p:sp>
        <p:nvSpPr>
          <p:cNvPr id="20" name="Text 18"/>
          <p:cNvSpPr/>
          <p:nvPr/>
        </p:nvSpPr>
        <p:spPr>
          <a:xfrm>
            <a:off x="6236208" y="1920240"/>
            <a:ext cx="1207008" cy="219456"/>
          </a:xfrm>
          <a:prstGeom prst="rect">
            <a:avLst/>
          </a:prstGeom>
          <a:noFill/>
          <a:ln/>
        </p:spPr>
        <p:txBody>
          <a:bodyPr wrap="square" lIns="0" tIns="0" rIns="0" bIns="0" rtlCol="0" anchor="ctr"/>
          <a:lstStyle/>
          <a:p>
            <a:pPr algn="ctr" indent="0" marL="0">
              <a:buNone/>
            </a:pPr>
            <a:r>
              <a:rPr lang="en-US" sz="800" b="1" spc="100" kern="0" dirty="0">
                <a:solidFill>
                  <a:srgbClr val="16263F"/>
                </a:solidFill>
                <a:latin typeface="Calibri" pitchFamily="34" charset="0"/>
                <a:ea typeface="Calibri" pitchFamily="34" charset="-122"/>
                <a:cs typeface="Calibri" pitchFamily="34" charset="-120"/>
              </a:rPr>
              <a:t>RECOMMENDED</a:t>
            </a:r>
            <a:endParaRPr lang="en-US" sz="800" dirty="0"/>
          </a:p>
        </p:txBody>
      </p:sp>
      <p:sp>
        <p:nvSpPr>
          <p:cNvPr id="21" name="Text 19"/>
          <p:cNvSpPr/>
          <p:nvPr/>
        </p:nvSpPr>
        <p:spPr>
          <a:xfrm>
            <a:off x="6236208" y="2194560"/>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~14–16 wks · Pilot ~6 mo, zero-install</a:t>
            </a:r>
            <a:endParaRPr lang="en-US" sz="880" dirty="0"/>
          </a:p>
        </p:txBody>
      </p:sp>
      <p:sp>
        <p:nvSpPr>
          <p:cNvPr id="22" name="Text 20"/>
          <p:cNvSpPr/>
          <p:nvPr/>
        </p:nvSpPr>
        <p:spPr>
          <a:xfrm>
            <a:off x="6236208" y="2596896"/>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Recommendation declared up front: web-first — the spike exists to falsify it, not to feign neutrality</a:t>
            </a:r>
            <a:endParaRPr lang="en-US" sz="870" dirty="0"/>
          </a:p>
        </p:txBody>
      </p:sp>
      <p:sp>
        <p:nvSpPr>
          <p:cNvPr id="23" name="Text 21"/>
          <p:cNvSpPr/>
          <p:nvPr/>
        </p:nvSpPr>
        <p:spPr>
          <a:xfrm>
            <a:off x="6236208" y="3072384"/>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Wks 1–2 on your content &amp; hardware: Unity WebGL vs Babylon/WebGPU; UE5 by paper evaluation</a:t>
            </a:r>
            <a:endParaRPr lang="en-US" sz="870" dirty="0"/>
          </a:p>
        </p:txBody>
      </p:sp>
      <p:sp>
        <p:nvSpPr>
          <p:cNvPr id="24" name="Text 22"/>
          <p:cNvSpPr/>
          <p:nvPr/>
        </p:nvSpPr>
        <p:spPr>
          <a:xfrm>
            <a:off x="6236208" y="3547872"/>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Two-week calendar tax; requires the discipline to never relitigate</a:t>
            </a:r>
            <a:endParaRPr lang="en-US" sz="870" dirty="0"/>
          </a:p>
        </p:txBody>
      </p:sp>
      <p:sp>
        <p:nvSpPr>
          <p:cNvPr id="25" name="Shape 23"/>
          <p:cNvSpPr/>
          <p:nvPr/>
        </p:nvSpPr>
        <p:spPr>
          <a:xfrm>
            <a:off x="457200" y="4114800"/>
            <a:ext cx="8229600" cy="713232"/>
          </a:xfrm>
          <a:prstGeom prst="roundRect">
            <a:avLst>
              <a:gd name="adj" fmla="val 8974"/>
            </a:avLst>
          </a:prstGeom>
          <a:solidFill>
            <a:srgbClr val="16263F"/>
          </a:solidFill>
          <a:ln/>
          <a:effectLst>
            <a:outerShdw sx="100000" sy="100000" kx="0" ky="0" algn="bl" rotWithShape="0" blurRad="88900" dist="25400" dir="2700000">
              <a:srgbClr val="000000">
                <a:alpha val="14000"/>
              </a:srgbClr>
            </a:outerShdw>
          </a:effectLst>
        </p:spPr>
      </p:sp>
      <p:pic>
        <p:nvPicPr>
          <p:cNvPr id="26" name="Image 0" descr="preencoded.png"/>
          <p:cNvPicPr>
            <a:picLocks noChangeAspect="1"/>
          </p:cNvPicPr>
          <p:nvPr/>
        </p:nvPicPr>
        <p:blipFill>
          <a:blip r:embed="rId1"/>
          <a:stretch>
            <a:fillRect/>
          </a:stretch>
        </p:blipFill>
        <p:spPr>
          <a:xfrm>
            <a:off x="713232" y="4315968"/>
            <a:ext cx="310896" cy="310896"/>
          </a:xfrm>
          <a:prstGeom prst="rect">
            <a:avLst/>
          </a:prstGeom>
        </p:spPr>
      </p:pic>
      <p:sp>
        <p:nvSpPr>
          <p:cNvPr id="27" name="Text 24"/>
          <p:cNvSpPr/>
          <p:nvPr/>
        </p:nvSpPr>
        <p:spPr>
          <a:xfrm>
            <a:off x="1152144" y="4187952"/>
            <a:ext cx="7406640" cy="566928"/>
          </a:xfrm>
          <a:prstGeom prst="rect">
            <a:avLst/>
          </a:prstGeom>
          <a:noFill/>
          <a:ln/>
        </p:spPr>
        <p:txBody>
          <a:bodyPr wrap="square" lIns="0" tIns="0" rIns="0" bIns="0" rtlCol="0" anchor="ctr"/>
          <a:lstStyle/>
          <a:p>
            <a:pPr indent="0" marL="0">
              <a:buNone/>
            </a:pPr>
            <a:r>
              <a:rPr lang="en-US" sz="1100" b="1" dirty="0">
                <a:solidFill>
                  <a:srgbClr val="E8A816"/>
                </a:solidFill>
                <a:latin typeface="Calibri" pitchFamily="34" charset="0"/>
                <a:ea typeface="Calibri" pitchFamily="34" charset="-122"/>
                <a:cs typeface="Calibri" pitchFamily="34" charset="-120"/>
              </a:rPr>
              <a:t>Recommendation — C:  </a:t>
            </a:r>
            <a:pPr indent="0" marL="0">
              <a:buNone/>
            </a:pPr>
            <a:r>
              <a:rPr lang="en-US" sz="1100" dirty="0">
                <a:solidFill>
                  <a:srgbClr val="FFFFFF"/>
                </a:solidFill>
                <a:latin typeface="Calibri" pitchFamily="34" charset="0"/>
                <a:ea typeface="Calibri" pitchFamily="34" charset="-122"/>
                <a:cs typeface="Calibri" pitchFamily="34" charset="-120"/>
              </a:rPr>
              <a:t>web-first, said plainly — then two weeks to falsify it on your hardware and your content. The scorecard writes the ADR, priced against a 5–10× re-platform.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COMMITMENTS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The first 90 days — capacity-checked</a:t>
            </a:r>
            <a:endParaRPr lang="en-US" sz="2800" dirty="0"/>
          </a:p>
        </p:txBody>
      </p:sp>
      <p:sp>
        <p:nvSpPr>
          <p:cNvPr id="4" name="Shape 2"/>
          <p:cNvSpPr/>
          <p:nvPr/>
        </p:nvSpPr>
        <p:spPr>
          <a:xfrm>
            <a:off x="457200" y="1298448"/>
            <a:ext cx="2624328" cy="274320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40080"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0–30</a:t>
            </a:r>
            <a:endParaRPr lang="en-US" sz="1100" dirty="0"/>
          </a:p>
        </p:txBody>
      </p:sp>
      <p:sp>
        <p:nvSpPr>
          <p:cNvPr id="6" name="Text 4"/>
          <p:cNvSpPr/>
          <p:nvPr/>
        </p:nvSpPr>
        <p:spPr>
          <a:xfrm>
            <a:off x="640080"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Wire &amp; decide</a:t>
            </a:r>
            <a:endParaRPr lang="en-US" sz="1600" dirty="0"/>
          </a:p>
        </p:txBody>
      </p:sp>
      <p:sp>
        <p:nvSpPr>
          <p:cNvPr id="7" name="Text 5"/>
          <p:cNvSpPr/>
          <p:nvPr/>
        </p:nvSpPr>
        <p:spPr>
          <a:xfrm>
            <a:off x="658368"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Authority charter ADR-007 — Lloyd co-owns genome &amp; rules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MDS schema on existing GraphQL · change journal in Postgres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Contracts v1 — units, axes, IDs decided in week 1</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2-wk render spike on your content: Unity WebGL vs Babylon / WebGPU → ADR</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Baseline measured: Time-to-Compliant-Design today</a:t>
            </a:r>
            <a:endParaRPr lang="en-US" sz="910" dirty="0"/>
          </a:p>
        </p:txBody>
      </p:sp>
      <p:sp>
        <p:nvSpPr>
          <p:cNvPr id="8" name="Shape 6"/>
          <p:cNvSpPr/>
          <p:nvPr/>
        </p:nvSpPr>
        <p:spPr>
          <a:xfrm>
            <a:off x="3264408" y="1298448"/>
            <a:ext cx="2624328" cy="274320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9" name="Text 7"/>
          <p:cNvSpPr/>
          <p:nvPr/>
        </p:nvSpPr>
        <p:spPr>
          <a:xfrm>
            <a:off x="3447288"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31–60</a:t>
            </a:r>
            <a:endParaRPr lang="en-US" sz="1100" dirty="0"/>
          </a:p>
        </p:txBody>
      </p:sp>
      <p:sp>
        <p:nvSpPr>
          <p:cNvPr id="10" name="Text 8"/>
          <p:cNvSpPr/>
          <p:nvPr/>
        </p:nvSpPr>
        <p:spPr>
          <a:xfrm>
            <a:off x="3447288"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Connect &amp; validate</a:t>
            </a:r>
            <a:endParaRPr lang="en-US" sz="1600" dirty="0"/>
          </a:p>
        </p:txBody>
      </p:sp>
      <p:sp>
        <p:nvSpPr>
          <p:cNvPr id="11" name="Text 9"/>
          <p:cNvSpPr/>
          <p:nvPr/>
        </p:nvSpPr>
        <p:spPr>
          <a:xfrm>
            <a:off x="3465576"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Validation v1 — ports + clearances; harvested rules + golden tests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Room Planner loads &amp; saves via payloads — same screens, new path</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Reflex snap: cached rule subset, &lt;50 ms feedback</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Correction deltas instrumented — flywheel data from day one</a:t>
            </a:r>
            <a:endParaRPr lang="en-US" sz="910" dirty="0"/>
          </a:p>
        </p:txBody>
      </p:sp>
      <p:sp>
        <p:nvSpPr>
          <p:cNvPr id="12" name="Shape 10"/>
          <p:cNvSpPr/>
          <p:nvPr/>
        </p:nvSpPr>
        <p:spPr>
          <a:xfrm>
            <a:off x="6071616" y="1298448"/>
            <a:ext cx="2624328" cy="2743200"/>
          </a:xfrm>
          <a:prstGeom prst="roundRect">
            <a:avLst>
              <a:gd name="adj" fmla="val 2091"/>
            </a:avLst>
          </a:prstGeom>
          <a:solidFill>
            <a:srgbClr val="FBF2DC"/>
          </a:solidFill>
          <a:ln/>
          <a:effectLst>
            <a:outerShdw sx="100000" sy="100000" kx="0" ky="0" algn="bl" rotWithShape="0" blurRad="88900" dist="25400" dir="2700000">
              <a:srgbClr val="000000">
                <a:alpha val="14000"/>
              </a:srgbClr>
            </a:outerShdw>
          </a:effectLst>
        </p:spPr>
      </p:sp>
      <p:sp>
        <p:nvSpPr>
          <p:cNvPr id="13" name="Text 11"/>
          <p:cNvSpPr/>
          <p:nvPr/>
        </p:nvSpPr>
        <p:spPr>
          <a:xfrm>
            <a:off x="6254496"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61–90</a:t>
            </a:r>
            <a:endParaRPr lang="en-US" sz="1100" dirty="0"/>
          </a:p>
        </p:txBody>
      </p:sp>
      <p:sp>
        <p:nvSpPr>
          <p:cNvPr id="14" name="Text 12"/>
          <p:cNvSpPr/>
          <p:nvPr/>
        </p:nvSpPr>
        <p:spPr>
          <a:xfrm>
            <a:off x="6254496"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Demonstrate &amp; sell</a:t>
            </a:r>
            <a:endParaRPr lang="en-US" sz="1600" dirty="0"/>
          </a:p>
        </p:txBody>
      </p:sp>
      <p:sp>
        <p:nvSpPr>
          <p:cNvPr id="15" name="Text 13"/>
          <p:cNvSpPr/>
          <p:nvPr/>
        </p:nvSpPr>
        <p:spPr>
          <a:xfrm>
            <a:off x="6272784"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E2E demo: types → room → validation → data-sheet export</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Scripted Space Bot agent demo on the real substrate</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Partner-or-synthetic program data — demoable regardless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GTM kit: demo script, paid-pilot terms, pricing hypothesis</a:t>
            </a:r>
            <a:endParaRPr lang="en-US" sz="910" dirty="0"/>
          </a:p>
        </p:txBody>
      </p:sp>
      <p:sp>
        <p:nvSpPr>
          <p:cNvPr id="16" name="Shape 14"/>
          <p:cNvSpPr/>
          <p:nvPr/>
        </p:nvSpPr>
        <p:spPr>
          <a:xfrm>
            <a:off x="457200" y="4187952"/>
            <a:ext cx="8229600" cy="566928"/>
          </a:xfrm>
          <a:prstGeom prst="roundRect">
            <a:avLst>
              <a:gd name="adj" fmla="val 11290"/>
            </a:avLst>
          </a:prstGeom>
          <a:solidFill>
            <a:srgbClr val="16263F"/>
          </a:solidFill>
          <a:ln/>
          <a:effectLst>
            <a:outerShdw sx="100000" sy="100000" kx="0" ky="0" algn="bl" rotWithShape="0" blurRad="88900" dist="25400" dir="2700000">
              <a:srgbClr val="000000">
                <a:alpha val="14000"/>
              </a:srgbClr>
            </a:outerShdw>
          </a:effectLst>
        </p:spPr>
      </p:sp>
      <p:sp>
        <p:nvSpPr>
          <p:cNvPr id="17" name="Text 15"/>
          <p:cNvSpPr/>
          <p:nvPr/>
        </p:nvSpPr>
        <p:spPr>
          <a:xfrm>
            <a:off x="713232" y="4242816"/>
            <a:ext cx="7726680" cy="457200"/>
          </a:xfrm>
          <a:prstGeom prst="rect">
            <a:avLst/>
          </a:prstGeom>
          <a:noFill/>
          <a:ln/>
        </p:spPr>
        <p:txBody>
          <a:bodyPr wrap="square" lIns="0" tIns="0" rIns="0" bIns="0" rtlCol="0" anchor="ctr"/>
          <a:lstStyle/>
          <a:p>
            <a:pPr indent="0" marL="0">
              <a:buNone/>
            </a:pPr>
            <a:r>
              <a:rPr lang="en-US" sz="1050" b="1" dirty="0">
                <a:solidFill>
                  <a:srgbClr val="E8A816"/>
                </a:solidFill>
                <a:latin typeface="Calibri" pitchFamily="34" charset="0"/>
                <a:ea typeface="Calibri" pitchFamily="34" charset="-122"/>
                <a:cs typeface="Calibri" pitchFamily="34" charset="-120"/>
              </a:rPr>
              <a:t>Days 91–150:  </a:t>
            </a:r>
            <a:pPr indent="0" marL="0">
              <a:buNone/>
            </a:pPr>
            <a:r>
              <a:rPr lang="en-US" sz="1050" dirty="0">
                <a:solidFill>
                  <a:srgbClr val="FFFFFF"/>
                </a:solidFill>
                <a:latin typeface="Calibri" pitchFamily="34" charset="0"/>
                <a:ea typeface="Calibri" pitchFamily="34" charset="-122"/>
                <a:cs typeface="Calibri" pitchFamily="34" charset="-120"/>
              </a:rPr>
              <a:t>Floor aggregates · Designer publishing · hardened Space Bot · pilot conversion — capacity-checked against the pod transition. A smaller promise, delivered.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63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E8A816"/>
                </a:solidFill>
                <a:latin typeface="Calibri" pitchFamily="34" charset="0"/>
                <a:ea typeface="Calibri" pitchFamily="34" charset="-122"/>
                <a:cs typeface="Calibri" pitchFamily="34" charset="-120"/>
              </a:rPr>
              <a:t>TO MAKE THIS REAL</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 ask of you</a:t>
            </a:r>
            <a:endParaRPr lang="en-US" sz="2800" dirty="0"/>
          </a:p>
        </p:txBody>
      </p:sp>
      <p:sp>
        <p:nvSpPr>
          <p:cNvPr id="4" name="Shape 2"/>
          <p:cNvSpPr/>
          <p:nvPr/>
        </p:nvSpPr>
        <p:spPr>
          <a:xfrm>
            <a:off x="457200" y="1298448"/>
            <a:ext cx="4041648" cy="1024128"/>
          </a:xfrm>
          <a:prstGeom prst="roundRect">
            <a:avLst>
              <a:gd name="adj" fmla="val 5357"/>
            </a:avLst>
          </a:prstGeom>
          <a:solidFill>
            <a:srgbClr val="23375A"/>
          </a:solidFill>
          <a:ln/>
        </p:spPr>
      </p:sp>
      <p:sp>
        <p:nvSpPr>
          <p:cNvPr id="5" name="Shape 3"/>
          <p:cNvSpPr/>
          <p:nvPr/>
        </p:nvSpPr>
        <p:spPr>
          <a:xfrm>
            <a:off x="621792" y="1426464"/>
            <a:ext cx="365760" cy="365760"/>
          </a:xfrm>
          <a:prstGeom prst="ellipse">
            <a:avLst/>
          </a:prstGeom>
          <a:solidFill>
            <a:srgbClr val="E8A816"/>
          </a:solidFill>
          <a:ln/>
        </p:spPr>
      </p:sp>
      <p:sp>
        <p:nvSpPr>
          <p:cNvPr id="6" name="Text 4"/>
          <p:cNvSpPr/>
          <p:nvPr/>
        </p:nvSpPr>
        <p:spPr>
          <a:xfrm>
            <a:off x="621792" y="1426464"/>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15568" y="1408176"/>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Decision rights stay with you</a:t>
            </a:r>
            <a:endParaRPr lang="en-US" sz="1200" dirty="0"/>
          </a:p>
        </p:txBody>
      </p:sp>
      <p:sp>
        <p:nvSpPr>
          <p:cNvPr id="8" name="Text 6"/>
          <p:cNvSpPr/>
          <p:nvPr/>
        </p:nvSpPr>
        <p:spPr>
          <a:xfrm>
            <a:off x="1115568" y="1682496"/>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You remain Accountable on every ADR. I bring options, evidence, and a recommendation — you sign the direction.</a:t>
            </a:r>
            <a:endParaRPr lang="en-US" sz="930" dirty="0"/>
          </a:p>
        </p:txBody>
      </p:sp>
      <p:sp>
        <p:nvSpPr>
          <p:cNvPr id="9" name="Shape 7"/>
          <p:cNvSpPr/>
          <p:nvPr/>
        </p:nvSpPr>
        <p:spPr>
          <a:xfrm>
            <a:off x="4681728" y="1298448"/>
            <a:ext cx="4041648" cy="1024128"/>
          </a:xfrm>
          <a:prstGeom prst="roundRect">
            <a:avLst>
              <a:gd name="adj" fmla="val 5357"/>
            </a:avLst>
          </a:prstGeom>
          <a:solidFill>
            <a:srgbClr val="23375A"/>
          </a:solidFill>
          <a:ln/>
        </p:spPr>
      </p:sp>
      <p:sp>
        <p:nvSpPr>
          <p:cNvPr id="10" name="Shape 8"/>
          <p:cNvSpPr/>
          <p:nvPr/>
        </p:nvSpPr>
        <p:spPr>
          <a:xfrm>
            <a:off x="4846320" y="1426464"/>
            <a:ext cx="365760" cy="365760"/>
          </a:xfrm>
          <a:prstGeom prst="ellipse">
            <a:avLst/>
          </a:prstGeom>
          <a:solidFill>
            <a:srgbClr val="E8A816"/>
          </a:solidFill>
          <a:ln/>
        </p:spPr>
      </p:sp>
      <p:sp>
        <p:nvSpPr>
          <p:cNvPr id="11" name="Text 9"/>
          <p:cNvSpPr/>
          <p:nvPr/>
        </p:nvSpPr>
        <p:spPr>
          <a:xfrm>
            <a:off x="4846320" y="1426464"/>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340096" y="1408176"/>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Day-one access</a:t>
            </a:r>
            <a:endParaRPr lang="en-US" sz="1200" dirty="0"/>
          </a:p>
        </p:txBody>
      </p:sp>
      <p:sp>
        <p:nvSpPr>
          <p:cNvPr id="13" name="Text 11"/>
          <p:cNvSpPr/>
          <p:nvPr/>
        </p:nvSpPr>
        <p:spPr>
          <a:xfrm>
            <a:off x="5340096" y="1682496"/>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Repos, boards, and environments on day one — the most common onboarding blocker, removed before it starts.</a:t>
            </a:r>
            <a:endParaRPr lang="en-US" sz="930" dirty="0"/>
          </a:p>
        </p:txBody>
      </p:sp>
      <p:sp>
        <p:nvSpPr>
          <p:cNvPr id="14" name="Shape 12"/>
          <p:cNvSpPr/>
          <p:nvPr/>
        </p:nvSpPr>
        <p:spPr>
          <a:xfrm>
            <a:off x="457200" y="2450592"/>
            <a:ext cx="4041648" cy="1024128"/>
          </a:xfrm>
          <a:prstGeom prst="roundRect">
            <a:avLst>
              <a:gd name="adj" fmla="val 5357"/>
            </a:avLst>
          </a:prstGeom>
          <a:solidFill>
            <a:srgbClr val="23375A"/>
          </a:solidFill>
          <a:ln/>
        </p:spPr>
      </p:sp>
      <p:sp>
        <p:nvSpPr>
          <p:cNvPr id="15" name="Shape 13"/>
          <p:cNvSpPr/>
          <p:nvPr/>
        </p:nvSpPr>
        <p:spPr>
          <a:xfrm>
            <a:off x="621792" y="2578608"/>
            <a:ext cx="365760" cy="365760"/>
          </a:xfrm>
          <a:prstGeom prst="ellipse">
            <a:avLst/>
          </a:prstGeom>
          <a:solidFill>
            <a:srgbClr val="E8A816"/>
          </a:solidFill>
          <a:ln/>
        </p:spPr>
      </p:sp>
      <p:sp>
        <p:nvSpPr>
          <p:cNvPr id="16" name="Text 14"/>
          <p:cNvSpPr/>
          <p:nvPr/>
        </p:nvSpPr>
        <p:spPr>
          <a:xfrm>
            <a:off x="621792" y="2578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15568" y="2560320"/>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design partner — in contract by day 30</a:t>
            </a:r>
            <a:endParaRPr lang="en-US" sz="1200" dirty="0"/>
          </a:p>
        </p:txBody>
      </p:sp>
      <p:sp>
        <p:nvSpPr>
          <p:cNvPr id="18" name="Text 16"/>
          <p:cNvSpPr/>
          <p:nvPr/>
        </p:nvSpPr>
        <p:spPr>
          <a:xfrm>
            <a:off x="1115568" y="2834640"/>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That one is yours to deliver, not mine. A realistic synthetic facility program is the fallback, so day 90 demos regardless.</a:t>
            </a:r>
            <a:endParaRPr lang="en-US" sz="930" dirty="0"/>
          </a:p>
        </p:txBody>
      </p:sp>
      <p:sp>
        <p:nvSpPr>
          <p:cNvPr id="19" name="Shape 17"/>
          <p:cNvSpPr/>
          <p:nvPr/>
        </p:nvSpPr>
        <p:spPr>
          <a:xfrm>
            <a:off x="4681728" y="2450592"/>
            <a:ext cx="4041648" cy="1024128"/>
          </a:xfrm>
          <a:prstGeom prst="roundRect">
            <a:avLst>
              <a:gd name="adj" fmla="val 5357"/>
            </a:avLst>
          </a:prstGeom>
          <a:solidFill>
            <a:srgbClr val="23375A"/>
          </a:solidFill>
          <a:ln/>
        </p:spPr>
      </p:sp>
      <p:sp>
        <p:nvSpPr>
          <p:cNvPr id="20" name="Shape 18"/>
          <p:cNvSpPr/>
          <p:nvPr/>
        </p:nvSpPr>
        <p:spPr>
          <a:xfrm>
            <a:off x="4846320" y="2578608"/>
            <a:ext cx="365760" cy="365760"/>
          </a:xfrm>
          <a:prstGeom prst="ellipse">
            <a:avLst/>
          </a:prstGeom>
          <a:solidFill>
            <a:srgbClr val="E8A816"/>
          </a:solidFill>
          <a:ln/>
        </p:spPr>
      </p:sp>
      <p:sp>
        <p:nvSpPr>
          <p:cNvPr id="21" name="Text 19"/>
          <p:cNvSpPr/>
          <p:nvPr/>
        </p:nvSpPr>
        <p:spPr>
          <a:xfrm>
            <a:off x="4846320" y="2578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340096" y="2560320"/>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Bless the pilot</a:t>
            </a:r>
            <a:endParaRPr lang="en-US" sz="1200" dirty="0"/>
          </a:p>
        </p:txBody>
      </p:sp>
      <p:sp>
        <p:nvSpPr>
          <p:cNvPr id="23" name="Text 21"/>
          <p:cNvSpPr/>
          <p:nvPr/>
        </p:nvSpPr>
        <p:spPr>
          <a:xfrm>
            <a:off x="5340096" y="2834640"/>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Context &amp; Twin Services pod, eight weeks, exit criteria you approve before we start.</a:t>
            </a:r>
            <a:endParaRPr lang="en-US" sz="930" dirty="0"/>
          </a:p>
        </p:txBody>
      </p:sp>
      <p:sp>
        <p:nvSpPr>
          <p:cNvPr id="24" name="Shape 22"/>
          <p:cNvSpPr/>
          <p:nvPr/>
        </p:nvSpPr>
        <p:spPr>
          <a:xfrm>
            <a:off x="457200" y="3621024"/>
            <a:ext cx="8229600" cy="566928"/>
          </a:xfrm>
          <a:prstGeom prst="roundRect">
            <a:avLst>
              <a:gd name="adj" fmla="val 9677"/>
            </a:avLst>
          </a:prstGeom>
          <a:solidFill>
            <a:srgbClr val="23375A"/>
          </a:solidFill>
          <a:ln/>
        </p:spPr>
      </p:sp>
      <p:sp>
        <p:nvSpPr>
          <p:cNvPr id="25" name="Shape 23"/>
          <p:cNvSpPr/>
          <p:nvPr/>
        </p:nvSpPr>
        <p:spPr>
          <a:xfrm>
            <a:off x="621792" y="3721608"/>
            <a:ext cx="365760" cy="365760"/>
          </a:xfrm>
          <a:prstGeom prst="ellipse">
            <a:avLst/>
          </a:prstGeom>
          <a:solidFill>
            <a:srgbClr val="E8A816"/>
          </a:solidFill>
          <a:ln/>
        </p:spPr>
      </p:sp>
      <p:sp>
        <p:nvSpPr>
          <p:cNvPr id="26" name="Text 24"/>
          <p:cNvSpPr/>
          <p:nvPr/>
        </p:nvSpPr>
        <p:spPr>
          <a:xfrm>
            <a:off x="621792" y="3721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133856" y="3675888"/>
            <a:ext cx="7406640" cy="475488"/>
          </a:xfrm>
          <a:prstGeom prst="rect">
            <a:avLst/>
          </a:prstGeom>
          <a:noFill/>
          <a:ln/>
        </p:spPr>
        <p:txBody>
          <a:bodyPr wrap="square" lIns="0" tIns="0" rIns="0" bIns="0" rtlCol="0" anchor="ctr"/>
          <a:lstStyle/>
          <a:p>
            <a:pPr indent="0" marL="0">
              <a:buNone/>
            </a:pPr>
            <a:r>
              <a:rPr lang="en-US" sz="980" b="1" dirty="0">
                <a:solidFill>
                  <a:srgbClr val="FFFFFF"/>
                </a:solidFill>
                <a:latin typeface="Calibri" pitchFamily="34" charset="0"/>
                <a:ea typeface="Calibri" pitchFamily="34" charset="-122"/>
                <a:cs typeface="Calibri" pitchFamily="34" charset="-120"/>
              </a:rPr>
              <a:t>Make your team co-authors — </a:t>
            </a:r>
            <a:pPr indent="0" marL="0">
              <a:buNone/>
            </a:pPr>
            <a:r>
              <a:rPr lang="en-US" sz="980" dirty="0">
                <a:solidFill>
                  <a:srgbClr val="C9D6E8"/>
                </a:solidFill>
                <a:latin typeface="Calibri" pitchFamily="34" charset="0"/>
                <a:ea typeface="Calibri" pitchFamily="34" charset="-122"/>
                <a:cs typeface="Calibri" pitchFamily="34" charset="-120"/>
              </a:rPr>
              <a:t>Lloyd co-owns the genome and rules (his name on ADR-007); Byron receives the GTM and scorecard track. Knowledge transfer is authorship, not extraction.</a:t>
            </a:r>
            <a:endParaRPr lang="en-US" sz="980" dirty="0"/>
          </a:p>
        </p:txBody>
      </p:sp>
      <p:sp>
        <p:nvSpPr>
          <p:cNvPr id="28" name="Text 26"/>
          <p:cNvSpPr/>
          <p:nvPr/>
        </p:nvSpPr>
        <p:spPr>
          <a:xfrm>
            <a:off x="457200" y="4334256"/>
            <a:ext cx="8229600" cy="365760"/>
          </a:xfrm>
          <a:prstGeom prst="rect">
            <a:avLst/>
          </a:prstGeom>
          <a:noFill/>
          <a:ln/>
        </p:spPr>
        <p:txBody>
          <a:bodyPr wrap="square" lIns="0" tIns="0" rIns="0" bIns="0" rtlCol="0" anchor="ctr"/>
          <a:lstStyle/>
          <a:p>
            <a:pPr algn="ctr" indent="0" marL="0">
              <a:buNone/>
            </a:pPr>
            <a:r>
              <a:rPr lang="en-US" sz="1800" b="1" i="1" dirty="0">
                <a:solidFill>
                  <a:srgbClr val="E8A816"/>
                </a:solidFill>
                <a:latin typeface="Cambria" pitchFamily="34" charset="0"/>
                <a:ea typeface="Cambria" pitchFamily="34" charset="-122"/>
                <a:cs typeface="Cambria" pitchFamily="34" charset="-120"/>
              </a:rPr>
              <a:t>Your vision. Disciplined execution. Measured proof.</a:t>
            </a:r>
            <a:endParaRPr lang="en-US" sz="1800" dirty="0"/>
          </a:p>
        </p:txBody>
      </p:sp>
      <p:sp>
        <p:nvSpPr>
          <p:cNvPr id="29" name="Text 27"/>
          <p:cNvSpPr/>
          <p:nvPr/>
        </p:nvSpPr>
        <p:spPr>
          <a:xfrm>
            <a:off x="457200" y="4718304"/>
            <a:ext cx="8229600" cy="256032"/>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Ready to go as deep as you want — today.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63F"/>
        </a:solidFill>
      </p:bgPr>
    </p:bg>
    <p:spTree>
      <p:nvGrpSpPr>
        <p:cNvPr id="1" name=""/>
        <p:cNvGrpSpPr/>
        <p:nvPr/>
      </p:nvGrpSpPr>
      <p:grpSpPr>
        <a:xfrm>
          <a:off x="0" y="0"/>
          <a:ext cx="0" cy="0"/>
          <a:chOff x="0" y="0"/>
          <a:chExt cx="0" cy="0"/>
        </a:xfrm>
      </p:grpSpPr>
      <p:sp>
        <p:nvSpPr>
          <p:cNvPr id="2" name="Text 0"/>
          <p:cNvSpPr/>
          <p:nvPr/>
        </p:nvSpPr>
        <p:spPr>
          <a:xfrm>
            <a:off x="502920" y="1005840"/>
            <a:ext cx="8138160" cy="274320"/>
          </a:xfrm>
          <a:prstGeom prst="rect">
            <a:avLst/>
          </a:prstGeom>
          <a:noFill/>
          <a:ln/>
        </p:spPr>
        <p:txBody>
          <a:bodyPr wrap="square" lIns="0" tIns="0" rIns="0" bIns="0" rtlCol="0" anchor="ctr"/>
          <a:lstStyle/>
          <a:p>
            <a:pPr indent="0" marL="0">
              <a:buNone/>
            </a:pPr>
            <a:r>
              <a:rPr lang="en-US" sz="1100" b="1" spc="300" kern="0" dirty="0">
                <a:solidFill>
                  <a:srgbClr val="E8A816"/>
                </a:solidFill>
                <a:latin typeface="Calibri" pitchFamily="34" charset="0"/>
                <a:ea typeface="Calibri" pitchFamily="34" charset="-122"/>
                <a:cs typeface="Calibri" pitchFamily="34" charset="-120"/>
              </a:rPr>
              <a:t>BACKUP · ON REQUEST</a:t>
            </a:r>
            <a:endParaRPr lang="en-US" sz="1100" dirty="0"/>
          </a:p>
        </p:txBody>
      </p:sp>
      <p:sp>
        <p:nvSpPr>
          <p:cNvPr id="3" name="Text 1"/>
          <p:cNvSpPr/>
          <p:nvPr/>
        </p:nvSpPr>
        <p:spPr>
          <a:xfrm>
            <a:off x="502920" y="1371600"/>
            <a:ext cx="8138160" cy="137160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Unity Dynamics Analysis</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&amp; Path to Green</a:t>
            </a:r>
            <a:endParaRPr lang="en-US" sz="3600" dirty="0"/>
          </a:p>
        </p:txBody>
      </p:sp>
      <p:sp>
        <p:nvSpPr>
          <p:cNvPr id="4" name="Text 2"/>
          <p:cNvSpPr/>
          <p:nvPr/>
        </p:nvSpPr>
        <p:spPr>
          <a:xfrm>
            <a:off x="502920" y="2834640"/>
            <a:ext cx="8138160" cy="56692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Evidence base behind the Thin-Unity posture (main deck, slide 9).</a:t>
            </a:r>
            <a:endParaRPr lang="en-US" sz="1300" dirty="0"/>
          </a:p>
          <a:p>
            <a:pPr indent="0" marL="0">
              <a:buNone/>
            </a:pPr>
            <a:r>
              <a:rPr lang="en-US" sz="1300" dirty="0">
                <a:solidFill>
                  <a:srgbClr val="C9D6E8"/>
                </a:solidFill>
                <a:latin typeface="Calibri" pitchFamily="34" charset="0"/>
                <a:ea typeface="Calibri" pitchFamily="34" charset="-122"/>
                <a:cs typeface="Calibri" pitchFamily="34" charset="-120"/>
              </a:rPr>
              <a:t>Drawn on request — not part of the core walk-through.</a:t>
            </a:r>
            <a:endParaRPr lang="en-US" sz="1300" dirty="0"/>
          </a:p>
        </p:txBody>
      </p:sp>
      <p:sp>
        <p:nvSpPr>
          <p:cNvPr id="5" name="Shape 3"/>
          <p:cNvSpPr/>
          <p:nvPr/>
        </p:nvSpPr>
        <p:spPr>
          <a:xfrm>
            <a:off x="502920" y="3822192"/>
            <a:ext cx="201168" cy="201168"/>
          </a:xfrm>
          <a:prstGeom prst="ellipse">
            <a:avLst/>
          </a:prstGeom>
          <a:solidFill>
            <a:srgbClr val="B3402F"/>
          </a:solidFill>
          <a:ln/>
        </p:spPr>
      </p:sp>
      <p:sp>
        <p:nvSpPr>
          <p:cNvPr id="6" name="Text 4"/>
          <p:cNvSpPr/>
          <p:nvPr/>
        </p:nvSpPr>
        <p:spPr>
          <a:xfrm>
            <a:off x="79552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RED  </a:t>
            </a:r>
            <a:pPr indent="0" marL="0">
              <a:buNone/>
            </a:pPr>
            <a:r>
              <a:rPr lang="en-US" sz="1050" dirty="0">
                <a:solidFill>
                  <a:srgbClr val="C9D6E8"/>
                </a:solidFill>
                <a:latin typeface="Calibri" pitchFamily="34" charset="0"/>
                <a:ea typeface="Calibri" pitchFamily="34" charset="-122"/>
                <a:cs typeface="Calibri" pitchFamily="34" charset="-120"/>
              </a:rPr>
              <a:t>blocks the commercial motion today</a:t>
            </a:r>
            <a:endParaRPr lang="en-US" sz="1050" dirty="0"/>
          </a:p>
        </p:txBody>
      </p:sp>
      <p:sp>
        <p:nvSpPr>
          <p:cNvPr id="7" name="Shape 5"/>
          <p:cNvSpPr/>
          <p:nvPr/>
        </p:nvSpPr>
        <p:spPr>
          <a:xfrm>
            <a:off x="3291840" y="3822192"/>
            <a:ext cx="201168" cy="201168"/>
          </a:xfrm>
          <a:prstGeom prst="ellipse">
            <a:avLst/>
          </a:prstGeom>
          <a:solidFill>
            <a:srgbClr val="D89A12"/>
          </a:solidFill>
          <a:ln/>
        </p:spPr>
      </p:sp>
      <p:sp>
        <p:nvSpPr>
          <p:cNvPr id="8" name="Text 6"/>
          <p:cNvSpPr/>
          <p:nvPr/>
        </p:nvSpPr>
        <p:spPr>
          <a:xfrm>
            <a:off x="358444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AMBER  </a:t>
            </a:r>
            <a:pPr indent="0" marL="0">
              <a:buNone/>
            </a:pPr>
            <a:r>
              <a:rPr lang="en-US" sz="1050" dirty="0">
                <a:solidFill>
                  <a:srgbClr val="C9D6E8"/>
                </a:solidFill>
                <a:latin typeface="Calibri" pitchFamily="34" charset="0"/>
                <a:ea typeface="Calibri" pitchFamily="34" charset="-122"/>
                <a:cs typeface="Calibri" pitchFamily="34" charset="-120"/>
              </a:rPr>
              <a:t>adds cost or time to every deal</a:t>
            </a:r>
            <a:endParaRPr lang="en-US" sz="1050" dirty="0"/>
          </a:p>
        </p:txBody>
      </p:sp>
      <p:sp>
        <p:nvSpPr>
          <p:cNvPr id="9" name="Shape 7"/>
          <p:cNvSpPr/>
          <p:nvPr/>
        </p:nvSpPr>
        <p:spPr>
          <a:xfrm>
            <a:off x="6080760" y="3822192"/>
            <a:ext cx="201168" cy="201168"/>
          </a:xfrm>
          <a:prstGeom prst="ellipse">
            <a:avLst/>
          </a:prstGeom>
          <a:solidFill>
            <a:srgbClr val="1E7A4C"/>
          </a:solidFill>
          <a:ln/>
        </p:spPr>
      </p:sp>
      <p:sp>
        <p:nvSpPr>
          <p:cNvPr id="10" name="Text 8"/>
          <p:cNvSpPr/>
          <p:nvPr/>
        </p:nvSpPr>
        <p:spPr>
          <a:xfrm>
            <a:off x="637336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GREEN  </a:t>
            </a:r>
            <a:pPr indent="0" marL="0">
              <a:buNone/>
            </a:pPr>
            <a:r>
              <a:rPr lang="en-US" sz="1050" dirty="0">
                <a:solidFill>
                  <a:srgbClr val="C9D6E8"/>
                </a:solidFill>
                <a:latin typeface="Calibri" pitchFamily="34" charset="0"/>
                <a:ea typeface="Calibri" pitchFamily="34" charset="-122"/>
                <a:cs typeface="Calibri" pitchFamily="34" charset="-120"/>
              </a:rPr>
              <a:t>ready to scale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UNITY DYNAMICS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Where Unity binds the commercial motion</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2514600"/>
                <a:gridCol w="4892040"/>
                <a:gridCol w="82296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Dynamic</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blocks — for hospital clients &amp; owners</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D1 · Locked-down endpoints &amp; GPU-less VDI (Citrix / Horizon)</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Per-client install approvals (MSI, signing, SCCM/Intune review); unusable on thin clients without vGPU — pilots and seat expansion stall.</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D2 · Unity Web ceilings at hospital-BIM scale</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Heavy payloads; wasm memory cap on dense MEP scenes (the tab dies, no graceful degrade); threading needs COOP/COEP; no native streaming / LOD.</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D3 · Pixel-streaming unit economics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One cloud GPU session per concurrent viewer — cost per seat explodes vs. a lightweight glTF web viewer.</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D4 · Accessibility — Section 508 / WCAG</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Canvas-rendered UI is invisible to screen readers; keyboard nav and contrast are bespoke — a hard healthcare procurement gate (VPAT).</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D5 · Enterprise web table stakes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SSO (Entra ID / Okta), URL deep-links to a room or twin, portal embedding, analytics — native in the DOM, custom in Unity.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D6 · Multi-user collaboration is DIY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Presence, co-editing, locking, conflict resolution = bespoke netcode; slowest velocity lands on the features clients buy.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D7 · Installed-client updates &amp; pipeline cost</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Every release re-enters client IT change control — breaks 2-week trains; long builds, licensed agents, slower test automation.</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D8 · BIM handover obligation (IFC / COBie)</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Owners contractually require open FM deliverables — twin state cannot live in Unity scenes and prefabs.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PATH TO GREEN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Each dynamic has a route — and a proof gate</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8229600" cy="914400"/>
        </p:xfrm>
        <a:graphic>
          <a:graphicData uri="http://schemas.openxmlformats.org/drawingml/2006/table">
            <a:tbl>
              <a:tblPr/>
              <a:tblGrid>
                <a:gridCol w="1691640"/>
                <a:gridCol w="3977640"/>
                <a:gridCol w="2560320"/>
              </a:tblGrid>
              <a:tr h="6217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Path to green</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Proof gate</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Endpoint &amp; rollout</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(D1 · D7)</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Web track over the Twin API for viewer / approver personas — Angular + glTF viewer: zero-install, SSO'd, continuously deployed. Unity remains the authoring client.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Reference room set renders on a GPU-less VDI profile; releases ride the 2-week train.</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Scale &amp; economics</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(D2 · D3)</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Thin payload contract + server-side simplification / tiling for web scenes; pixel streaming reserved for full-fidelity edge cases and priced per use.</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Hospital-scale scene inside the agreed budget; cost-per-seat model at or under target.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Procurement &amp; enterprise</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(D4 · D5)</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All non-3D surfaces DOM-first; WCAG / VPAT on the web track; SSO via the hospital IdP; URL-addressable twin state for deep links and embedding.</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Draft VPAT passes review; SSO + deep-link demo on a design-partner tenant.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Data &amp; collaboration</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(D6 · D8)</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State lives behind the Twin API — change journal v1, event-sourced v2 — never the engine; CRDT / websocket co-editing on web; IFC / COBie exported from the twin.</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Owner-side FM checklist validates the export; two-user co-edit demo.</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bl>
          </a:graphicData>
        </a:graphic>
      </p:graphicFrame>
      <p:sp>
        <p:nvSpPr>
          <p:cNvPr id="5" name="Text 2"/>
          <p:cNvSpPr/>
          <p:nvPr/>
        </p:nvSpPr>
        <p:spPr>
          <a:xfrm>
            <a:off x="457200" y="4553712"/>
            <a:ext cx="8229600" cy="274320"/>
          </a:xfrm>
          <a:prstGeom prst="rect">
            <a:avLst/>
          </a:prstGeom>
          <a:noFill/>
          <a:ln/>
        </p:spPr>
        <p:txBody>
          <a:bodyPr wrap="square" lIns="0" tIns="0" rIns="0" bIns="0" rtlCol="0" anchor="ctr"/>
          <a:lstStyle/>
          <a:p>
            <a:pPr indent="0" marL="0">
              <a:buNone/>
            </a:pPr>
            <a:r>
              <a:rPr lang="en-US" sz="1100" b="1" i="1" dirty="0">
                <a:solidFill>
                  <a:srgbClr val="1E7A4C"/>
                </a:solidFill>
                <a:latin typeface="Calibri" pitchFamily="34" charset="0"/>
                <a:ea typeface="Calibri" pitchFamily="34" charset="-122"/>
                <a:cs typeface="Calibri" pitchFamily="34" charset="-120"/>
              </a:rPr>
              <a:t>Unity stays green where it wins: high-fidelity authoring and XR design reviews — unchanged.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PATH TO GREEN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Twelve weeks, three gates, no leap of faith</a:t>
            </a:r>
            <a:endParaRPr lang="en-US" sz="2800" dirty="0"/>
          </a:p>
        </p:txBody>
      </p:sp>
      <p:sp>
        <p:nvSpPr>
          <p:cNvPr id="4" name="Shape 2"/>
          <p:cNvSpPr/>
          <p:nvPr/>
        </p:nvSpPr>
        <p:spPr>
          <a:xfrm>
            <a:off x="457200"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40080"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1–2 · SPIKE</a:t>
            </a:r>
            <a:endParaRPr lang="en-US" sz="1100" dirty="0"/>
          </a:p>
        </p:txBody>
      </p:sp>
      <p:sp>
        <p:nvSpPr>
          <p:cNvPr id="6" name="Shape 4"/>
          <p:cNvSpPr/>
          <p:nvPr/>
        </p:nvSpPr>
        <p:spPr>
          <a:xfrm>
            <a:off x="640080" y="1755648"/>
            <a:ext cx="164592" cy="164592"/>
          </a:xfrm>
          <a:prstGeom prst="ellipse">
            <a:avLst/>
          </a:prstGeom>
          <a:solidFill>
            <a:srgbClr val="B3402F"/>
          </a:solidFill>
          <a:ln/>
        </p:spPr>
      </p:sp>
      <p:pic>
        <p:nvPicPr>
          <p:cNvPr id="7" name="Image 0" descr="preencoded.png"/>
          <p:cNvPicPr>
            <a:picLocks noChangeAspect="1"/>
          </p:cNvPicPr>
          <p:nvPr/>
        </p:nvPicPr>
        <p:blipFill>
          <a:blip r:embed="rId1"/>
          <a:stretch>
            <a:fillRect/>
          </a:stretch>
        </p:blipFill>
        <p:spPr>
          <a:xfrm>
            <a:off x="877824" y="1755648"/>
            <a:ext cx="164592" cy="164592"/>
          </a:xfrm>
          <a:prstGeom prst="rect">
            <a:avLst/>
          </a:prstGeom>
        </p:spPr>
      </p:pic>
      <p:sp>
        <p:nvSpPr>
          <p:cNvPr id="8" name="Shape 5"/>
          <p:cNvSpPr/>
          <p:nvPr/>
        </p:nvSpPr>
        <p:spPr>
          <a:xfrm>
            <a:off x="1115568" y="1755648"/>
            <a:ext cx="164592" cy="164592"/>
          </a:xfrm>
          <a:prstGeom prst="ellipse">
            <a:avLst/>
          </a:prstGeom>
          <a:solidFill>
            <a:srgbClr val="D89A12"/>
          </a:solidFill>
          <a:ln/>
        </p:spPr>
      </p:sp>
      <p:sp>
        <p:nvSpPr>
          <p:cNvPr id="9" name="Text 6"/>
          <p:cNvSpPr/>
          <p:nvPr/>
        </p:nvSpPr>
        <p:spPr>
          <a:xfrm>
            <a:off x="658368"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Gates on your content: VDI-profile render · WebGL cold-load &amp; memory · concurrent-edit sync · cost / seat; UE5 by paper evaluation</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Output: ADR-Unity signed, with a revisit date</a:t>
            </a:r>
            <a:endParaRPr lang="en-US" sz="960" dirty="0"/>
          </a:p>
        </p:txBody>
      </p:sp>
      <p:pic>
        <p:nvPicPr>
          <p:cNvPr id="10" name="Image 1" descr="preencoded.png"/>
          <p:cNvPicPr>
            <a:picLocks noChangeAspect="1"/>
          </p:cNvPicPr>
          <p:nvPr/>
        </p:nvPicPr>
        <p:blipFill>
          <a:blip r:embed="rId2"/>
          <a:stretch>
            <a:fillRect/>
          </a:stretch>
        </p:blipFill>
        <p:spPr>
          <a:xfrm>
            <a:off x="3108960" y="2468880"/>
            <a:ext cx="237744" cy="237744"/>
          </a:xfrm>
          <a:prstGeom prst="rect">
            <a:avLst/>
          </a:prstGeom>
        </p:spPr>
      </p:pic>
      <p:sp>
        <p:nvSpPr>
          <p:cNvPr id="11" name="Shape 7"/>
          <p:cNvSpPr/>
          <p:nvPr/>
        </p:nvSpPr>
        <p:spPr>
          <a:xfrm>
            <a:off x="3264408"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12" name="Text 8"/>
          <p:cNvSpPr/>
          <p:nvPr/>
        </p:nvSpPr>
        <p:spPr>
          <a:xfrm>
            <a:off x="3447288"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3–8 · DECOUPLE</a:t>
            </a:r>
            <a:endParaRPr lang="en-US" sz="1100" dirty="0"/>
          </a:p>
        </p:txBody>
      </p:sp>
      <p:sp>
        <p:nvSpPr>
          <p:cNvPr id="13" name="Shape 9"/>
          <p:cNvSpPr/>
          <p:nvPr/>
        </p:nvSpPr>
        <p:spPr>
          <a:xfrm>
            <a:off x="3447288" y="1755648"/>
            <a:ext cx="164592" cy="164592"/>
          </a:xfrm>
          <a:prstGeom prst="ellipse">
            <a:avLst/>
          </a:prstGeom>
          <a:solidFill>
            <a:srgbClr val="D89A12"/>
          </a:solidFill>
          <a:ln/>
        </p:spPr>
      </p:sp>
      <p:pic>
        <p:nvPicPr>
          <p:cNvPr id="14" name="Image 2" descr="preencoded.png"/>
          <p:cNvPicPr>
            <a:picLocks noChangeAspect="1"/>
          </p:cNvPicPr>
          <p:nvPr/>
        </p:nvPicPr>
        <p:blipFill>
          <a:blip r:embed="rId3"/>
          <a:stretch>
            <a:fillRect/>
          </a:stretch>
        </p:blipFill>
        <p:spPr>
          <a:xfrm>
            <a:off x="3685032" y="1755648"/>
            <a:ext cx="164592" cy="164592"/>
          </a:xfrm>
          <a:prstGeom prst="rect">
            <a:avLst/>
          </a:prstGeom>
        </p:spPr>
      </p:pic>
      <p:sp>
        <p:nvSpPr>
          <p:cNvPr id="15" name="Shape 10"/>
          <p:cNvSpPr/>
          <p:nvPr/>
        </p:nvSpPr>
        <p:spPr>
          <a:xfrm>
            <a:off x="3922776" y="1755648"/>
            <a:ext cx="164592" cy="164592"/>
          </a:xfrm>
          <a:prstGeom prst="ellipse">
            <a:avLst/>
          </a:prstGeom>
          <a:solidFill>
            <a:srgbClr val="D89A12"/>
          </a:solidFill>
          <a:ln/>
        </p:spPr>
      </p:sp>
      <p:sp>
        <p:nvSpPr>
          <p:cNvPr id="16" name="Text 11"/>
          <p:cNvSpPr/>
          <p:nvPr/>
        </p:nvSpPr>
        <p:spPr>
          <a:xfrm>
            <a:off x="3465576"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Twin payload contract v1 — business logic out of the client</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Web viewer alpha on one room template</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Draft VPAT + SSO wiring on the web track</a:t>
            </a:r>
            <a:endParaRPr lang="en-US" sz="960" dirty="0"/>
          </a:p>
        </p:txBody>
      </p:sp>
      <p:pic>
        <p:nvPicPr>
          <p:cNvPr id="17" name="Image 3" descr="preencoded.png"/>
          <p:cNvPicPr>
            <a:picLocks noChangeAspect="1"/>
          </p:cNvPicPr>
          <p:nvPr/>
        </p:nvPicPr>
        <p:blipFill>
          <a:blip r:embed="rId4"/>
          <a:stretch>
            <a:fillRect/>
          </a:stretch>
        </p:blipFill>
        <p:spPr>
          <a:xfrm>
            <a:off x="5916168" y="2468880"/>
            <a:ext cx="237744" cy="237744"/>
          </a:xfrm>
          <a:prstGeom prst="rect">
            <a:avLst/>
          </a:prstGeom>
        </p:spPr>
      </p:pic>
      <p:sp>
        <p:nvSpPr>
          <p:cNvPr id="18" name="Shape 12"/>
          <p:cNvSpPr/>
          <p:nvPr/>
        </p:nvSpPr>
        <p:spPr>
          <a:xfrm>
            <a:off x="6071616"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19" name="Text 13"/>
          <p:cNvSpPr/>
          <p:nvPr/>
        </p:nvSpPr>
        <p:spPr>
          <a:xfrm>
            <a:off x="6254496"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9–12 · PROVE</a:t>
            </a:r>
            <a:endParaRPr lang="en-US" sz="1100" dirty="0"/>
          </a:p>
        </p:txBody>
      </p:sp>
      <p:sp>
        <p:nvSpPr>
          <p:cNvPr id="20" name="Shape 14"/>
          <p:cNvSpPr/>
          <p:nvPr/>
        </p:nvSpPr>
        <p:spPr>
          <a:xfrm>
            <a:off x="6254496" y="1755648"/>
            <a:ext cx="164592" cy="164592"/>
          </a:xfrm>
          <a:prstGeom prst="ellipse">
            <a:avLst/>
          </a:prstGeom>
          <a:solidFill>
            <a:srgbClr val="D89A12"/>
          </a:solidFill>
          <a:ln/>
        </p:spPr>
      </p:sp>
      <p:pic>
        <p:nvPicPr>
          <p:cNvPr id="21" name="Image 4" descr="preencoded.png"/>
          <p:cNvPicPr>
            <a:picLocks noChangeAspect="1"/>
          </p:cNvPicPr>
          <p:nvPr/>
        </p:nvPicPr>
        <p:blipFill>
          <a:blip r:embed="rId5"/>
          <a:stretch>
            <a:fillRect/>
          </a:stretch>
        </p:blipFill>
        <p:spPr>
          <a:xfrm>
            <a:off x="6492240" y="1755648"/>
            <a:ext cx="164592" cy="164592"/>
          </a:xfrm>
          <a:prstGeom prst="rect">
            <a:avLst/>
          </a:prstGeom>
        </p:spPr>
      </p:pic>
      <p:sp>
        <p:nvSpPr>
          <p:cNvPr id="22" name="Shape 15"/>
          <p:cNvSpPr/>
          <p:nvPr/>
        </p:nvSpPr>
        <p:spPr>
          <a:xfrm>
            <a:off x="6729984" y="1755648"/>
            <a:ext cx="164592" cy="164592"/>
          </a:xfrm>
          <a:prstGeom prst="ellipse">
            <a:avLst/>
          </a:prstGeom>
          <a:solidFill>
            <a:srgbClr val="1E7A4C"/>
          </a:solidFill>
          <a:ln/>
        </p:spPr>
      </p:sp>
      <p:sp>
        <p:nvSpPr>
          <p:cNvPr id="23" name="Text 16"/>
          <p:cNvSpPr/>
          <p:nvPr/>
        </p:nvSpPr>
        <p:spPr>
          <a:xfrm>
            <a:off x="6272784"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Web-track beta with the design partner</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Deep links + IFC / COBie export v1</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Two-user co-edit demo; scorecard line goes live</a:t>
            </a:r>
            <a:endParaRPr lang="en-US" sz="960" dirty="0"/>
          </a:p>
        </p:txBody>
      </p:sp>
      <p:sp>
        <p:nvSpPr>
          <p:cNvPr id="24" name="Shape 17"/>
          <p:cNvSpPr/>
          <p:nvPr/>
        </p:nvSpPr>
        <p:spPr>
          <a:xfrm>
            <a:off x="457200" y="4133088"/>
            <a:ext cx="8229600" cy="713232"/>
          </a:xfrm>
          <a:prstGeom prst="roundRect">
            <a:avLst>
              <a:gd name="adj" fmla="val 8974"/>
            </a:avLst>
          </a:prstGeom>
          <a:solidFill>
            <a:srgbClr val="16263F"/>
          </a:solidFill>
          <a:ln/>
          <a:effectLst>
            <a:outerShdw sx="100000" sy="100000" kx="0" ky="0" algn="bl" rotWithShape="0" blurRad="88900" dist="25400" dir="2700000">
              <a:srgbClr val="000000">
                <a:alpha val="14000"/>
              </a:srgbClr>
            </a:outerShdw>
          </a:effectLst>
        </p:spPr>
      </p:sp>
      <p:sp>
        <p:nvSpPr>
          <p:cNvPr id="25" name="Text 18"/>
          <p:cNvSpPr/>
          <p:nvPr/>
        </p:nvSpPr>
        <p:spPr>
          <a:xfrm>
            <a:off x="713232" y="4206240"/>
            <a:ext cx="7772400" cy="566928"/>
          </a:xfrm>
          <a:prstGeom prst="rect">
            <a:avLst/>
          </a:prstGeom>
          <a:noFill/>
          <a:ln/>
        </p:spPr>
        <p:txBody>
          <a:bodyPr wrap="square" lIns="0" tIns="0" rIns="0" bIns="0" rtlCol="0" anchor="ctr"/>
          <a:lstStyle/>
          <a:p>
            <a:pPr indent="0" marL="0">
              <a:buNone/>
            </a:pPr>
            <a:r>
              <a:rPr lang="en-US" sz="1100" b="1" dirty="0">
                <a:solidFill>
                  <a:srgbClr val="E8A816"/>
                </a:solidFill>
                <a:latin typeface="Calibri" pitchFamily="34" charset="0"/>
                <a:ea typeface="Calibri" pitchFamily="34" charset="-122"/>
                <a:cs typeface="Calibri" pitchFamily="34" charset="-120"/>
              </a:rPr>
              <a:t>GREEN means:  </a:t>
            </a:r>
            <a:pPr indent="0" marL="0">
              <a:buNone/>
            </a:pPr>
            <a:r>
              <a:rPr lang="en-US" sz="1100" dirty="0">
                <a:solidFill>
                  <a:srgbClr val="FFFFFF"/>
                </a:solidFill>
                <a:latin typeface="Calibri" pitchFamily="34" charset="0"/>
                <a:ea typeface="Calibri" pitchFamily="34" charset="-122"/>
                <a:cs typeface="Calibri" pitchFamily="34" charset="-120"/>
              </a:rPr>
              <a:t>the viewer / approver journey runs in a managed browser on a GPU-less endpoint, WCAG-conformant, at or under target cost per seat — with Unity authoring untouched.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RUNTIME ARCHITECTURE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Thin-state client · edge content · regional brain</a:t>
            </a:r>
            <a:endParaRPr lang="en-US" sz="2800" dirty="0"/>
          </a:p>
        </p:txBody>
      </p:sp>
      <p:sp>
        <p:nvSpPr>
          <p:cNvPr id="4" name="Shape 2"/>
          <p:cNvSpPr/>
          <p:nvPr/>
        </p:nvSpPr>
        <p:spPr>
          <a:xfrm>
            <a:off x="457200" y="1207008"/>
            <a:ext cx="2624328" cy="1371600"/>
          </a:xfrm>
          <a:prstGeom prst="roundRect">
            <a:avLst>
              <a:gd name="adj" fmla="val 4000"/>
            </a:avLst>
          </a:prstGeom>
          <a:solidFill>
            <a:srgbClr val="16263F"/>
          </a:solidFill>
          <a:ln/>
          <a:effectLst>
            <a:outerShdw sx="100000" sy="100000" kx="0" ky="0" algn="bl" rotWithShape="0" blurRad="88900" dist="25400" dir="2700000">
              <a:srgbClr val="000000">
                <a:alpha val="14000"/>
              </a:srgbClr>
            </a:outerShdw>
          </a:effectLst>
        </p:spPr>
      </p:sp>
      <p:sp>
        <p:nvSpPr>
          <p:cNvPr id="5" name="Shape 3"/>
          <p:cNvSpPr/>
          <p:nvPr/>
        </p:nvSpPr>
        <p:spPr>
          <a:xfrm>
            <a:off x="603504" y="1335024"/>
            <a:ext cx="329184" cy="329184"/>
          </a:xfrm>
          <a:prstGeom prst="ellipse">
            <a:avLst/>
          </a:prstGeom>
          <a:solidFill>
            <a:srgbClr val="23375A"/>
          </a:solidFill>
          <a:ln/>
        </p:spPr>
      </p:sp>
      <p:pic>
        <p:nvPicPr>
          <p:cNvPr id="6" name="Image 0" descr="preencoded.png"/>
          <p:cNvPicPr>
            <a:picLocks noChangeAspect="1"/>
          </p:cNvPicPr>
          <p:nvPr/>
        </p:nvPicPr>
        <p:blipFill>
          <a:blip r:embed="rId1"/>
          <a:stretch>
            <a:fillRect/>
          </a:stretch>
        </p:blipFill>
        <p:spPr>
          <a:xfrm>
            <a:off x="689092" y="1420612"/>
            <a:ext cx="158008" cy="158008"/>
          </a:xfrm>
          <a:prstGeom prst="rect">
            <a:avLst/>
          </a:prstGeom>
        </p:spPr>
      </p:pic>
      <p:sp>
        <p:nvSpPr>
          <p:cNvPr id="7" name="Text 4"/>
          <p:cNvSpPr/>
          <p:nvPr/>
        </p:nvSpPr>
        <p:spPr>
          <a:xfrm>
            <a:off x="1005840" y="1344168"/>
            <a:ext cx="20116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UNITY CLIENT — the GPU</a:t>
            </a:r>
            <a:endParaRPr lang="en-US" sz="1050" dirty="0"/>
          </a:p>
        </p:txBody>
      </p:sp>
      <p:sp>
        <p:nvSpPr>
          <p:cNvPr id="8" name="Text 5"/>
          <p:cNvSpPr/>
          <p:nvPr/>
        </p:nvSpPr>
        <p:spPr>
          <a:xfrm>
            <a:off x="621792"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Rich rendering: culling, LOD, instancing, selection, XR</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Zero domain truth — ephemeral view state only</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Emits intents; renders versioned twin payloads</a:t>
            </a:r>
            <a:endParaRPr lang="en-US" sz="860" dirty="0"/>
          </a:p>
        </p:txBody>
      </p:sp>
      <p:pic>
        <p:nvPicPr>
          <p:cNvPr id="9" name="Image 1" descr="preencoded.png"/>
          <p:cNvPicPr>
            <a:picLocks noChangeAspect="1"/>
          </p:cNvPicPr>
          <p:nvPr/>
        </p:nvPicPr>
        <p:blipFill>
          <a:blip r:embed="rId2"/>
          <a:stretch>
            <a:fillRect/>
          </a:stretch>
        </p:blipFill>
        <p:spPr>
          <a:xfrm>
            <a:off x="3099816" y="1783080"/>
            <a:ext cx="219456" cy="219456"/>
          </a:xfrm>
          <a:prstGeom prst="rect">
            <a:avLst/>
          </a:prstGeom>
        </p:spPr>
      </p:pic>
      <p:sp>
        <p:nvSpPr>
          <p:cNvPr id="10" name="Shape 6"/>
          <p:cNvSpPr/>
          <p:nvPr/>
        </p:nvSpPr>
        <p:spPr>
          <a:xfrm>
            <a:off x="3264408" y="1207008"/>
            <a:ext cx="2624328" cy="1371600"/>
          </a:xfrm>
          <a:prstGeom prst="roundRect">
            <a:avLst>
              <a:gd name="adj" fmla="val 4000"/>
            </a:avLst>
          </a:prstGeom>
          <a:solidFill>
            <a:srgbClr val="FBF2DC"/>
          </a:solidFill>
          <a:ln/>
          <a:effectLst>
            <a:outerShdw sx="100000" sy="100000" kx="0" ky="0" algn="bl" rotWithShape="0" blurRad="88900" dist="25400" dir="2700000">
              <a:srgbClr val="000000">
                <a:alpha val="14000"/>
              </a:srgbClr>
            </a:outerShdw>
          </a:effectLst>
        </p:spPr>
      </p:sp>
      <p:sp>
        <p:nvSpPr>
          <p:cNvPr id="11" name="Shape 7"/>
          <p:cNvSpPr/>
          <p:nvPr/>
        </p:nvSpPr>
        <p:spPr>
          <a:xfrm>
            <a:off x="3410712" y="1335024"/>
            <a:ext cx="329184" cy="329184"/>
          </a:xfrm>
          <a:prstGeom prst="ellipse">
            <a:avLst/>
          </a:prstGeom>
          <a:solidFill>
            <a:srgbClr val="E8A816"/>
          </a:solidFill>
          <a:ln/>
        </p:spPr>
      </p:sp>
      <p:pic>
        <p:nvPicPr>
          <p:cNvPr id="12" name="Image 2" descr="preencoded.png"/>
          <p:cNvPicPr>
            <a:picLocks noChangeAspect="1"/>
          </p:cNvPicPr>
          <p:nvPr/>
        </p:nvPicPr>
        <p:blipFill>
          <a:blip r:embed="rId3"/>
          <a:stretch>
            <a:fillRect/>
          </a:stretch>
        </p:blipFill>
        <p:spPr>
          <a:xfrm>
            <a:off x="3496300" y="1420612"/>
            <a:ext cx="158008" cy="158008"/>
          </a:xfrm>
          <a:prstGeom prst="rect">
            <a:avLst/>
          </a:prstGeom>
        </p:spPr>
      </p:pic>
      <p:sp>
        <p:nvSpPr>
          <p:cNvPr id="13" name="Text 8"/>
          <p:cNvSpPr/>
          <p:nvPr/>
        </p:nvSpPr>
        <p:spPr>
          <a:xfrm>
            <a:off x="3813048" y="1344168"/>
            <a:ext cx="2011680" cy="310896"/>
          </a:xfrm>
          <a:prstGeom prst="rect">
            <a:avLst/>
          </a:prstGeom>
          <a:noFill/>
          <a:ln/>
        </p:spPr>
        <p:txBody>
          <a:bodyPr wrap="square" lIns="0" tIns="0" rIns="0" bIns="0" rtlCol="0" anchor="ctr"/>
          <a:lstStyle/>
          <a:p>
            <a:pPr indent="0" marL="0">
              <a:buNone/>
            </a:pPr>
            <a:r>
              <a:rPr lang="en-US" sz="1050" b="1" dirty="0">
                <a:solidFill>
                  <a:srgbClr val="16263F"/>
                </a:solidFill>
                <a:latin typeface="Calibri" pitchFamily="34" charset="0"/>
                <a:ea typeface="Calibri" pitchFamily="34" charset="-122"/>
                <a:cs typeface="Calibri" pitchFamily="34" charset="-120"/>
              </a:rPr>
              <a:t>EDGE — the bytes</a:t>
            </a:r>
            <a:endParaRPr lang="en-US" sz="1050" dirty="0"/>
          </a:p>
        </p:txBody>
      </p:sp>
      <p:sp>
        <p:nvSpPr>
          <p:cNvPr id="14" name="Text 9"/>
          <p:cNvSpPr/>
          <p:nvPr/>
        </p:nvSpPr>
        <p:spPr>
          <a:xfrm>
            <a:off x="3429000"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Content-addressed glTF / USD bundles on CDN (immutable, cache-forever)</a:t>
            </a:r>
            <a:endParaRPr lang="en-US" sz="860" dirty="0"/>
          </a:p>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Snapshot + delta stream from regional read replicas</a:t>
            </a:r>
            <a:endParaRPr lang="en-US" sz="860" dirty="0"/>
          </a:p>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Jobsite node: offline-first viewer + local validation, syncs when the link is up</a:t>
            </a:r>
            <a:endParaRPr lang="en-US" sz="860" dirty="0"/>
          </a:p>
        </p:txBody>
      </p:sp>
      <p:pic>
        <p:nvPicPr>
          <p:cNvPr id="15" name="Image 3" descr="preencoded.png"/>
          <p:cNvPicPr>
            <a:picLocks noChangeAspect="1"/>
          </p:cNvPicPr>
          <p:nvPr/>
        </p:nvPicPr>
        <p:blipFill>
          <a:blip r:embed="rId4"/>
          <a:stretch>
            <a:fillRect/>
          </a:stretch>
        </p:blipFill>
        <p:spPr>
          <a:xfrm>
            <a:off x="5907024" y="1783080"/>
            <a:ext cx="219456" cy="219456"/>
          </a:xfrm>
          <a:prstGeom prst="rect">
            <a:avLst/>
          </a:prstGeom>
        </p:spPr>
      </p:pic>
      <p:sp>
        <p:nvSpPr>
          <p:cNvPr id="16" name="Shape 10"/>
          <p:cNvSpPr/>
          <p:nvPr/>
        </p:nvSpPr>
        <p:spPr>
          <a:xfrm>
            <a:off x="6071616" y="1207008"/>
            <a:ext cx="2624328" cy="1371600"/>
          </a:xfrm>
          <a:prstGeom prst="roundRect">
            <a:avLst>
              <a:gd name="adj" fmla="val 4000"/>
            </a:avLst>
          </a:prstGeom>
          <a:solidFill>
            <a:srgbClr val="23375A"/>
          </a:solidFill>
          <a:ln/>
          <a:effectLst>
            <a:outerShdw sx="100000" sy="100000" kx="0" ky="0" algn="bl" rotWithShape="0" blurRad="88900" dist="25400" dir="2700000">
              <a:srgbClr val="000000">
                <a:alpha val="14000"/>
              </a:srgbClr>
            </a:outerShdw>
          </a:effectLst>
        </p:spPr>
      </p:sp>
      <p:sp>
        <p:nvSpPr>
          <p:cNvPr id="17" name="Shape 11"/>
          <p:cNvSpPr/>
          <p:nvPr/>
        </p:nvSpPr>
        <p:spPr>
          <a:xfrm>
            <a:off x="6217920" y="1335024"/>
            <a:ext cx="329184" cy="329184"/>
          </a:xfrm>
          <a:prstGeom prst="ellipse">
            <a:avLst/>
          </a:prstGeom>
          <a:solidFill>
            <a:srgbClr val="16263F"/>
          </a:solidFill>
          <a:ln/>
        </p:spPr>
      </p:sp>
      <p:pic>
        <p:nvPicPr>
          <p:cNvPr id="18" name="Image 4" descr="preencoded.png"/>
          <p:cNvPicPr>
            <a:picLocks noChangeAspect="1"/>
          </p:cNvPicPr>
          <p:nvPr/>
        </p:nvPicPr>
        <p:blipFill>
          <a:blip r:embed="rId5"/>
          <a:stretch>
            <a:fillRect/>
          </a:stretch>
        </p:blipFill>
        <p:spPr>
          <a:xfrm>
            <a:off x="6303508" y="1420612"/>
            <a:ext cx="158008" cy="158008"/>
          </a:xfrm>
          <a:prstGeom prst="rect">
            <a:avLst/>
          </a:prstGeom>
        </p:spPr>
      </p:pic>
      <p:sp>
        <p:nvSpPr>
          <p:cNvPr id="19" name="Text 12"/>
          <p:cNvSpPr/>
          <p:nvPr/>
        </p:nvSpPr>
        <p:spPr>
          <a:xfrm>
            <a:off x="6620256" y="1344168"/>
            <a:ext cx="20116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REGIONAL BRAIN — the truth</a:t>
            </a:r>
            <a:endParaRPr lang="en-US" sz="1050" dirty="0"/>
          </a:p>
        </p:txBody>
      </p:sp>
      <p:sp>
        <p:nvSpPr>
          <p:cNvPr id="20" name="Text 13"/>
          <p:cNvSpPr/>
          <p:nvPr/>
        </p:nvSpPr>
        <p:spPr>
          <a:xfrm>
            <a:off x="6236208"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Event-sourced Twin API: commands in, events out</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Knowledge graph + vector retrieval co-located</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Local-first LLM serving + flywheel — inference stays with the data</a:t>
            </a:r>
            <a:endParaRPr lang="en-US" sz="86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548640"/>
                <a:gridCol w="1051560"/>
                <a:gridCol w="3246120"/>
                <a:gridCol w="3383280"/>
              </a:tblGrid>
              <a:tr h="3474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Budget</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Mechanism</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lives here</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T0</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&lt; 16 ms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Never networked — pure Unity</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Camera, hover, selection, drag preview</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T1</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50–150 ms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Optimistic + edge confirm — snaps instantly, certifies asynchronously</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Placement validated against a cached rule subset; authoritative verdict replaces the provisional one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T2</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Seconds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Streamed, non-blocking overlays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AI proposals, GraphRAG answers with citations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T3</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Minutes–hours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Durable workflows; client re-syncs on resume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HITL approval, flywheel delta capture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bl>
          </a:graphicData>
        </a:graphic>
      </p:graphicFrame>
      <p:sp>
        <p:nvSpPr>
          <p:cNvPr id="22" name="Text 14"/>
          <p:cNvSpPr/>
          <p:nvPr/>
        </p:nvSpPr>
        <p:spPr>
          <a:xfrm>
            <a:off x="457200" y="4645152"/>
            <a:ext cx="8229600" cy="310896"/>
          </a:xfrm>
          <a:prstGeom prst="rect">
            <a:avLst/>
          </a:prstGeom>
          <a:noFill/>
          <a:ln/>
        </p:spPr>
        <p:txBody>
          <a:bodyPr wrap="square" lIns="0" tIns="0" rIns="0" bIns="0" rtlCol="0" anchor="ctr"/>
          <a:lstStyle/>
          <a:p>
            <a:pPr algn="ctr" indent="0" marL="0">
              <a:buNone/>
            </a:pPr>
            <a:r>
              <a:rPr lang="en-US" sz="1300" b="1" i="1" dirty="0">
                <a:solidFill>
                  <a:srgbClr val="C78F0D"/>
                </a:solidFill>
                <a:latin typeface="Cambria" pitchFamily="34" charset="0"/>
                <a:ea typeface="Cambria" pitchFamily="34" charset="-122"/>
                <a:cs typeface="Cambria" pitchFamily="34" charset="-120"/>
              </a:rPr>
              <a:t>“Unity becomes the GPU. The twin holds the truth. The edge carries the bytes. The brain stays where the data is.”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050" b="1" spc="300" kern="0" dirty="0">
                <a:solidFill>
                  <a:srgbClr val="C9952F"/>
                </a:solidFill>
                <a:latin typeface="Calibri" pitchFamily="34" charset="0"/>
                <a:ea typeface="Calibri" pitchFamily="34" charset="-122"/>
                <a:cs typeface="Calibri" pitchFamily="34" charset="-120"/>
              </a:rPr>
              <a:t>THE STAKES — WHY AN SDE, NOT JUST A PROCESS</a:t>
            </a:r>
            <a:endParaRPr lang="en-US" sz="1050" dirty="0"/>
          </a:p>
        </p:txBody>
      </p:sp>
      <p:sp>
        <p:nvSpPr>
          <p:cNvPr id="3" name="Text 1"/>
          <p:cNvSpPr/>
          <p:nvPr/>
        </p:nvSpPr>
        <p:spPr>
          <a:xfrm>
            <a:off x="502920" y="548640"/>
            <a:ext cx="8229600" cy="548640"/>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What's actually bleeding</a:t>
            </a:r>
            <a:endParaRPr lang="en-US" sz="2800" dirty="0"/>
          </a:p>
        </p:txBody>
      </p:sp>
      <p:sp>
        <p:nvSpPr>
          <p:cNvPr id="4" name="Shape 2"/>
          <p:cNvSpPr/>
          <p:nvPr/>
        </p:nvSpPr>
        <p:spPr>
          <a:xfrm>
            <a:off x="365760" y="1325880"/>
            <a:ext cx="1993392" cy="2697480"/>
          </a:xfrm>
          <a:prstGeom prst="roundRect">
            <a:avLst>
              <a:gd name="adj" fmla="val 367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566928" y="1536192"/>
            <a:ext cx="384048" cy="384048"/>
          </a:xfrm>
          <a:prstGeom prst="ellipse">
            <a:avLst/>
          </a:prstGeom>
          <a:solidFill>
            <a:srgbClr val="B23A3A"/>
          </a:solidFill>
          <a:ln w="12700">
            <a:solidFill>
              <a:srgbClr val="B23A3A"/>
            </a:solidFill>
            <a:prstDash val="solid"/>
          </a:ln>
        </p:spPr>
      </p:sp>
      <p:sp>
        <p:nvSpPr>
          <p:cNvPr id="6" name="Text 4"/>
          <p:cNvSpPr/>
          <p:nvPr/>
        </p:nvSpPr>
        <p:spPr>
          <a:xfrm>
            <a:off x="566928" y="1536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48640" y="2084832"/>
            <a:ext cx="1664208" cy="603504"/>
          </a:xfrm>
          <a:prstGeom prst="rect">
            <a:avLst/>
          </a:prstGeom>
          <a:noFill/>
          <a:ln/>
        </p:spPr>
        <p:txBody>
          <a:bodyPr wrap="square" lIns="0" tIns="0" rIns="0" bIns="0" rtlCol="0" anchor="t"/>
          <a:lstStyle/>
          <a:p>
            <a:pPr indent="0" marL="0">
              <a:buNone/>
            </a:pPr>
            <a:r>
              <a:rPr lang="en-US" sz="1300" b="1" dirty="0">
                <a:solidFill>
                  <a:srgbClr val="16263F"/>
                </a:solidFill>
                <a:latin typeface="Calibri" pitchFamily="34" charset="0"/>
                <a:ea typeface="Calibri" pitchFamily="34" charset="-122"/>
                <a:cs typeface="Calibri" pitchFamily="34" charset="-120"/>
              </a:rPr>
              <a:t>No paying customers</a:t>
            </a:r>
            <a:endParaRPr lang="en-US" sz="1300" dirty="0"/>
          </a:p>
        </p:txBody>
      </p:sp>
      <p:sp>
        <p:nvSpPr>
          <p:cNvPr id="8" name="Text 6"/>
          <p:cNvSpPr/>
          <p:nvPr/>
        </p:nvSpPr>
        <p:spPr>
          <a:xfrm>
            <a:off x="548640" y="2706624"/>
            <a:ext cx="1664208" cy="1188720"/>
          </a:xfrm>
          <a:prstGeom prst="rect">
            <a:avLst/>
          </a:prstGeom>
          <a:noFill/>
          <a:ln/>
        </p:spPr>
        <p:txBody>
          <a:bodyPr wrap="square" lIns="0" tIns="0" rIns="0" bIns="0" rtlCol="0" anchor="t"/>
          <a:lstStyle/>
          <a:p>
            <a:pPr indent="0" marL="0">
              <a:buNone/>
            </a:pPr>
            <a:r>
              <a:rPr lang="en-US" sz="1000" dirty="0">
                <a:solidFill>
                  <a:srgbClr val="5B6B7E"/>
                </a:solidFill>
                <a:latin typeface="Calibri" pitchFamily="34" charset="0"/>
                <a:ea typeface="Calibri" pitchFamily="34" charset="-122"/>
                <a:cs typeface="Calibri" pitchFamily="34" charset="-120"/>
              </a:rPr>
              <a:t>The product hasn't reached a revenue-able, shippable state.</a:t>
            </a:r>
            <a:endParaRPr lang="en-US" sz="1000" dirty="0"/>
          </a:p>
        </p:txBody>
      </p:sp>
      <p:sp>
        <p:nvSpPr>
          <p:cNvPr id="9" name="Shape 7"/>
          <p:cNvSpPr/>
          <p:nvPr/>
        </p:nvSpPr>
        <p:spPr>
          <a:xfrm>
            <a:off x="2487168" y="1325880"/>
            <a:ext cx="1993392" cy="2697480"/>
          </a:xfrm>
          <a:prstGeom prst="roundRect">
            <a:avLst>
              <a:gd name="adj" fmla="val 367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10" name="Shape 8"/>
          <p:cNvSpPr/>
          <p:nvPr/>
        </p:nvSpPr>
        <p:spPr>
          <a:xfrm>
            <a:off x="2688336" y="1536192"/>
            <a:ext cx="384048" cy="384048"/>
          </a:xfrm>
          <a:prstGeom prst="ellipse">
            <a:avLst/>
          </a:prstGeom>
          <a:solidFill>
            <a:srgbClr val="B23A3A"/>
          </a:solidFill>
          <a:ln w="12700">
            <a:solidFill>
              <a:srgbClr val="B23A3A"/>
            </a:solidFill>
            <a:prstDash val="solid"/>
          </a:ln>
        </p:spPr>
      </p:sp>
      <p:sp>
        <p:nvSpPr>
          <p:cNvPr id="11" name="Text 9"/>
          <p:cNvSpPr/>
          <p:nvPr/>
        </p:nvSpPr>
        <p:spPr>
          <a:xfrm>
            <a:off x="2688336" y="1536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670048" y="2084832"/>
            <a:ext cx="1664208" cy="603504"/>
          </a:xfrm>
          <a:prstGeom prst="rect">
            <a:avLst/>
          </a:prstGeom>
          <a:noFill/>
          <a:ln/>
        </p:spPr>
        <p:txBody>
          <a:bodyPr wrap="square" lIns="0" tIns="0" rIns="0" bIns="0" rtlCol="0" anchor="t"/>
          <a:lstStyle/>
          <a:p>
            <a:pPr indent="0" marL="0">
              <a:buNone/>
            </a:pPr>
            <a:r>
              <a:rPr lang="en-US" sz="1300" b="1" dirty="0">
                <a:solidFill>
                  <a:srgbClr val="16263F"/>
                </a:solidFill>
                <a:latin typeface="Calibri" pitchFamily="34" charset="0"/>
                <a:ea typeface="Calibri" pitchFamily="34" charset="-122"/>
                <a:cs typeface="Calibri" pitchFamily="34" charset="-120"/>
              </a:rPr>
              <a:t>E2E flow is broken</a:t>
            </a:r>
            <a:endParaRPr lang="en-US" sz="1300" dirty="0"/>
          </a:p>
        </p:txBody>
      </p:sp>
      <p:sp>
        <p:nvSpPr>
          <p:cNvPr id="13" name="Text 11"/>
          <p:cNvSpPr/>
          <p:nvPr/>
        </p:nvSpPr>
        <p:spPr>
          <a:xfrm>
            <a:off x="2670048" y="2706624"/>
            <a:ext cx="1664208" cy="1188720"/>
          </a:xfrm>
          <a:prstGeom prst="rect">
            <a:avLst/>
          </a:prstGeom>
          <a:noFill/>
          <a:ln/>
        </p:spPr>
        <p:txBody>
          <a:bodyPr wrap="square" lIns="0" tIns="0" rIns="0" bIns="0" rtlCol="0" anchor="t"/>
          <a:lstStyle/>
          <a:p>
            <a:pPr indent="0" marL="0">
              <a:buNone/>
            </a:pPr>
            <a:r>
              <a:rPr lang="en-US" sz="1000" dirty="0">
                <a:solidFill>
                  <a:srgbClr val="5B6B7E"/>
                </a:solidFill>
                <a:latin typeface="Calibri" pitchFamily="34" charset="0"/>
                <a:ea typeface="Calibri" pitchFamily="34" charset="-122"/>
                <a:cs typeface="Calibri" pitchFamily="34" charset="-120"/>
              </a:rPr>
              <a:t>Features don't complete a full, testable end-to-end path.</a:t>
            </a:r>
            <a:endParaRPr lang="en-US" sz="1000" dirty="0"/>
          </a:p>
        </p:txBody>
      </p:sp>
      <p:sp>
        <p:nvSpPr>
          <p:cNvPr id="14" name="Shape 12"/>
          <p:cNvSpPr/>
          <p:nvPr/>
        </p:nvSpPr>
        <p:spPr>
          <a:xfrm>
            <a:off x="4608576" y="1325880"/>
            <a:ext cx="1993392" cy="2697480"/>
          </a:xfrm>
          <a:prstGeom prst="roundRect">
            <a:avLst>
              <a:gd name="adj" fmla="val 367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15" name="Shape 13"/>
          <p:cNvSpPr/>
          <p:nvPr/>
        </p:nvSpPr>
        <p:spPr>
          <a:xfrm>
            <a:off x="4809744" y="1536192"/>
            <a:ext cx="384048" cy="384048"/>
          </a:xfrm>
          <a:prstGeom prst="ellipse">
            <a:avLst/>
          </a:prstGeom>
          <a:solidFill>
            <a:srgbClr val="B23A3A"/>
          </a:solidFill>
          <a:ln w="12700">
            <a:solidFill>
              <a:srgbClr val="B23A3A"/>
            </a:solidFill>
            <a:prstDash val="solid"/>
          </a:ln>
        </p:spPr>
      </p:sp>
      <p:sp>
        <p:nvSpPr>
          <p:cNvPr id="16" name="Text 14"/>
          <p:cNvSpPr/>
          <p:nvPr/>
        </p:nvSpPr>
        <p:spPr>
          <a:xfrm>
            <a:off x="4809744" y="1536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4791456" y="2084832"/>
            <a:ext cx="1664208" cy="603504"/>
          </a:xfrm>
          <a:prstGeom prst="rect">
            <a:avLst/>
          </a:prstGeom>
          <a:noFill/>
          <a:ln/>
        </p:spPr>
        <p:txBody>
          <a:bodyPr wrap="square" lIns="0" tIns="0" rIns="0" bIns="0" rtlCol="0" anchor="t"/>
          <a:lstStyle/>
          <a:p>
            <a:pPr indent="0" marL="0">
              <a:buNone/>
            </a:pPr>
            <a:r>
              <a:rPr lang="en-US" sz="1300" b="1" dirty="0">
                <a:solidFill>
                  <a:srgbClr val="16263F"/>
                </a:solidFill>
                <a:latin typeface="Calibri" pitchFamily="34" charset="0"/>
                <a:ea typeface="Calibri" pitchFamily="34" charset="-122"/>
                <a:cs typeface="Calibri" pitchFamily="34" charset="-120"/>
              </a:rPr>
              <a:t>Doesn't scale</a:t>
            </a:r>
            <a:endParaRPr lang="en-US" sz="1300" dirty="0"/>
          </a:p>
        </p:txBody>
      </p:sp>
      <p:sp>
        <p:nvSpPr>
          <p:cNvPr id="18" name="Text 16"/>
          <p:cNvSpPr/>
          <p:nvPr/>
        </p:nvSpPr>
        <p:spPr>
          <a:xfrm>
            <a:off x="4791456" y="2706624"/>
            <a:ext cx="1664208" cy="1188720"/>
          </a:xfrm>
          <a:prstGeom prst="rect">
            <a:avLst/>
          </a:prstGeom>
          <a:noFill/>
          <a:ln/>
        </p:spPr>
        <p:txBody>
          <a:bodyPr wrap="square" lIns="0" tIns="0" rIns="0" bIns="0" rtlCol="0" anchor="t"/>
          <a:lstStyle/>
          <a:p>
            <a:pPr indent="0" marL="0">
              <a:buNone/>
            </a:pPr>
            <a:r>
              <a:rPr lang="en-US" sz="1000" dirty="0">
                <a:solidFill>
                  <a:srgbClr val="5B6B7E"/>
                </a:solidFill>
                <a:latin typeface="Calibri" pitchFamily="34" charset="0"/>
                <a:ea typeface="Calibri" pitchFamily="34" charset="-122"/>
                <a:cs typeface="Calibri" pitchFamily="34" charset="-120"/>
              </a:rPr>
              <a:t>The architecture won't carry production load or growth.</a:t>
            </a:r>
            <a:endParaRPr lang="en-US" sz="1000" dirty="0"/>
          </a:p>
        </p:txBody>
      </p:sp>
      <p:sp>
        <p:nvSpPr>
          <p:cNvPr id="19" name="Shape 17"/>
          <p:cNvSpPr/>
          <p:nvPr/>
        </p:nvSpPr>
        <p:spPr>
          <a:xfrm>
            <a:off x="6729984" y="1325880"/>
            <a:ext cx="1993392" cy="2697480"/>
          </a:xfrm>
          <a:prstGeom prst="roundRect">
            <a:avLst>
              <a:gd name="adj" fmla="val 367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20" name="Shape 18"/>
          <p:cNvSpPr/>
          <p:nvPr/>
        </p:nvSpPr>
        <p:spPr>
          <a:xfrm>
            <a:off x="6931152" y="1536192"/>
            <a:ext cx="384048" cy="384048"/>
          </a:xfrm>
          <a:prstGeom prst="ellipse">
            <a:avLst/>
          </a:prstGeom>
          <a:solidFill>
            <a:srgbClr val="B23A3A"/>
          </a:solidFill>
          <a:ln w="12700">
            <a:solidFill>
              <a:srgbClr val="B23A3A"/>
            </a:solidFill>
            <a:prstDash val="solid"/>
          </a:ln>
        </p:spPr>
      </p:sp>
      <p:sp>
        <p:nvSpPr>
          <p:cNvPr id="21" name="Text 19"/>
          <p:cNvSpPr/>
          <p:nvPr/>
        </p:nvSpPr>
        <p:spPr>
          <a:xfrm>
            <a:off x="6931152" y="1536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6912864" y="2084832"/>
            <a:ext cx="1664208" cy="603504"/>
          </a:xfrm>
          <a:prstGeom prst="rect">
            <a:avLst/>
          </a:prstGeom>
          <a:noFill/>
          <a:ln/>
        </p:spPr>
        <p:txBody>
          <a:bodyPr wrap="square" lIns="0" tIns="0" rIns="0" bIns="0" rtlCol="0" anchor="t"/>
          <a:lstStyle/>
          <a:p>
            <a:pPr indent="0" marL="0">
              <a:buNone/>
            </a:pPr>
            <a:r>
              <a:rPr lang="en-US" sz="1300" b="1" dirty="0">
                <a:solidFill>
                  <a:srgbClr val="16263F"/>
                </a:solidFill>
                <a:latin typeface="Calibri" pitchFamily="34" charset="0"/>
                <a:ea typeface="Calibri" pitchFamily="34" charset="-122"/>
                <a:cs typeface="Calibri" pitchFamily="34" charset="-120"/>
              </a:rPr>
              <a:t>No Path-to-Green</a:t>
            </a:r>
            <a:endParaRPr lang="en-US" sz="1300" dirty="0"/>
          </a:p>
        </p:txBody>
      </p:sp>
      <p:sp>
        <p:nvSpPr>
          <p:cNvPr id="23" name="Text 21"/>
          <p:cNvSpPr/>
          <p:nvPr/>
        </p:nvSpPr>
        <p:spPr>
          <a:xfrm>
            <a:off x="6912864" y="2706624"/>
            <a:ext cx="1664208" cy="1188720"/>
          </a:xfrm>
          <a:prstGeom prst="rect">
            <a:avLst/>
          </a:prstGeom>
          <a:noFill/>
          <a:ln/>
        </p:spPr>
        <p:txBody>
          <a:bodyPr wrap="square" lIns="0" tIns="0" rIns="0" bIns="0" rtlCol="0" anchor="t"/>
          <a:lstStyle/>
          <a:p>
            <a:pPr indent="0" marL="0">
              <a:buNone/>
            </a:pPr>
            <a:r>
              <a:rPr lang="en-US" sz="1000" dirty="0">
                <a:solidFill>
                  <a:srgbClr val="5B6B7E"/>
                </a:solidFill>
                <a:latin typeface="Calibri" pitchFamily="34" charset="0"/>
                <a:ea typeface="Calibri" pitchFamily="34" charset="-122"/>
                <a:cs typeface="Calibri" pitchFamily="34" charset="-120"/>
              </a:rPr>
              <a:t>Engineering and business are blocked, with no workable way out.</a:t>
            </a:r>
            <a:endParaRPr lang="en-US" sz="1000" dirty="0"/>
          </a:p>
        </p:txBody>
      </p:sp>
      <p:sp>
        <p:nvSpPr>
          <p:cNvPr id="24" name="Shape 22"/>
          <p:cNvSpPr/>
          <p:nvPr/>
        </p:nvSpPr>
        <p:spPr>
          <a:xfrm>
            <a:off x="365760" y="4425696"/>
            <a:ext cx="8412480" cy="603504"/>
          </a:xfrm>
          <a:prstGeom prst="roundRect">
            <a:avLst>
              <a:gd name="adj" fmla="val 10606"/>
            </a:avLst>
          </a:prstGeom>
          <a:solidFill>
            <a:srgbClr val="16263F"/>
          </a:solidFill>
          <a:ln/>
        </p:spPr>
      </p:sp>
      <p:sp>
        <p:nvSpPr>
          <p:cNvPr id="25" name="Shape 23"/>
          <p:cNvSpPr/>
          <p:nvPr/>
        </p:nvSpPr>
        <p:spPr>
          <a:xfrm>
            <a:off x="566928" y="4572000"/>
            <a:ext cx="310896" cy="310896"/>
          </a:xfrm>
          <a:prstGeom prst="ellipse">
            <a:avLst/>
          </a:prstGeom>
          <a:solidFill>
            <a:srgbClr val="E8A816"/>
          </a:solidFill>
          <a:ln w="12700">
            <a:solidFill>
              <a:srgbClr val="E8A816"/>
            </a:solidFill>
            <a:prstDash val="solid"/>
          </a:ln>
        </p:spPr>
      </p:sp>
      <p:sp>
        <p:nvSpPr>
          <p:cNvPr id="26" name="Text 24"/>
          <p:cNvSpPr/>
          <p:nvPr/>
        </p:nvSpPr>
        <p:spPr>
          <a:xfrm>
            <a:off x="1024128" y="4425696"/>
            <a:ext cx="7626096" cy="603504"/>
          </a:xfrm>
          <a:prstGeom prst="rect">
            <a:avLst/>
          </a:prstGeom>
          <a:noFill/>
          <a:ln/>
        </p:spPr>
        <p:txBody>
          <a:bodyPr wrap="square" lIns="0" tIns="0" rIns="0" bIns="0" rtlCol="0" anchor="ctr"/>
          <a:lstStyle/>
          <a:p>
            <a:pPr indent="0" marL="0">
              <a:buNone/>
            </a:pPr>
            <a:r>
              <a:rPr lang="en-US" sz="1000" dirty="0">
                <a:solidFill>
                  <a:srgbClr val="E7EEF7"/>
                </a:solidFill>
                <a:latin typeface="Calibri" pitchFamily="34" charset="0"/>
                <a:ea typeface="Calibri" pitchFamily="34" charset="-122"/>
                <a:cs typeface="Calibri" pitchFamily="34" charset="-120"/>
              </a:rPr>
              <a:t>StatusNeo's transformation fixes HOW we work — ownership, SDLC, velocity. These four bleed because of WHAT we've built. They're architecture problems — that's the rescue an SDE is for.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050" b="1" spc="300" kern="0" dirty="0">
                <a:solidFill>
                  <a:srgbClr val="C9952F"/>
                </a:solidFill>
                <a:latin typeface="Calibri" pitchFamily="34" charset="0"/>
                <a:ea typeface="Calibri" pitchFamily="34" charset="-122"/>
                <a:cs typeface="Calibri" pitchFamily="34" charset="-120"/>
              </a:rPr>
              <a:t>ROOT-CAUSE DIAGNOSIS</a:t>
            </a:r>
            <a:endParaRPr lang="en-US" sz="1050" dirty="0"/>
          </a:p>
        </p:txBody>
      </p:sp>
      <p:sp>
        <p:nvSpPr>
          <p:cNvPr id="3" name="Text 1"/>
          <p:cNvSpPr/>
          <p:nvPr/>
        </p:nvSpPr>
        <p:spPr>
          <a:xfrm>
            <a:off x="502920" y="548640"/>
            <a:ext cx="8229600" cy="548640"/>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Why it's bleeding: there is no spine</a:t>
            </a:r>
            <a:endParaRPr lang="en-US" sz="2800" dirty="0"/>
          </a:p>
        </p:txBody>
      </p:sp>
      <p:sp>
        <p:nvSpPr>
          <p:cNvPr id="4" name="Shape 2"/>
          <p:cNvSpPr/>
          <p:nvPr/>
        </p:nvSpPr>
        <p:spPr>
          <a:xfrm>
            <a:off x="365760" y="1371600"/>
            <a:ext cx="1965960" cy="603504"/>
          </a:xfrm>
          <a:prstGeom prst="roundRect">
            <a:avLst>
              <a:gd name="adj" fmla="val 9091"/>
            </a:avLst>
          </a:prstGeom>
          <a:solidFill>
            <a:srgbClr val="B23A3A"/>
          </a:solidFill>
          <a:ln w="12700">
            <a:solidFill>
              <a:srgbClr val="B23A3A"/>
            </a:solidFill>
            <a:prstDash val="solid"/>
          </a:ln>
        </p:spPr>
      </p:sp>
      <p:sp>
        <p:nvSpPr>
          <p:cNvPr id="5" name="Text 3"/>
          <p:cNvSpPr/>
          <p:nvPr/>
        </p:nvSpPr>
        <p:spPr>
          <a:xfrm>
            <a:off x="365760" y="1371600"/>
            <a:ext cx="196596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E2E broken</a:t>
            </a:r>
            <a:endParaRPr lang="en-US" sz="1250" dirty="0"/>
          </a:p>
        </p:txBody>
      </p:sp>
      <p:sp>
        <p:nvSpPr>
          <p:cNvPr id="6" name="Shape 4"/>
          <p:cNvSpPr/>
          <p:nvPr/>
        </p:nvSpPr>
        <p:spPr>
          <a:xfrm>
            <a:off x="2395728" y="1673352"/>
            <a:ext cx="182880" cy="0"/>
          </a:xfrm>
          <a:prstGeom prst="line">
            <a:avLst/>
          </a:prstGeom>
          <a:noFill/>
          <a:ln w="19050">
            <a:solidFill>
              <a:srgbClr val="5B6B7E"/>
            </a:solidFill>
            <a:prstDash val="solid"/>
            <a:tailEnd type="triangle"/>
          </a:ln>
        </p:spPr>
      </p:sp>
      <p:sp>
        <p:nvSpPr>
          <p:cNvPr id="7" name="Shape 5"/>
          <p:cNvSpPr/>
          <p:nvPr/>
        </p:nvSpPr>
        <p:spPr>
          <a:xfrm>
            <a:off x="2670048" y="1371600"/>
            <a:ext cx="6108192" cy="603504"/>
          </a:xfrm>
          <a:prstGeom prst="roundRect">
            <a:avLst>
              <a:gd name="adj" fmla="val 9091"/>
            </a:avLst>
          </a:prstGeom>
          <a:solidFill>
            <a:srgbClr val="F4F6FA"/>
          </a:solidFill>
          <a:ln w="12700">
            <a:solidFill>
              <a:srgbClr val="DCE3EC"/>
            </a:solidFill>
            <a:prstDash val="solid"/>
          </a:ln>
        </p:spPr>
      </p:sp>
      <p:sp>
        <p:nvSpPr>
          <p:cNvPr id="8" name="Text 6"/>
          <p:cNvSpPr/>
          <p:nvPr/>
        </p:nvSpPr>
        <p:spPr>
          <a:xfrm>
            <a:off x="2816352" y="1371600"/>
            <a:ext cx="5852160" cy="603504"/>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Domain truth lives in the Unity client; no deterministic contract between layers — so flows are non-deterministic and can't be tested headlessly.</a:t>
            </a:r>
            <a:endParaRPr lang="en-US" sz="1000" dirty="0"/>
          </a:p>
        </p:txBody>
      </p:sp>
      <p:sp>
        <p:nvSpPr>
          <p:cNvPr id="9" name="Shape 7"/>
          <p:cNvSpPr/>
          <p:nvPr/>
        </p:nvSpPr>
        <p:spPr>
          <a:xfrm>
            <a:off x="365760" y="2103120"/>
            <a:ext cx="1965960" cy="603504"/>
          </a:xfrm>
          <a:prstGeom prst="roundRect">
            <a:avLst>
              <a:gd name="adj" fmla="val 9091"/>
            </a:avLst>
          </a:prstGeom>
          <a:solidFill>
            <a:srgbClr val="B23A3A"/>
          </a:solidFill>
          <a:ln w="12700">
            <a:solidFill>
              <a:srgbClr val="B23A3A"/>
            </a:solidFill>
            <a:prstDash val="solid"/>
          </a:ln>
        </p:spPr>
      </p:sp>
      <p:sp>
        <p:nvSpPr>
          <p:cNvPr id="10" name="Text 8"/>
          <p:cNvSpPr/>
          <p:nvPr/>
        </p:nvSpPr>
        <p:spPr>
          <a:xfrm>
            <a:off x="365760" y="2103120"/>
            <a:ext cx="196596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Doesn't scale</a:t>
            </a:r>
            <a:endParaRPr lang="en-US" sz="1250" dirty="0"/>
          </a:p>
        </p:txBody>
      </p:sp>
      <p:sp>
        <p:nvSpPr>
          <p:cNvPr id="11" name="Shape 9"/>
          <p:cNvSpPr/>
          <p:nvPr/>
        </p:nvSpPr>
        <p:spPr>
          <a:xfrm>
            <a:off x="2395728" y="2404872"/>
            <a:ext cx="182880" cy="0"/>
          </a:xfrm>
          <a:prstGeom prst="line">
            <a:avLst/>
          </a:prstGeom>
          <a:noFill/>
          <a:ln w="19050">
            <a:solidFill>
              <a:srgbClr val="5B6B7E"/>
            </a:solidFill>
            <a:prstDash val="solid"/>
            <a:tailEnd type="triangle"/>
          </a:ln>
        </p:spPr>
      </p:sp>
      <p:sp>
        <p:nvSpPr>
          <p:cNvPr id="12" name="Shape 10"/>
          <p:cNvSpPr/>
          <p:nvPr/>
        </p:nvSpPr>
        <p:spPr>
          <a:xfrm>
            <a:off x="2670048" y="2103120"/>
            <a:ext cx="6108192" cy="603504"/>
          </a:xfrm>
          <a:prstGeom prst="roundRect">
            <a:avLst>
              <a:gd name="adj" fmla="val 9091"/>
            </a:avLst>
          </a:prstGeom>
          <a:solidFill>
            <a:srgbClr val="F4F6FA"/>
          </a:solidFill>
          <a:ln w="12700">
            <a:solidFill>
              <a:srgbClr val="DCE3EC"/>
            </a:solidFill>
            <a:prstDash val="solid"/>
          </a:ln>
        </p:spPr>
      </p:sp>
      <p:sp>
        <p:nvSpPr>
          <p:cNvPr id="13" name="Text 11"/>
          <p:cNvSpPr/>
          <p:nvPr/>
        </p:nvSpPr>
        <p:spPr>
          <a:xfrm>
            <a:off x="2816352" y="2103120"/>
            <a:ext cx="5852160" cy="603504"/>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Stateful fat client, synchronous coupling, no CQRS or event streaming, no edge strategy for geometry.</a:t>
            </a:r>
            <a:endParaRPr lang="en-US" sz="1000" dirty="0"/>
          </a:p>
        </p:txBody>
      </p:sp>
      <p:sp>
        <p:nvSpPr>
          <p:cNvPr id="14" name="Shape 12"/>
          <p:cNvSpPr/>
          <p:nvPr/>
        </p:nvSpPr>
        <p:spPr>
          <a:xfrm>
            <a:off x="365760" y="2834640"/>
            <a:ext cx="1965960" cy="603504"/>
          </a:xfrm>
          <a:prstGeom prst="roundRect">
            <a:avLst>
              <a:gd name="adj" fmla="val 9091"/>
            </a:avLst>
          </a:prstGeom>
          <a:solidFill>
            <a:srgbClr val="C77D2A"/>
          </a:solidFill>
          <a:ln w="12700">
            <a:solidFill>
              <a:srgbClr val="C77D2A"/>
            </a:solidFill>
            <a:prstDash val="solid"/>
          </a:ln>
        </p:spPr>
      </p:sp>
      <p:sp>
        <p:nvSpPr>
          <p:cNvPr id="15" name="Text 13"/>
          <p:cNvSpPr/>
          <p:nvPr/>
        </p:nvSpPr>
        <p:spPr>
          <a:xfrm>
            <a:off x="365760" y="2834640"/>
            <a:ext cx="196596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customers</a:t>
            </a:r>
            <a:endParaRPr lang="en-US" sz="1250" dirty="0"/>
          </a:p>
        </p:txBody>
      </p:sp>
      <p:sp>
        <p:nvSpPr>
          <p:cNvPr id="16" name="Shape 14"/>
          <p:cNvSpPr/>
          <p:nvPr/>
        </p:nvSpPr>
        <p:spPr>
          <a:xfrm>
            <a:off x="2395728" y="3136392"/>
            <a:ext cx="182880" cy="0"/>
          </a:xfrm>
          <a:prstGeom prst="line">
            <a:avLst/>
          </a:prstGeom>
          <a:noFill/>
          <a:ln w="19050">
            <a:solidFill>
              <a:srgbClr val="5B6B7E"/>
            </a:solidFill>
            <a:prstDash val="solid"/>
            <a:tailEnd type="triangle"/>
          </a:ln>
        </p:spPr>
      </p:sp>
      <p:sp>
        <p:nvSpPr>
          <p:cNvPr id="17" name="Shape 15"/>
          <p:cNvSpPr/>
          <p:nvPr/>
        </p:nvSpPr>
        <p:spPr>
          <a:xfrm>
            <a:off x="2670048" y="2834640"/>
            <a:ext cx="6108192" cy="603504"/>
          </a:xfrm>
          <a:prstGeom prst="roundRect">
            <a:avLst>
              <a:gd name="adj" fmla="val 9091"/>
            </a:avLst>
          </a:prstGeom>
          <a:solidFill>
            <a:srgbClr val="F4F6FA"/>
          </a:solidFill>
          <a:ln w="12700">
            <a:solidFill>
              <a:srgbClr val="DCE3EC"/>
            </a:solidFill>
            <a:prstDash val="solid"/>
          </a:ln>
        </p:spPr>
      </p:sp>
      <p:sp>
        <p:nvSpPr>
          <p:cNvPr id="18" name="Text 16"/>
          <p:cNvSpPr/>
          <p:nvPr/>
        </p:nvSpPr>
        <p:spPr>
          <a:xfrm>
            <a:off x="2816352" y="2834640"/>
            <a:ext cx="5852160" cy="603504"/>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Not production-grade; rules enforced in batch (ASP/SPA), not inline; no BIM interoperability buyers expect.</a:t>
            </a:r>
            <a:endParaRPr lang="en-US" sz="1000" dirty="0"/>
          </a:p>
        </p:txBody>
      </p:sp>
      <p:sp>
        <p:nvSpPr>
          <p:cNvPr id="19" name="Shape 17"/>
          <p:cNvSpPr/>
          <p:nvPr/>
        </p:nvSpPr>
        <p:spPr>
          <a:xfrm>
            <a:off x="365760" y="3566160"/>
            <a:ext cx="1965960" cy="603504"/>
          </a:xfrm>
          <a:prstGeom prst="roundRect">
            <a:avLst>
              <a:gd name="adj" fmla="val 9091"/>
            </a:avLst>
          </a:prstGeom>
          <a:solidFill>
            <a:srgbClr val="C77D2A"/>
          </a:solidFill>
          <a:ln w="12700">
            <a:solidFill>
              <a:srgbClr val="C77D2A"/>
            </a:solidFill>
            <a:prstDash val="solid"/>
          </a:ln>
        </p:spPr>
      </p:sp>
      <p:sp>
        <p:nvSpPr>
          <p:cNvPr id="20" name="Text 18"/>
          <p:cNvSpPr/>
          <p:nvPr/>
        </p:nvSpPr>
        <p:spPr>
          <a:xfrm>
            <a:off x="365760" y="3566160"/>
            <a:ext cx="196596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Path-to-Green</a:t>
            </a:r>
            <a:endParaRPr lang="en-US" sz="1250" dirty="0"/>
          </a:p>
        </p:txBody>
      </p:sp>
      <p:sp>
        <p:nvSpPr>
          <p:cNvPr id="21" name="Shape 19"/>
          <p:cNvSpPr/>
          <p:nvPr/>
        </p:nvSpPr>
        <p:spPr>
          <a:xfrm>
            <a:off x="2395728" y="3867912"/>
            <a:ext cx="182880" cy="0"/>
          </a:xfrm>
          <a:prstGeom prst="line">
            <a:avLst/>
          </a:prstGeom>
          <a:noFill/>
          <a:ln w="19050">
            <a:solidFill>
              <a:srgbClr val="5B6B7E"/>
            </a:solidFill>
            <a:prstDash val="solid"/>
            <a:tailEnd type="triangle"/>
          </a:ln>
        </p:spPr>
      </p:sp>
      <p:sp>
        <p:nvSpPr>
          <p:cNvPr id="22" name="Shape 20"/>
          <p:cNvSpPr/>
          <p:nvPr/>
        </p:nvSpPr>
        <p:spPr>
          <a:xfrm>
            <a:off x="2670048" y="3566160"/>
            <a:ext cx="6108192" cy="603504"/>
          </a:xfrm>
          <a:prstGeom prst="roundRect">
            <a:avLst>
              <a:gd name="adj" fmla="val 9091"/>
            </a:avLst>
          </a:prstGeom>
          <a:solidFill>
            <a:srgbClr val="F4F6FA"/>
          </a:solidFill>
          <a:ln w="12700">
            <a:solidFill>
              <a:srgbClr val="DCE3EC"/>
            </a:solidFill>
            <a:prstDash val="solid"/>
          </a:ln>
        </p:spPr>
      </p:sp>
      <p:sp>
        <p:nvSpPr>
          <p:cNvPr id="23" name="Text 21"/>
          <p:cNvSpPr/>
          <p:nvPr/>
        </p:nvSpPr>
        <p:spPr>
          <a:xfrm>
            <a:off x="2816352" y="3566160"/>
            <a:ext cx="5852160" cy="603504"/>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No single source of truth and no seams — every change risks everything; nothing can be isolated, tested, or shipped.</a:t>
            </a:r>
            <a:endParaRPr lang="en-US" sz="1000" dirty="0"/>
          </a:p>
        </p:txBody>
      </p:sp>
      <p:sp>
        <p:nvSpPr>
          <p:cNvPr id="24" name="Shape 22"/>
          <p:cNvSpPr/>
          <p:nvPr/>
        </p:nvSpPr>
        <p:spPr>
          <a:xfrm>
            <a:off x="365760" y="4425696"/>
            <a:ext cx="8412480" cy="603504"/>
          </a:xfrm>
          <a:prstGeom prst="roundRect">
            <a:avLst>
              <a:gd name="adj" fmla="val 10606"/>
            </a:avLst>
          </a:prstGeom>
          <a:solidFill>
            <a:srgbClr val="16263F"/>
          </a:solidFill>
          <a:ln/>
        </p:spPr>
      </p:sp>
      <p:sp>
        <p:nvSpPr>
          <p:cNvPr id="25" name="Shape 23"/>
          <p:cNvSpPr/>
          <p:nvPr/>
        </p:nvSpPr>
        <p:spPr>
          <a:xfrm>
            <a:off x="566928" y="4572000"/>
            <a:ext cx="310896" cy="310896"/>
          </a:xfrm>
          <a:prstGeom prst="ellipse">
            <a:avLst/>
          </a:prstGeom>
          <a:solidFill>
            <a:srgbClr val="E8A816"/>
          </a:solidFill>
          <a:ln w="12700">
            <a:solidFill>
              <a:srgbClr val="E8A816"/>
            </a:solidFill>
            <a:prstDash val="solid"/>
          </a:ln>
        </p:spPr>
      </p:sp>
      <p:sp>
        <p:nvSpPr>
          <p:cNvPr id="26" name="Text 24"/>
          <p:cNvSpPr/>
          <p:nvPr/>
        </p:nvSpPr>
        <p:spPr>
          <a:xfrm>
            <a:off x="1024128" y="4425696"/>
            <a:ext cx="7626096" cy="603504"/>
          </a:xfrm>
          <a:prstGeom prst="rect">
            <a:avLst/>
          </a:prstGeom>
          <a:noFill/>
          <a:ln/>
        </p:spPr>
        <p:txBody>
          <a:bodyPr wrap="square" lIns="0" tIns="0" rIns="0" bIns="0" rtlCol="0" anchor="ctr"/>
          <a:lstStyle/>
          <a:p>
            <a:pPr indent="0" marL="0">
              <a:buNone/>
            </a:pPr>
            <a:r>
              <a:rPr lang="en-US" sz="1000" dirty="0">
                <a:solidFill>
                  <a:srgbClr val="E7EEF7"/>
                </a:solidFill>
                <a:latin typeface="Calibri" pitchFamily="34" charset="0"/>
                <a:ea typeface="Calibri" pitchFamily="34" charset="-122"/>
                <a:cs typeface="Calibri" pitchFamily="34" charset="-120"/>
              </a:rPr>
              <a:t>The product sells "the single source of truth." Internally, that truth is scattered across Unity, GraphQL, SQL Server, and Lakebase. Build the spine and the bleeding stops — I confirm specifics Day 1; the pattern holds.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050" b="1" spc="300" kern="0" dirty="0">
                <a:solidFill>
                  <a:srgbClr val="C9952F"/>
                </a:solidFill>
                <a:latin typeface="Calibri" pitchFamily="34" charset="0"/>
                <a:ea typeface="Calibri" pitchFamily="34" charset="-122"/>
                <a:cs typeface="Calibri" pitchFamily="34" charset="-120"/>
              </a:rPr>
              <a:t>THE RESCUE</a:t>
            </a:r>
            <a:endParaRPr lang="en-US" sz="1050" dirty="0"/>
          </a:p>
        </p:txBody>
      </p:sp>
      <p:sp>
        <p:nvSpPr>
          <p:cNvPr id="3" name="Text 1"/>
          <p:cNvSpPr/>
          <p:nvPr/>
        </p:nvSpPr>
        <p:spPr>
          <a:xfrm>
            <a:off x="502920" y="548640"/>
            <a:ext cx="8229600" cy="548640"/>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Path-to-Green: six steps, twelve weeks</a:t>
            </a:r>
            <a:endParaRPr lang="en-US" sz="2800" dirty="0"/>
          </a:p>
        </p:txBody>
      </p:sp>
      <p:sp>
        <p:nvSpPr>
          <p:cNvPr id="4" name="Shape 2"/>
          <p:cNvSpPr/>
          <p:nvPr/>
        </p:nvSpPr>
        <p:spPr>
          <a:xfrm>
            <a:off x="365760" y="1371600"/>
            <a:ext cx="2670048" cy="1298448"/>
          </a:xfrm>
          <a:prstGeom prst="roundRect">
            <a:avLst>
              <a:gd name="adj" fmla="val 493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512064" y="1517904"/>
            <a:ext cx="384048" cy="384048"/>
          </a:xfrm>
          <a:prstGeom prst="ellipse">
            <a:avLst/>
          </a:prstGeom>
          <a:solidFill>
            <a:srgbClr val="16263F"/>
          </a:solidFill>
          <a:ln w="12700">
            <a:solidFill>
              <a:srgbClr val="16263F"/>
            </a:solidFill>
            <a:prstDash val="solid"/>
          </a:ln>
        </p:spPr>
      </p:sp>
      <p:sp>
        <p:nvSpPr>
          <p:cNvPr id="6" name="Text 4"/>
          <p:cNvSpPr/>
          <p:nvPr/>
        </p:nvSpPr>
        <p:spPr>
          <a:xfrm>
            <a:off x="512064" y="15179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7" name="Text 5"/>
          <p:cNvSpPr/>
          <p:nvPr/>
        </p:nvSpPr>
        <p:spPr>
          <a:xfrm>
            <a:off x="969264" y="152704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1–2</a:t>
            </a:r>
            <a:endParaRPr lang="en-US" sz="950" dirty="0"/>
          </a:p>
        </p:txBody>
      </p:sp>
      <p:sp>
        <p:nvSpPr>
          <p:cNvPr id="8" name="Text 6"/>
          <p:cNvSpPr/>
          <p:nvPr/>
        </p:nvSpPr>
        <p:spPr>
          <a:xfrm>
            <a:off x="1938528" y="1527048"/>
            <a:ext cx="1024128" cy="274320"/>
          </a:xfrm>
          <a:prstGeom prst="rect">
            <a:avLst/>
          </a:prstGeom>
          <a:noFill/>
          <a:ln/>
        </p:spPr>
        <p:txBody>
          <a:bodyPr wrap="square" lIns="0" tIns="0" rIns="0" bIns="0" rtlCol="0" anchor="ctr"/>
          <a:lstStyle/>
          <a:p>
            <a:pPr algn="r" indent="0" marL="0">
              <a:buNone/>
            </a:pPr>
            <a:r>
              <a:rPr lang="en-US" sz="900" b="1" i="1" dirty="0">
                <a:solidFill>
                  <a:srgbClr val="5B6B7E"/>
                </a:solidFill>
                <a:latin typeface="Calibri" pitchFamily="34" charset="0"/>
                <a:ea typeface="Calibri" pitchFamily="34" charset="-122"/>
                <a:cs typeface="Calibri" pitchFamily="34" charset="-120"/>
              </a:rPr>
              <a:t>Establish the spine</a:t>
            </a:r>
            <a:endParaRPr lang="en-US" sz="900" dirty="0"/>
          </a:p>
        </p:txBody>
      </p:sp>
      <p:sp>
        <p:nvSpPr>
          <p:cNvPr id="9" name="Text 7"/>
          <p:cNvSpPr/>
          <p:nvPr/>
        </p:nvSpPr>
        <p:spPr>
          <a:xfrm>
            <a:off x="512064" y="192024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Extract truth from Unity into an event-sourced twin. Unity becomes the GPU.</a:t>
            </a:r>
            <a:endParaRPr lang="en-US" sz="950" dirty="0"/>
          </a:p>
        </p:txBody>
      </p:sp>
      <p:sp>
        <p:nvSpPr>
          <p:cNvPr id="10" name="Text 8"/>
          <p:cNvSpPr/>
          <p:nvPr/>
        </p:nvSpPr>
        <p:spPr>
          <a:xfrm>
            <a:off x="512064" y="2395728"/>
            <a:ext cx="2377440" cy="219456"/>
          </a:xfrm>
          <a:prstGeom prst="rect">
            <a:avLst/>
          </a:prstGeom>
          <a:noFill/>
          <a:ln/>
        </p:spPr>
        <p:txBody>
          <a:bodyPr wrap="square" lIns="0" tIns="0" rIns="0" bIns="0" rtlCol="0" anchor="ctr"/>
          <a:lstStyle/>
          <a:p>
            <a:pPr indent="0" marL="0">
              <a:buNone/>
            </a:pPr>
            <a:r>
              <a:rPr lang="en-US" sz="850" b="1" dirty="0">
                <a:solidFill>
                  <a:srgbClr val="C9952F"/>
                </a:solidFill>
                <a:latin typeface="Calibri" pitchFamily="34" charset="0"/>
                <a:ea typeface="Calibri" pitchFamily="34" charset="-122"/>
                <a:cs typeface="Calibri" pitchFamily="34" charset="-120"/>
              </a:rPr>
              <a:t>→ foundation</a:t>
            </a:r>
            <a:endParaRPr lang="en-US" sz="850" dirty="0"/>
          </a:p>
        </p:txBody>
      </p:sp>
      <p:sp>
        <p:nvSpPr>
          <p:cNvPr id="11" name="Shape 9"/>
          <p:cNvSpPr/>
          <p:nvPr/>
        </p:nvSpPr>
        <p:spPr>
          <a:xfrm>
            <a:off x="3182112" y="1371600"/>
            <a:ext cx="2670048" cy="1298448"/>
          </a:xfrm>
          <a:prstGeom prst="roundRect">
            <a:avLst>
              <a:gd name="adj" fmla="val 493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12" name="Shape 10"/>
          <p:cNvSpPr/>
          <p:nvPr/>
        </p:nvSpPr>
        <p:spPr>
          <a:xfrm>
            <a:off x="3328416" y="1517904"/>
            <a:ext cx="384048" cy="384048"/>
          </a:xfrm>
          <a:prstGeom prst="ellipse">
            <a:avLst/>
          </a:prstGeom>
          <a:solidFill>
            <a:srgbClr val="16263F"/>
          </a:solidFill>
          <a:ln w="12700">
            <a:solidFill>
              <a:srgbClr val="16263F"/>
            </a:solidFill>
            <a:prstDash val="solid"/>
          </a:ln>
        </p:spPr>
      </p:sp>
      <p:sp>
        <p:nvSpPr>
          <p:cNvPr id="13" name="Text 11"/>
          <p:cNvSpPr/>
          <p:nvPr/>
        </p:nvSpPr>
        <p:spPr>
          <a:xfrm>
            <a:off x="3328416" y="15179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4" name="Text 12"/>
          <p:cNvSpPr/>
          <p:nvPr/>
        </p:nvSpPr>
        <p:spPr>
          <a:xfrm>
            <a:off x="3785616" y="152704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2–4</a:t>
            </a:r>
            <a:endParaRPr lang="en-US" sz="950" dirty="0"/>
          </a:p>
        </p:txBody>
      </p:sp>
      <p:sp>
        <p:nvSpPr>
          <p:cNvPr id="15" name="Text 13"/>
          <p:cNvSpPr/>
          <p:nvPr/>
        </p:nvSpPr>
        <p:spPr>
          <a:xfrm>
            <a:off x="4754880" y="1527048"/>
            <a:ext cx="1024128" cy="274320"/>
          </a:xfrm>
          <a:prstGeom prst="rect">
            <a:avLst/>
          </a:prstGeom>
          <a:noFill/>
          <a:ln/>
        </p:spPr>
        <p:txBody>
          <a:bodyPr wrap="square" lIns="0" tIns="0" rIns="0" bIns="0" rtlCol="0" anchor="ctr"/>
          <a:lstStyle/>
          <a:p>
            <a:pPr algn="r" indent="0" marL="0">
              <a:buNone/>
            </a:pPr>
            <a:r>
              <a:rPr lang="en-US" sz="900" b="1" i="1" dirty="0">
                <a:solidFill>
                  <a:srgbClr val="5B6B7E"/>
                </a:solidFill>
                <a:latin typeface="Calibri" pitchFamily="34" charset="0"/>
                <a:ea typeface="Calibri" pitchFamily="34" charset="-122"/>
                <a:cs typeface="Calibri" pitchFamily="34" charset="-120"/>
              </a:rPr>
              <a:t>Make E2E real</a:t>
            </a:r>
            <a:endParaRPr lang="en-US" sz="900" dirty="0"/>
          </a:p>
        </p:txBody>
      </p:sp>
      <p:sp>
        <p:nvSpPr>
          <p:cNvPr id="16" name="Text 14"/>
          <p:cNvSpPr/>
          <p:nvPr/>
        </p:nvSpPr>
        <p:spPr>
          <a:xfrm>
            <a:off x="3328416" y="192024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Inline deterministic gate + versioned contracts → deterministic, headlessly testable flows.</a:t>
            </a:r>
            <a:endParaRPr lang="en-US" sz="950" dirty="0"/>
          </a:p>
        </p:txBody>
      </p:sp>
      <p:sp>
        <p:nvSpPr>
          <p:cNvPr id="17" name="Text 15"/>
          <p:cNvSpPr/>
          <p:nvPr/>
        </p:nvSpPr>
        <p:spPr>
          <a:xfrm>
            <a:off x="3328416" y="2395728"/>
            <a:ext cx="2377440" cy="219456"/>
          </a:xfrm>
          <a:prstGeom prst="rect">
            <a:avLst/>
          </a:prstGeom>
          <a:noFill/>
          <a:ln/>
        </p:spPr>
        <p:txBody>
          <a:bodyPr wrap="square" lIns="0" tIns="0" rIns="0" bIns="0" rtlCol="0" anchor="ctr"/>
          <a:lstStyle/>
          <a:p>
            <a:pPr indent="0" marL="0">
              <a:buNone/>
            </a:pPr>
            <a:r>
              <a:rPr lang="en-US" sz="850" b="1" dirty="0">
                <a:solidFill>
                  <a:srgbClr val="C9952F"/>
                </a:solidFill>
                <a:latin typeface="Calibri" pitchFamily="34" charset="0"/>
                <a:ea typeface="Calibri" pitchFamily="34" charset="-122"/>
                <a:cs typeface="Calibri" pitchFamily="34" charset="-120"/>
              </a:rPr>
              <a:t>→ clears E2E</a:t>
            </a:r>
            <a:endParaRPr lang="en-US" sz="850" dirty="0"/>
          </a:p>
        </p:txBody>
      </p:sp>
      <p:sp>
        <p:nvSpPr>
          <p:cNvPr id="18" name="Shape 16"/>
          <p:cNvSpPr/>
          <p:nvPr/>
        </p:nvSpPr>
        <p:spPr>
          <a:xfrm>
            <a:off x="5998464" y="1371600"/>
            <a:ext cx="2670048" cy="1298448"/>
          </a:xfrm>
          <a:prstGeom prst="roundRect">
            <a:avLst>
              <a:gd name="adj" fmla="val 493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19" name="Shape 17"/>
          <p:cNvSpPr/>
          <p:nvPr/>
        </p:nvSpPr>
        <p:spPr>
          <a:xfrm>
            <a:off x="6144768" y="1517904"/>
            <a:ext cx="384048" cy="384048"/>
          </a:xfrm>
          <a:prstGeom prst="ellipse">
            <a:avLst/>
          </a:prstGeom>
          <a:solidFill>
            <a:srgbClr val="16263F"/>
          </a:solidFill>
          <a:ln w="12700">
            <a:solidFill>
              <a:srgbClr val="16263F"/>
            </a:solidFill>
            <a:prstDash val="solid"/>
          </a:ln>
        </p:spPr>
      </p:sp>
      <p:sp>
        <p:nvSpPr>
          <p:cNvPr id="20" name="Text 18"/>
          <p:cNvSpPr/>
          <p:nvPr/>
        </p:nvSpPr>
        <p:spPr>
          <a:xfrm>
            <a:off x="6144768" y="15179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1" name="Text 19"/>
          <p:cNvSpPr/>
          <p:nvPr/>
        </p:nvSpPr>
        <p:spPr>
          <a:xfrm>
            <a:off x="6601968" y="152704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4–8</a:t>
            </a:r>
            <a:endParaRPr lang="en-US" sz="950" dirty="0"/>
          </a:p>
        </p:txBody>
      </p:sp>
      <p:sp>
        <p:nvSpPr>
          <p:cNvPr id="22" name="Text 20"/>
          <p:cNvSpPr/>
          <p:nvPr/>
        </p:nvSpPr>
        <p:spPr>
          <a:xfrm>
            <a:off x="7571232" y="1527048"/>
            <a:ext cx="1024128" cy="274320"/>
          </a:xfrm>
          <a:prstGeom prst="rect">
            <a:avLst/>
          </a:prstGeom>
          <a:noFill/>
          <a:ln/>
        </p:spPr>
        <p:txBody>
          <a:bodyPr wrap="square" lIns="0" tIns="0" rIns="0" bIns="0" rtlCol="0" anchor="ctr"/>
          <a:lstStyle/>
          <a:p>
            <a:pPr algn="r" indent="0" marL="0">
              <a:buNone/>
            </a:pPr>
            <a:r>
              <a:rPr lang="en-US" sz="900" b="1" i="1" dirty="0">
                <a:solidFill>
                  <a:srgbClr val="5B6B7E"/>
                </a:solidFill>
                <a:latin typeface="Calibri" pitchFamily="34" charset="0"/>
                <a:ea typeface="Calibri" pitchFamily="34" charset="-122"/>
                <a:cs typeface="Calibri" pitchFamily="34" charset="-120"/>
              </a:rPr>
              <a:t>Make it scale</a:t>
            </a:r>
            <a:endParaRPr lang="en-US" sz="900" dirty="0"/>
          </a:p>
        </p:txBody>
      </p:sp>
      <p:sp>
        <p:nvSpPr>
          <p:cNvPr id="23" name="Text 21"/>
          <p:cNvSpPr/>
          <p:nvPr/>
        </p:nvSpPr>
        <p:spPr>
          <a:xfrm>
            <a:off x="6144768" y="192024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CQRS + event streaming + content-addressed edge geometry.</a:t>
            </a:r>
            <a:endParaRPr lang="en-US" sz="950" dirty="0"/>
          </a:p>
        </p:txBody>
      </p:sp>
      <p:sp>
        <p:nvSpPr>
          <p:cNvPr id="24" name="Text 22"/>
          <p:cNvSpPr/>
          <p:nvPr/>
        </p:nvSpPr>
        <p:spPr>
          <a:xfrm>
            <a:off x="6144768" y="2395728"/>
            <a:ext cx="2377440" cy="219456"/>
          </a:xfrm>
          <a:prstGeom prst="rect">
            <a:avLst/>
          </a:prstGeom>
          <a:noFill/>
          <a:ln/>
        </p:spPr>
        <p:txBody>
          <a:bodyPr wrap="square" lIns="0" tIns="0" rIns="0" bIns="0" rtlCol="0" anchor="ctr"/>
          <a:lstStyle/>
          <a:p>
            <a:pPr indent="0" marL="0">
              <a:buNone/>
            </a:pPr>
            <a:r>
              <a:rPr lang="en-US" sz="850" b="1" dirty="0">
                <a:solidFill>
                  <a:srgbClr val="C9952F"/>
                </a:solidFill>
                <a:latin typeface="Calibri" pitchFamily="34" charset="0"/>
                <a:ea typeface="Calibri" pitchFamily="34" charset="-122"/>
                <a:cs typeface="Calibri" pitchFamily="34" charset="-120"/>
              </a:rPr>
              <a:t>→ clears scale</a:t>
            </a:r>
            <a:endParaRPr lang="en-US" sz="850" dirty="0"/>
          </a:p>
        </p:txBody>
      </p:sp>
      <p:sp>
        <p:nvSpPr>
          <p:cNvPr id="25" name="Shape 23"/>
          <p:cNvSpPr/>
          <p:nvPr/>
        </p:nvSpPr>
        <p:spPr>
          <a:xfrm>
            <a:off x="365760" y="2788920"/>
            <a:ext cx="2670048" cy="1298448"/>
          </a:xfrm>
          <a:prstGeom prst="roundRect">
            <a:avLst>
              <a:gd name="adj" fmla="val 493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26" name="Shape 24"/>
          <p:cNvSpPr/>
          <p:nvPr/>
        </p:nvSpPr>
        <p:spPr>
          <a:xfrm>
            <a:off x="512064" y="2935224"/>
            <a:ext cx="384048" cy="384048"/>
          </a:xfrm>
          <a:prstGeom prst="ellipse">
            <a:avLst/>
          </a:prstGeom>
          <a:solidFill>
            <a:srgbClr val="16263F"/>
          </a:solidFill>
          <a:ln w="12700">
            <a:solidFill>
              <a:srgbClr val="16263F"/>
            </a:solidFill>
            <a:prstDash val="solid"/>
          </a:ln>
        </p:spPr>
      </p:sp>
      <p:sp>
        <p:nvSpPr>
          <p:cNvPr id="27" name="Text 25"/>
          <p:cNvSpPr/>
          <p:nvPr/>
        </p:nvSpPr>
        <p:spPr>
          <a:xfrm>
            <a:off x="512064" y="29352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8" name="Text 26"/>
          <p:cNvSpPr/>
          <p:nvPr/>
        </p:nvSpPr>
        <p:spPr>
          <a:xfrm>
            <a:off x="969264" y="294436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6–10</a:t>
            </a:r>
            <a:endParaRPr lang="en-US" sz="950" dirty="0"/>
          </a:p>
        </p:txBody>
      </p:sp>
      <p:sp>
        <p:nvSpPr>
          <p:cNvPr id="29" name="Text 27"/>
          <p:cNvSpPr/>
          <p:nvPr/>
        </p:nvSpPr>
        <p:spPr>
          <a:xfrm>
            <a:off x="1938528" y="2944368"/>
            <a:ext cx="1024128" cy="274320"/>
          </a:xfrm>
          <a:prstGeom prst="rect">
            <a:avLst/>
          </a:prstGeom>
          <a:noFill/>
          <a:ln/>
        </p:spPr>
        <p:txBody>
          <a:bodyPr wrap="square" lIns="0" tIns="0" rIns="0" bIns="0" rtlCol="0" anchor="ctr"/>
          <a:lstStyle/>
          <a:p>
            <a:pPr algn="r" indent="0" marL="0">
              <a:buNone/>
            </a:pPr>
            <a:r>
              <a:rPr lang="en-US" sz="900" b="1" i="1" dirty="0">
                <a:solidFill>
                  <a:srgbClr val="5B6B7E"/>
                </a:solidFill>
                <a:latin typeface="Calibri" pitchFamily="34" charset="0"/>
                <a:ea typeface="Calibri" pitchFamily="34" charset="-122"/>
                <a:cs typeface="Calibri" pitchFamily="34" charset="-120"/>
              </a:rPr>
              <a:t>Make it intelligent</a:t>
            </a:r>
            <a:endParaRPr lang="en-US" sz="900" dirty="0"/>
          </a:p>
        </p:txBody>
      </p:sp>
      <p:sp>
        <p:nvSpPr>
          <p:cNvPr id="30" name="Text 28"/>
          <p:cNvSpPr/>
          <p:nvPr/>
        </p:nvSpPr>
        <p:spPr>
          <a:xfrm>
            <a:off x="512064" y="333756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Agentic AI — LangGraph / MCP / GraphRAG, gate-governed.</a:t>
            </a:r>
            <a:endParaRPr lang="en-US" sz="950" dirty="0"/>
          </a:p>
        </p:txBody>
      </p:sp>
      <p:sp>
        <p:nvSpPr>
          <p:cNvPr id="31" name="Text 29"/>
          <p:cNvSpPr/>
          <p:nvPr/>
        </p:nvSpPr>
        <p:spPr>
          <a:xfrm>
            <a:off x="512064" y="3813048"/>
            <a:ext cx="2377440" cy="219456"/>
          </a:xfrm>
          <a:prstGeom prst="rect">
            <a:avLst/>
          </a:prstGeom>
          <a:noFill/>
          <a:ln/>
        </p:spPr>
        <p:txBody>
          <a:bodyPr wrap="square" lIns="0" tIns="0" rIns="0" bIns="0" rtlCol="0" anchor="ctr"/>
          <a:lstStyle/>
          <a:p>
            <a:pPr indent="0" marL="0">
              <a:buNone/>
            </a:pPr>
            <a:r>
              <a:rPr lang="en-US" sz="850" b="1" dirty="0">
                <a:solidFill>
                  <a:srgbClr val="C9952F"/>
                </a:solidFill>
                <a:latin typeface="Calibri" pitchFamily="34" charset="0"/>
                <a:ea typeface="Calibri" pitchFamily="34" charset="-122"/>
                <a:cs typeface="Calibri" pitchFamily="34" charset="-120"/>
              </a:rPr>
              <a:t>→ the moat</a:t>
            </a:r>
            <a:endParaRPr lang="en-US" sz="850" dirty="0"/>
          </a:p>
        </p:txBody>
      </p:sp>
      <p:sp>
        <p:nvSpPr>
          <p:cNvPr id="32" name="Shape 30"/>
          <p:cNvSpPr/>
          <p:nvPr/>
        </p:nvSpPr>
        <p:spPr>
          <a:xfrm>
            <a:off x="3182112" y="2788920"/>
            <a:ext cx="2670048" cy="1298448"/>
          </a:xfrm>
          <a:prstGeom prst="roundRect">
            <a:avLst>
              <a:gd name="adj" fmla="val 4930"/>
            </a:avLst>
          </a:prstGeom>
          <a:solidFill>
            <a:srgbClr val="F4F6FA"/>
          </a:solidFill>
          <a:ln w="12700">
            <a:solidFill>
              <a:srgbClr val="DCE3EC"/>
            </a:solidFill>
            <a:prstDash val="solid"/>
          </a:ln>
          <a:effectLst>
            <a:outerShdw sx="100000" sy="100000" kx="0" ky="0" algn="bl" rotWithShape="0" blurRad="76200" dist="25400" dir="5400000">
              <a:srgbClr val="000000">
                <a:alpha val="10000"/>
              </a:srgbClr>
            </a:outerShdw>
          </a:effectLst>
        </p:spPr>
      </p:sp>
      <p:sp>
        <p:nvSpPr>
          <p:cNvPr id="33" name="Shape 31"/>
          <p:cNvSpPr/>
          <p:nvPr/>
        </p:nvSpPr>
        <p:spPr>
          <a:xfrm>
            <a:off x="3328416" y="2935224"/>
            <a:ext cx="384048" cy="384048"/>
          </a:xfrm>
          <a:prstGeom prst="ellipse">
            <a:avLst/>
          </a:prstGeom>
          <a:solidFill>
            <a:srgbClr val="16263F"/>
          </a:solidFill>
          <a:ln w="12700">
            <a:solidFill>
              <a:srgbClr val="16263F"/>
            </a:solidFill>
            <a:prstDash val="solid"/>
          </a:ln>
        </p:spPr>
      </p:sp>
      <p:sp>
        <p:nvSpPr>
          <p:cNvPr id="34" name="Text 32"/>
          <p:cNvSpPr/>
          <p:nvPr/>
        </p:nvSpPr>
        <p:spPr>
          <a:xfrm>
            <a:off x="3328416" y="29352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5" name="Text 33"/>
          <p:cNvSpPr/>
          <p:nvPr/>
        </p:nvSpPr>
        <p:spPr>
          <a:xfrm>
            <a:off x="3785616" y="294436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8–12</a:t>
            </a:r>
            <a:endParaRPr lang="en-US" sz="950" dirty="0"/>
          </a:p>
        </p:txBody>
      </p:sp>
      <p:sp>
        <p:nvSpPr>
          <p:cNvPr id="36" name="Text 34"/>
          <p:cNvSpPr/>
          <p:nvPr/>
        </p:nvSpPr>
        <p:spPr>
          <a:xfrm>
            <a:off x="4754880" y="2944368"/>
            <a:ext cx="1024128" cy="274320"/>
          </a:xfrm>
          <a:prstGeom prst="rect">
            <a:avLst/>
          </a:prstGeom>
          <a:noFill/>
          <a:ln/>
        </p:spPr>
        <p:txBody>
          <a:bodyPr wrap="square" lIns="0" tIns="0" rIns="0" bIns="0" rtlCol="0" anchor="ctr"/>
          <a:lstStyle/>
          <a:p>
            <a:pPr algn="r" indent="0" marL="0">
              <a:buNone/>
            </a:pPr>
            <a:r>
              <a:rPr lang="en-US" sz="900" b="1" i="1" dirty="0">
                <a:solidFill>
                  <a:srgbClr val="5B6B7E"/>
                </a:solidFill>
                <a:latin typeface="Calibri" pitchFamily="34" charset="0"/>
                <a:ea typeface="Calibri" pitchFamily="34" charset="-122"/>
                <a:cs typeface="Calibri" pitchFamily="34" charset="-120"/>
              </a:rPr>
              <a:t>Federate BIM</a:t>
            </a:r>
            <a:endParaRPr lang="en-US" sz="900" dirty="0"/>
          </a:p>
        </p:txBody>
      </p:sp>
      <p:sp>
        <p:nvSpPr>
          <p:cNvPr id="37" name="Text 35"/>
          <p:cNvSpPr/>
          <p:nvPr/>
        </p:nvSpPr>
        <p:spPr>
          <a:xfrm>
            <a:off x="3328416" y="333756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IFC / BCF / Autodesk APS interoperability.</a:t>
            </a:r>
            <a:endParaRPr lang="en-US" sz="950" dirty="0"/>
          </a:p>
        </p:txBody>
      </p:sp>
      <p:sp>
        <p:nvSpPr>
          <p:cNvPr id="38" name="Text 36"/>
          <p:cNvSpPr/>
          <p:nvPr/>
        </p:nvSpPr>
        <p:spPr>
          <a:xfrm>
            <a:off x="3328416" y="3813048"/>
            <a:ext cx="2377440" cy="219456"/>
          </a:xfrm>
          <a:prstGeom prst="rect">
            <a:avLst/>
          </a:prstGeom>
          <a:noFill/>
          <a:ln/>
        </p:spPr>
        <p:txBody>
          <a:bodyPr wrap="square" lIns="0" tIns="0" rIns="0" bIns="0" rtlCol="0" anchor="ctr"/>
          <a:lstStyle/>
          <a:p>
            <a:pPr indent="0" marL="0">
              <a:buNone/>
            </a:pPr>
            <a:r>
              <a:rPr lang="en-US" sz="850" b="1" dirty="0">
                <a:solidFill>
                  <a:srgbClr val="C9952F"/>
                </a:solidFill>
                <a:latin typeface="Calibri" pitchFamily="34" charset="0"/>
                <a:ea typeface="Calibri" pitchFamily="34" charset="-122"/>
                <a:cs typeface="Calibri" pitchFamily="34" charset="-120"/>
              </a:rPr>
              <a:t>→ buyer fit</a:t>
            </a:r>
            <a:endParaRPr lang="en-US" sz="850" dirty="0"/>
          </a:p>
        </p:txBody>
      </p:sp>
      <p:sp>
        <p:nvSpPr>
          <p:cNvPr id="39" name="Shape 37"/>
          <p:cNvSpPr/>
          <p:nvPr/>
        </p:nvSpPr>
        <p:spPr>
          <a:xfrm>
            <a:off x="5998464" y="2788920"/>
            <a:ext cx="2670048" cy="1298448"/>
          </a:xfrm>
          <a:prstGeom prst="roundRect">
            <a:avLst>
              <a:gd name="adj" fmla="val 4930"/>
            </a:avLst>
          </a:prstGeom>
          <a:solidFill>
            <a:srgbClr val="F4F6FA"/>
          </a:solidFill>
          <a:ln w="12700">
            <a:solidFill>
              <a:srgbClr val="1E7A4C"/>
            </a:solidFill>
            <a:prstDash val="solid"/>
          </a:ln>
          <a:effectLst>
            <a:outerShdw sx="100000" sy="100000" kx="0" ky="0" algn="bl" rotWithShape="0" blurRad="76200" dist="25400" dir="5400000">
              <a:srgbClr val="000000">
                <a:alpha val="10000"/>
              </a:srgbClr>
            </a:outerShdw>
          </a:effectLst>
        </p:spPr>
      </p:sp>
      <p:sp>
        <p:nvSpPr>
          <p:cNvPr id="40" name="Shape 38"/>
          <p:cNvSpPr/>
          <p:nvPr/>
        </p:nvSpPr>
        <p:spPr>
          <a:xfrm>
            <a:off x="6144768" y="2935224"/>
            <a:ext cx="384048" cy="384048"/>
          </a:xfrm>
          <a:prstGeom prst="ellipse">
            <a:avLst/>
          </a:prstGeom>
          <a:solidFill>
            <a:srgbClr val="1E7A4C"/>
          </a:solidFill>
          <a:ln w="12700">
            <a:solidFill>
              <a:srgbClr val="1E7A4C"/>
            </a:solidFill>
            <a:prstDash val="solid"/>
          </a:ln>
        </p:spPr>
      </p:sp>
      <p:sp>
        <p:nvSpPr>
          <p:cNvPr id="41" name="Text 39"/>
          <p:cNvSpPr/>
          <p:nvPr/>
        </p:nvSpPr>
        <p:spPr>
          <a:xfrm>
            <a:off x="6144768" y="29352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2" name="Text 40"/>
          <p:cNvSpPr/>
          <p:nvPr/>
        </p:nvSpPr>
        <p:spPr>
          <a:xfrm>
            <a:off x="6601968" y="2944368"/>
            <a:ext cx="914400" cy="274320"/>
          </a:xfrm>
          <a:prstGeom prst="rect">
            <a:avLst/>
          </a:prstGeom>
          <a:noFill/>
          <a:ln/>
        </p:spPr>
        <p:txBody>
          <a:bodyPr wrap="square" lIns="0" tIns="0" rIns="0" bIns="0" rtlCol="0" anchor="ctr"/>
          <a:lstStyle/>
          <a:p>
            <a:pPr indent="0" marL="0">
              <a:buNone/>
            </a:pPr>
            <a:r>
              <a:rPr lang="en-US" sz="950" b="1" dirty="0">
                <a:solidFill>
                  <a:srgbClr val="C9952F"/>
                </a:solidFill>
                <a:latin typeface="Calibri" pitchFamily="34" charset="0"/>
                <a:ea typeface="Calibri" pitchFamily="34" charset="-122"/>
                <a:cs typeface="Calibri" pitchFamily="34" charset="-120"/>
              </a:rPr>
              <a:t>Wk 10–12</a:t>
            </a:r>
            <a:endParaRPr lang="en-US" sz="950" dirty="0"/>
          </a:p>
        </p:txBody>
      </p:sp>
      <p:sp>
        <p:nvSpPr>
          <p:cNvPr id="43" name="Text 41"/>
          <p:cNvSpPr/>
          <p:nvPr/>
        </p:nvSpPr>
        <p:spPr>
          <a:xfrm>
            <a:off x="7571232" y="2944368"/>
            <a:ext cx="1024128" cy="274320"/>
          </a:xfrm>
          <a:prstGeom prst="rect">
            <a:avLst/>
          </a:prstGeom>
          <a:noFill/>
          <a:ln/>
        </p:spPr>
        <p:txBody>
          <a:bodyPr wrap="square" lIns="0" tIns="0" rIns="0" bIns="0" rtlCol="0" anchor="ctr"/>
          <a:lstStyle/>
          <a:p>
            <a:pPr algn="r" indent="0" marL="0">
              <a:buNone/>
            </a:pPr>
            <a:r>
              <a:rPr lang="en-US" sz="900" b="1" i="1" dirty="0">
                <a:solidFill>
                  <a:srgbClr val="1E7A4C"/>
                </a:solidFill>
                <a:latin typeface="Calibri" pitchFamily="34" charset="0"/>
                <a:ea typeface="Calibri" pitchFamily="34" charset="-122"/>
                <a:cs typeface="Calibri" pitchFamily="34" charset="-120"/>
              </a:rPr>
              <a:t>Prove it</a:t>
            </a:r>
            <a:endParaRPr lang="en-US" sz="900" dirty="0"/>
          </a:p>
        </p:txBody>
      </p:sp>
      <p:sp>
        <p:nvSpPr>
          <p:cNvPr id="44" name="Text 42"/>
          <p:cNvSpPr/>
          <p:nvPr/>
        </p:nvSpPr>
        <p:spPr>
          <a:xfrm>
            <a:off x="6144768" y="3337560"/>
            <a:ext cx="2377440" cy="566928"/>
          </a:xfrm>
          <a:prstGeom prst="rect">
            <a:avLst/>
          </a:prstGeom>
          <a:noFill/>
          <a:ln/>
        </p:spPr>
        <p:txBody>
          <a:bodyPr wrap="square" lIns="0" tIns="0" rIns="0" bIns="0" rtlCol="0" anchor="t"/>
          <a:lstStyle/>
          <a:p>
            <a:pPr indent="0" marL="0">
              <a:buNone/>
            </a:pPr>
            <a:r>
              <a:rPr lang="en-US" sz="950" b="1" dirty="0">
                <a:solidFill>
                  <a:srgbClr val="1F2A38"/>
                </a:solidFill>
                <a:latin typeface="Calibri" pitchFamily="34" charset="0"/>
                <a:ea typeface="Calibri" pitchFamily="34" charset="-122"/>
                <a:cs typeface="Calibri" pitchFamily="34" charset="-120"/>
              </a:rPr>
              <a:t>One room type, end-to-end, production-grade vertical slice.</a:t>
            </a:r>
            <a:endParaRPr lang="en-US" sz="950" dirty="0"/>
          </a:p>
        </p:txBody>
      </p:sp>
      <p:sp>
        <p:nvSpPr>
          <p:cNvPr id="45" name="Text 43"/>
          <p:cNvSpPr/>
          <p:nvPr/>
        </p:nvSpPr>
        <p:spPr>
          <a:xfrm>
            <a:off x="6144768" y="3813048"/>
            <a:ext cx="2377440" cy="219456"/>
          </a:xfrm>
          <a:prstGeom prst="rect">
            <a:avLst/>
          </a:prstGeom>
          <a:noFill/>
          <a:ln/>
        </p:spPr>
        <p:txBody>
          <a:bodyPr wrap="square" lIns="0" tIns="0" rIns="0" bIns="0" rtlCol="0" anchor="ctr"/>
          <a:lstStyle/>
          <a:p>
            <a:pPr indent="0" marL="0">
              <a:buNone/>
            </a:pPr>
            <a:r>
              <a:rPr lang="en-US" sz="850" b="1" dirty="0">
                <a:solidFill>
                  <a:srgbClr val="1E7A4C"/>
                </a:solidFill>
                <a:latin typeface="Calibri" pitchFamily="34" charset="0"/>
                <a:ea typeface="Calibri" pitchFamily="34" charset="-122"/>
                <a:cs typeface="Calibri" pitchFamily="34" charset="-120"/>
              </a:rPr>
              <a:t>→ GREEN</a:t>
            </a:r>
            <a:endParaRPr lang="en-US" sz="850" dirty="0"/>
          </a:p>
        </p:txBody>
      </p:sp>
      <p:sp>
        <p:nvSpPr>
          <p:cNvPr id="46" name="Shape 44"/>
          <p:cNvSpPr/>
          <p:nvPr/>
        </p:nvSpPr>
        <p:spPr>
          <a:xfrm>
            <a:off x="365760" y="4425696"/>
            <a:ext cx="8412480" cy="603504"/>
          </a:xfrm>
          <a:prstGeom prst="roundRect">
            <a:avLst>
              <a:gd name="adj" fmla="val 10606"/>
            </a:avLst>
          </a:prstGeom>
          <a:solidFill>
            <a:srgbClr val="16263F"/>
          </a:solidFill>
          <a:ln/>
        </p:spPr>
      </p:sp>
      <p:sp>
        <p:nvSpPr>
          <p:cNvPr id="47" name="Shape 45"/>
          <p:cNvSpPr/>
          <p:nvPr/>
        </p:nvSpPr>
        <p:spPr>
          <a:xfrm>
            <a:off x="566928" y="4572000"/>
            <a:ext cx="310896" cy="310896"/>
          </a:xfrm>
          <a:prstGeom prst="ellipse">
            <a:avLst/>
          </a:prstGeom>
          <a:solidFill>
            <a:srgbClr val="E8A816"/>
          </a:solidFill>
          <a:ln w="12700">
            <a:solidFill>
              <a:srgbClr val="E8A816"/>
            </a:solidFill>
            <a:prstDash val="solid"/>
          </a:ln>
        </p:spPr>
      </p:sp>
      <p:sp>
        <p:nvSpPr>
          <p:cNvPr id="48" name="Text 46"/>
          <p:cNvSpPr/>
          <p:nvPr/>
        </p:nvSpPr>
        <p:spPr>
          <a:xfrm>
            <a:off x="1024128" y="4425696"/>
            <a:ext cx="7626096" cy="603504"/>
          </a:xfrm>
          <a:prstGeom prst="rect">
            <a:avLst/>
          </a:prstGeom>
          <a:noFill/>
          <a:ln/>
        </p:spPr>
        <p:txBody>
          <a:bodyPr wrap="square" lIns="0" tIns="0" rIns="0" bIns="0" rtlCol="0" anchor="ctr"/>
          <a:lstStyle/>
          <a:p>
            <a:pPr indent="0" marL="0">
              <a:buNone/>
            </a:pPr>
            <a:r>
              <a:rPr lang="en-US" sz="1000" dirty="0">
                <a:solidFill>
                  <a:srgbClr val="E7EEF7"/>
                </a:solidFill>
                <a:latin typeface="Calibri" pitchFamily="34" charset="0"/>
                <a:ea typeface="Calibri" pitchFamily="34" charset="-122"/>
                <a:cs typeface="Calibri" pitchFamily="34" charset="-120"/>
              </a:rPr>
              <a:t>Each step clears a named blocker. Green = a production-grade vertical slice, shippable to customer #1. This is a sequenced rescue on clean seams — not a rewrite.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050" b="1" spc="300" kern="0" dirty="0">
                <a:solidFill>
                  <a:srgbClr val="C9952F"/>
                </a:solidFill>
                <a:latin typeface="Calibri" pitchFamily="34" charset="0"/>
                <a:ea typeface="Calibri" pitchFamily="34" charset="-122"/>
                <a:cs typeface="Calibri" pitchFamily="34" charset="-120"/>
              </a:rPr>
              <a:t>THE TARGET STATE</a:t>
            </a:r>
            <a:endParaRPr lang="en-US" sz="1050" dirty="0"/>
          </a:p>
        </p:txBody>
      </p:sp>
      <p:sp>
        <p:nvSpPr>
          <p:cNvPr id="3" name="Text 1"/>
          <p:cNvSpPr/>
          <p:nvPr/>
        </p:nvSpPr>
        <p:spPr>
          <a:xfrm>
            <a:off x="502920" y="548640"/>
            <a:ext cx="8229600" cy="548640"/>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Green: production-grade, scalable, sellable</a:t>
            </a:r>
            <a:endParaRPr lang="en-US" sz="2800" dirty="0"/>
          </a:p>
        </p:txBody>
      </p:sp>
      <p:sp>
        <p:nvSpPr>
          <p:cNvPr id="4" name="Shape 2"/>
          <p:cNvSpPr/>
          <p:nvPr/>
        </p:nvSpPr>
        <p:spPr>
          <a:xfrm>
            <a:off x="365760" y="1435608"/>
            <a:ext cx="237744" cy="237744"/>
          </a:xfrm>
          <a:prstGeom prst="ellipse">
            <a:avLst/>
          </a:prstGeom>
          <a:solidFill>
            <a:srgbClr val="1E7A4C"/>
          </a:solidFill>
          <a:ln w="12700">
            <a:solidFill>
              <a:srgbClr val="1E7A4C"/>
            </a:solidFill>
            <a:prstDash val="solid"/>
          </a:ln>
        </p:spPr>
      </p:sp>
      <p:sp>
        <p:nvSpPr>
          <p:cNvPr id="5" name="Text 3"/>
          <p:cNvSpPr/>
          <p:nvPr/>
        </p:nvSpPr>
        <p:spPr>
          <a:xfrm>
            <a:off x="365760" y="1435608"/>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694944" y="1371600"/>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Single source of truth  </a:t>
            </a:r>
            <a:pPr indent="0" marL="0">
              <a:buNone/>
            </a:pPr>
            <a:r>
              <a:rPr lang="en-US" sz="1050" dirty="0">
                <a:solidFill>
                  <a:srgbClr val="5B6B7E"/>
                </a:solidFill>
                <a:latin typeface="Calibri" pitchFamily="34" charset="0"/>
                <a:ea typeface="Calibri" pitchFamily="34" charset="-122"/>
                <a:cs typeface="Calibri" pitchFamily="34" charset="-120"/>
              </a:rPr>
              <a:t>— a testable, observable, scalable spine</a:t>
            </a:r>
            <a:endParaRPr lang="en-US" sz="1200" dirty="0"/>
          </a:p>
        </p:txBody>
      </p:sp>
      <p:sp>
        <p:nvSpPr>
          <p:cNvPr id="7" name="Shape 5"/>
          <p:cNvSpPr/>
          <p:nvPr/>
        </p:nvSpPr>
        <p:spPr>
          <a:xfrm>
            <a:off x="4590288" y="1435608"/>
            <a:ext cx="237744" cy="237744"/>
          </a:xfrm>
          <a:prstGeom prst="ellipse">
            <a:avLst/>
          </a:prstGeom>
          <a:solidFill>
            <a:srgbClr val="1E7A4C"/>
          </a:solidFill>
          <a:ln w="12700">
            <a:solidFill>
              <a:srgbClr val="1E7A4C"/>
            </a:solidFill>
            <a:prstDash val="solid"/>
          </a:ln>
        </p:spPr>
      </p:sp>
      <p:sp>
        <p:nvSpPr>
          <p:cNvPr id="8" name="Text 6"/>
          <p:cNvSpPr/>
          <p:nvPr/>
        </p:nvSpPr>
        <p:spPr>
          <a:xfrm>
            <a:off x="4590288" y="1435608"/>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4919472" y="1371600"/>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Correct-by-construction  </a:t>
            </a:r>
            <a:pPr indent="0" marL="0">
              <a:buNone/>
            </a:pPr>
            <a:r>
              <a:rPr lang="en-US" sz="1050" dirty="0">
                <a:solidFill>
                  <a:srgbClr val="5B6B7E"/>
                </a:solidFill>
                <a:latin typeface="Calibri" pitchFamily="34" charset="0"/>
                <a:ea typeface="Calibri" pitchFamily="34" charset="-122"/>
                <a:cs typeface="Calibri" pitchFamily="34" charset="-120"/>
              </a:rPr>
              <a:t>— E2E flows that work, headlessly tested</a:t>
            </a:r>
            <a:endParaRPr lang="en-US" sz="1200" dirty="0"/>
          </a:p>
        </p:txBody>
      </p:sp>
      <p:sp>
        <p:nvSpPr>
          <p:cNvPr id="10" name="Shape 8"/>
          <p:cNvSpPr/>
          <p:nvPr/>
        </p:nvSpPr>
        <p:spPr>
          <a:xfrm>
            <a:off x="365760" y="2039112"/>
            <a:ext cx="237744" cy="237744"/>
          </a:xfrm>
          <a:prstGeom prst="ellipse">
            <a:avLst/>
          </a:prstGeom>
          <a:solidFill>
            <a:srgbClr val="1E7A4C"/>
          </a:solidFill>
          <a:ln w="12700">
            <a:solidFill>
              <a:srgbClr val="1E7A4C"/>
            </a:solidFill>
            <a:prstDash val="solid"/>
          </a:ln>
        </p:spPr>
      </p:sp>
      <p:sp>
        <p:nvSpPr>
          <p:cNvPr id="11" name="Text 9"/>
          <p:cNvSpPr/>
          <p:nvPr/>
        </p:nvSpPr>
        <p:spPr>
          <a:xfrm>
            <a:off x="365760" y="2039112"/>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94944" y="1975104"/>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Horizontally scalable  </a:t>
            </a:r>
            <a:pPr indent="0" marL="0">
              <a:buNone/>
            </a:pPr>
            <a:r>
              <a:rPr lang="en-US" sz="1050" dirty="0">
                <a:solidFill>
                  <a:srgbClr val="5B6B7E"/>
                </a:solidFill>
                <a:latin typeface="Calibri" pitchFamily="34" charset="0"/>
                <a:ea typeface="Calibri" pitchFamily="34" charset="-122"/>
                <a:cs typeface="Calibri" pitchFamily="34" charset="-120"/>
              </a:rPr>
              <a:t>— CQRS, event-streaming, edge, multi-region</a:t>
            </a:r>
            <a:endParaRPr lang="en-US" sz="1200" dirty="0"/>
          </a:p>
        </p:txBody>
      </p:sp>
      <p:sp>
        <p:nvSpPr>
          <p:cNvPr id="13" name="Shape 11"/>
          <p:cNvSpPr/>
          <p:nvPr/>
        </p:nvSpPr>
        <p:spPr>
          <a:xfrm>
            <a:off x="4590288" y="2039112"/>
            <a:ext cx="237744" cy="237744"/>
          </a:xfrm>
          <a:prstGeom prst="ellipse">
            <a:avLst/>
          </a:prstGeom>
          <a:solidFill>
            <a:srgbClr val="1E7A4C"/>
          </a:solidFill>
          <a:ln w="12700">
            <a:solidFill>
              <a:srgbClr val="1E7A4C"/>
            </a:solidFill>
            <a:prstDash val="solid"/>
          </a:ln>
        </p:spPr>
      </p:sp>
      <p:sp>
        <p:nvSpPr>
          <p:cNvPr id="14" name="Text 12"/>
          <p:cNvSpPr/>
          <p:nvPr/>
        </p:nvSpPr>
        <p:spPr>
          <a:xfrm>
            <a:off x="4590288" y="2039112"/>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4919472" y="1975104"/>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Intelligent &amp; governed  </a:t>
            </a:r>
            <a:pPr indent="0" marL="0">
              <a:buNone/>
            </a:pPr>
            <a:r>
              <a:rPr lang="en-US" sz="1050" dirty="0">
                <a:solidFill>
                  <a:srgbClr val="5B6B7E"/>
                </a:solidFill>
                <a:latin typeface="Calibri" pitchFamily="34" charset="0"/>
                <a:ea typeface="Calibri" pitchFamily="34" charset="-122"/>
                <a:cs typeface="Calibri" pitchFamily="34" charset="-120"/>
              </a:rPr>
              <a:t>— agentic AI, gated — the moat Autodesk lacks</a:t>
            </a:r>
            <a:endParaRPr lang="en-US" sz="1200" dirty="0"/>
          </a:p>
        </p:txBody>
      </p:sp>
      <p:sp>
        <p:nvSpPr>
          <p:cNvPr id="16" name="Shape 14"/>
          <p:cNvSpPr/>
          <p:nvPr/>
        </p:nvSpPr>
        <p:spPr>
          <a:xfrm>
            <a:off x="365760" y="2642616"/>
            <a:ext cx="237744" cy="237744"/>
          </a:xfrm>
          <a:prstGeom prst="ellipse">
            <a:avLst/>
          </a:prstGeom>
          <a:solidFill>
            <a:srgbClr val="1E7A4C"/>
          </a:solidFill>
          <a:ln w="12700">
            <a:solidFill>
              <a:srgbClr val="1E7A4C"/>
            </a:solidFill>
            <a:prstDash val="solid"/>
          </a:ln>
        </p:spPr>
      </p:sp>
      <p:sp>
        <p:nvSpPr>
          <p:cNvPr id="17" name="Text 15"/>
          <p:cNvSpPr/>
          <p:nvPr/>
        </p:nvSpPr>
        <p:spPr>
          <a:xfrm>
            <a:off x="365760" y="2642616"/>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694944" y="2578608"/>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Interoperable  </a:t>
            </a:r>
            <a:pPr indent="0" marL="0">
              <a:buNone/>
            </a:pPr>
            <a:r>
              <a:rPr lang="en-US" sz="1050" dirty="0">
                <a:solidFill>
                  <a:srgbClr val="5B6B7E"/>
                </a:solidFill>
                <a:latin typeface="Calibri" pitchFamily="34" charset="0"/>
                <a:ea typeface="Calibri" pitchFamily="34" charset="-122"/>
                <a:cs typeface="Calibri" pitchFamily="34" charset="-120"/>
              </a:rPr>
              <a:t>— BIM-federated — credible to AEC buyers</a:t>
            </a:r>
            <a:endParaRPr lang="en-US" sz="1200" dirty="0"/>
          </a:p>
        </p:txBody>
      </p:sp>
      <p:sp>
        <p:nvSpPr>
          <p:cNvPr id="19" name="Shape 17"/>
          <p:cNvSpPr/>
          <p:nvPr/>
        </p:nvSpPr>
        <p:spPr>
          <a:xfrm>
            <a:off x="4590288" y="2642616"/>
            <a:ext cx="237744" cy="237744"/>
          </a:xfrm>
          <a:prstGeom prst="ellipse">
            <a:avLst/>
          </a:prstGeom>
          <a:solidFill>
            <a:srgbClr val="1E7A4C"/>
          </a:solidFill>
          <a:ln w="12700">
            <a:solidFill>
              <a:srgbClr val="1E7A4C"/>
            </a:solidFill>
            <a:prstDash val="solid"/>
          </a:ln>
        </p:spPr>
      </p:sp>
      <p:sp>
        <p:nvSpPr>
          <p:cNvPr id="20" name="Text 18"/>
          <p:cNvSpPr/>
          <p:nvPr/>
        </p:nvSpPr>
        <p:spPr>
          <a:xfrm>
            <a:off x="4590288" y="2642616"/>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4919472" y="2578608"/>
            <a:ext cx="3840480" cy="457200"/>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Shippable  </a:t>
            </a:r>
            <a:pPr indent="0" marL="0">
              <a:buNone/>
            </a:pPr>
            <a:r>
              <a:rPr lang="en-US" sz="1050" dirty="0">
                <a:solidFill>
                  <a:srgbClr val="5B6B7E"/>
                </a:solidFill>
                <a:latin typeface="Calibri" pitchFamily="34" charset="0"/>
                <a:ea typeface="Calibri" pitchFamily="34" charset="-122"/>
                <a:cs typeface="Calibri" pitchFamily="34" charset="-120"/>
              </a:rPr>
              <a:t>— production-grade slice → first paying customers</a:t>
            </a:r>
            <a:endParaRPr lang="en-US" sz="1200" dirty="0"/>
          </a:p>
        </p:txBody>
      </p:sp>
      <p:sp>
        <p:nvSpPr>
          <p:cNvPr id="22" name="Shape 20"/>
          <p:cNvSpPr/>
          <p:nvPr/>
        </p:nvSpPr>
        <p:spPr>
          <a:xfrm>
            <a:off x="365760" y="4425696"/>
            <a:ext cx="8412480" cy="603504"/>
          </a:xfrm>
          <a:prstGeom prst="roundRect">
            <a:avLst>
              <a:gd name="adj" fmla="val 10606"/>
            </a:avLst>
          </a:prstGeom>
          <a:solidFill>
            <a:srgbClr val="16263F"/>
          </a:solidFill>
          <a:ln/>
        </p:spPr>
      </p:sp>
      <p:sp>
        <p:nvSpPr>
          <p:cNvPr id="23" name="Shape 21"/>
          <p:cNvSpPr/>
          <p:nvPr/>
        </p:nvSpPr>
        <p:spPr>
          <a:xfrm>
            <a:off x="566928" y="4572000"/>
            <a:ext cx="310896" cy="310896"/>
          </a:xfrm>
          <a:prstGeom prst="ellipse">
            <a:avLst/>
          </a:prstGeom>
          <a:solidFill>
            <a:srgbClr val="E8A816"/>
          </a:solidFill>
          <a:ln w="12700">
            <a:solidFill>
              <a:srgbClr val="E8A816"/>
            </a:solidFill>
            <a:prstDash val="solid"/>
          </a:ln>
        </p:spPr>
      </p:sp>
      <p:sp>
        <p:nvSpPr>
          <p:cNvPr id="24" name="Text 22"/>
          <p:cNvSpPr/>
          <p:nvPr/>
        </p:nvSpPr>
        <p:spPr>
          <a:xfrm>
            <a:off x="1024128" y="4425696"/>
            <a:ext cx="7626096" cy="603504"/>
          </a:xfrm>
          <a:prstGeom prst="rect">
            <a:avLst/>
          </a:prstGeom>
          <a:noFill/>
          <a:ln/>
        </p:spPr>
        <p:txBody>
          <a:bodyPr wrap="square" lIns="0" tIns="0" rIns="0" bIns="0" rtlCol="0" anchor="ctr"/>
          <a:lstStyle/>
          <a:p>
            <a:pPr indent="0" marL="0">
              <a:buNone/>
            </a:pPr>
            <a:r>
              <a:rPr lang="en-US" sz="1000" dirty="0">
                <a:solidFill>
                  <a:srgbClr val="E7EEF7"/>
                </a:solidFill>
                <a:latin typeface="Calibri" pitchFamily="34" charset="0"/>
                <a:ea typeface="Calibri" pitchFamily="34" charset="-122"/>
                <a:cs typeface="Calibri" pitchFamily="34" charset="-120"/>
              </a:rPr>
              <a:t>StatusNeo's transformation + this architecture rescue = the complete picture. Process fixes HOW we work; architecture fixes WHAT we ship. One without the other never reaches green.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Contextual Intelligence Construction Shippable</dc:title>
  <dc:subject>PptxGenJS Presentation</dc:subject>
  <dc:creator>StatusNeo FDE</dc:creator>
  <cp:lastModifiedBy>StatusNeo FDE</cp:lastModifiedBy>
  <cp:revision>1</cp:revision>
  <dcterms:created xsi:type="dcterms:W3CDTF">2026-06-13T01:10:02Z</dcterms:created>
  <dcterms:modified xsi:type="dcterms:W3CDTF">2026-06-13T01:10:02Z</dcterms:modified>
</cp:coreProperties>
</file>