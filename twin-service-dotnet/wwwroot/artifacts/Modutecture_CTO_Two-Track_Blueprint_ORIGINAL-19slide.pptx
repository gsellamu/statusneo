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90-second framing: I didn't study the job description, I studied the business. Buildings should compound, not restart — three context loops. Most vendors pitch a chatbot on top; that's not the work. Today: two tracks — what the platform must become, and how we ship it. Everything here is offered for validation; decisions stay with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Acknowledge what exists before any critique: the vision is differentiated and the three context loops are the right model. Position yourself as the person who makes it shippable, not the person who reinvents it. Land the phrase: 'your sign-off is the gate.'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Credibility through homework, humility through framing. Mention that the portfolio (requirements, BDD, ADRs) exists so his sign-offs become reviews, not rescues. Invite correction explicitly — strict CTOs trust people who make their own falsifiability visible.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one-slide thesis: effort hasn't translated to outcomes because two different problems are conflated. Track 1 is platform identity; Track 2 is shipping discipline. Then anchor everything on the single measurable north star — strict CTOs relax when a number replaces adjectives.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table left to right: every finding from the meeting maps to a named theme and a 30-day proof. The message: nothing is abstract — each concern already has a first deliverable and a date. Pause on whichever row he leans into; deep-dives follow.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difference between a chatbot and contextual intelligence: ground first (Phase A is just structuring data Modutecture already owns), assist second, learn third. Spend time on the guardrails — they are the answer to the liability question before he asks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reframe the CTO will remember: reusability fails today because it depends on people, not the platform. The MDS makes a Moducule a contract; validation makes composition legal-by-construction; the registry with certification makes reuse safe in a regulated, healthcare context. Interop stays vendor-neutral: IFC-aligned semantics, glTF/USD geometry.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respectful points: the RDBMS pain is acknowledged work — the Postgres/Lakebase migration is already in flight, and this plan finishes it rather than restarting it. And no store is added by fashion: each comes with an ADR, thresholds, and a revisit date. Event sourcing doubles as the compliance audit trail healthcare will demand anyway.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Respect the team while addressing the risk: the constraints are hypotheses to test, not verdicts. Decoupling state from the client is the real de-risking move — it buys engine optionality regardless of the spike's outcome, and ends logic-in-client drift. XR stays as a differentiator the current pod can genuinely build.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with humility: 'this is your proposal — my job is to make it enforceable.' Each card has a gate: ADR sign-off, ready/done definitions, human-only merge, exit criteria. The pilot-pod recommendation (Context &amp; Twin Services) keeps business continuity in the UI streams while unblocking the platform-critical themes.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authority move delivered humbly: invite measurement. The promised numbers in the proposal become published targets, and the scorecard runs every governance cycle. A strict CTO hears: this person expects to be audited — and built the instrument for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decision slide. A optimizes the next board meeting; B the terminal architecture; C decision quality — and your credibility — landing at B's destination two weeks later. Be straight about the thumb on the scale: declare web-first as the recommendation; the gates exist to falsify it on his hardware and his content, not to feign neutrality. UE5 is assessed on paper — standing up pixel streaming inside a two-week timebox would be theater. Invite David to amend the gates; his authority bookends the process.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Capacity math said out loud: a single-thread wedge sized for a six-person pod that is simultaneously executing the eight-week transition — roughly half of what an unconstrained plan would promise, deliverable with near-certainty. What moved to days 91-150 and why: Floor aggregates, Designer publishing, and the hardened agent need a stable spine first. Day 90 still demos end-to-end and still opens the sales motion. Smaller promise, kept.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asks that respect his authority and pre-empt the politics: he keeps decision rights; access on day one; the design partner is HIS deliverable with a synthetic fallback so day 90 never depends on procurement; the pilot gets his exit criteria; and ask 5 defuses the threat the transition poses to Lloyd and Byron — co-authorship, not extraction. End on the tagline, then stop talking.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Only open this section if David asks for Unity depth. Set the frame in one line: the constraint is Unity as the only delivery vehicle into hospital IT — not the engine. RAG legend keeps the discussion about commercial motion, not technology taste.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RED rows first — endpoints/VDI, web ceilings at BIM scale, accessibility, and BIM handover are the four that stop deals rather than slow them. Be precise: these bind the *delivery vehicle*; authoring value is untouched. Vendor-terms volatility (Industry tier, 2026 price changes) is a contract-contingency line, deliberately not on this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structure to emphasize: every mitigation comes with a falsifiable proof gate, so 'green' is a demonstrated state, not a declared one. The right-hand column is what David signs off on — gates, not opinions.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backup section here: twelve weeks, three gates, and a definition of green that is testable. If David challenges the timeline, the spike (weeks 1–4) is the only firm commitment — everything after is gated on its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different mechanisms, deliberately separated: content is cached (immutable, content-addressed bundles at the edge), state is synced (snapshot + event delta — never CDN-cached), and the brain is relocated, not cached (inference co-located with the graph; the local-first posture already is edge inference). The latency table is the rebuttal to 'the AI will feel slow': T0/T1 prediction plus asset caching kills perceived latency; the LLM never sits on the interaction path. Jobsite edge node is the AEC-specific differentiator — construction trailers have terrible connectivity.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1.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slideLayout" Target="../slideLayouts/slideLayout1.xml"/><Relationship Id="rId10"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slideLayout" Target="../slideLayouts/slideLayout1.xml"/><Relationship Id="rId9"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slideLayout" Target="../slideLayouts/slideLayout1.xml"/><Relationship Id="rId10"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slideLayout" Target="../slideLayouts/slideLayout1.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slideLayout" Target="../slideLayouts/slideLayout1.xml"/><Relationship Id="rId7"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slideLayout" Target="../slideLayouts/slideLayout1.xml"/><Relationship Id="rId7"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263F"/>
        </a:solidFill>
      </p:bgPr>
    </p:bg>
    <p:spTree>
      <p:nvGrpSpPr>
        <p:cNvPr id="1" name=""/>
        <p:cNvGrpSpPr/>
        <p:nvPr/>
      </p:nvGrpSpPr>
      <p:grpSpPr>
        <a:xfrm>
          <a:off x="0" y="0"/>
          <a:ext cx="0" cy="0"/>
          <a:chOff x="0" y="0"/>
          <a:chExt cx="0" cy="0"/>
        </a:xfrm>
      </p:grpSpPr>
      <p:sp>
        <p:nvSpPr>
          <p:cNvPr id="2" name="Shape 0"/>
          <p:cNvSpPr/>
          <p:nvPr/>
        </p:nvSpPr>
        <p:spPr>
          <a:xfrm>
            <a:off x="6720840" y="1417320"/>
            <a:ext cx="603504" cy="603504"/>
          </a:xfrm>
          <a:prstGeom prst="roundRect">
            <a:avLst>
              <a:gd name="adj" fmla="val 10606"/>
            </a:avLst>
          </a:prstGeom>
          <a:solidFill>
            <a:srgbClr val="E8A816"/>
          </a:solidFill>
          <a:ln w="12700">
            <a:solidFill>
              <a:srgbClr val="3A4F78"/>
            </a:solidFill>
            <a:prstDash val="solid"/>
          </a:ln>
        </p:spPr>
      </p:sp>
      <p:sp>
        <p:nvSpPr>
          <p:cNvPr id="3" name="Shape 1"/>
          <p:cNvSpPr/>
          <p:nvPr/>
        </p:nvSpPr>
        <p:spPr>
          <a:xfrm>
            <a:off x="7452360" y="1417320"/>
            <a:ext cx="603504" cy="603504"/>
          </a:xfrm>
          <a:prstGeom prst="roundRect">
            <a:avLst>
              <a:gd name="adj" fmla="val 10606"/>
            </a:avLst>
          </a:prstGeom>
          <a:solidFill>
            <a:srgbClr val="23375A"/>
          </a:solidFill>
          <a:ln w="9525">
            <a:solidFill>
              <a:srgbClr val="3A4F78"/>
            </a:solidFill>
            <a:prstDash val="solid"/>
          </a:ln>
        </p:spPr>
      </p:sp>
      <p:sp>
        <p:nvSpPr>
          <p:cNvPr id="4" name="Shape 2"/>
          <p:cNvSpPr/>
          <p:nvPr/>
        </p:nvSpPr>
        <p:spPr>
          <a:xfrm>
            <a:off x="8183880" y="1417320"/>
            <a:ext cx="603504" cy="603504"/>
          </a:xfrm>
          <a:prstGeom prst="roundRect">
            <a:avLst>
              <a:gd name="adj" fmla="val 10606"/>
            </a:avLst>
          </a:prstGeom>
          <a:solidFill>
            <a:srgbClr val="23375A"/>
          </a:solidFill>
          <a:ln w="9525">
            <a:solidFill>
              <a:srgbClr val="3A4F78"/>
            </a:solidFill>
            <a:prstDash val="solid"/>
          </a:ln>
        </p:spPr>
      </p:sp>
      <p:sp>
        <p:nvSpPr>
          <p:cNvPr id="5" name="Shape 3"/>
          <p:cNvSpPr/>
          <p:nvPr/>
        </p:nvSpPr>
        <p:spPr>
          <a:xfrm>
            <a:off x="6720840" y="2148840"/>
            <a:ext cx="603504" cy="603504"/>
          </a:xfrm>
          <a:prstGeom prst="roundRect">
            <a:avLst>
              <a:gd name="adj" fmla="val 10606"/>
            </a:avLst>
          </a:prstGeom>
          <a:solidFill>
            <a:srgbClr val="23375A"/>
          </a:solidFill>
          <a:ln w="9525">
            <a:solidFill>
              <a:srgbClr val="3A4F78"/>
            </a:solidFill>
            <a:prstDash val="solid"/>
          </a:ln>
        </p:spPr>
      </p:sp>
      <p:sp>
        <p:nvSpPr>
          <p:cNvPr id="6" name="Shape 4"/>
          <p:cNvSpPr/>
          <p:nvPr/>
        </p:nvSpPr>
        <p:spPr>
          <a:xfrm>
            <a:off x="7452360" y="2148840"/>
            <a:ext cx="603504" cy="603504"/>
          </a:xfrm>
          <a:prstGeom prst="roundRect">
            <a:avLst>
              <a:gd name="adj" fmla="val 10606"/>
            </a:avLst>
          </a:prstGeom>
          <a:solidFill>
            <a:srgbClr val="E8A816"/>
          </a:solidFill>
          <a:ln w="12700">
            <a:solidFill>
              <a:srgbClr val="3A4F78"/>
            </a:solidFill>
            <a:prstDash val="solid"/>
          </a:ln>
        </p:spPr>
      </p:sp>
      <p:sp>
        <p:nvSpPr>
          <p:cNvPr id="7" name="Shape 5"/>
          <p:cNvSpPr/>
          <p:nvPr/>
        </p:nvSpPr>
        <p:spPr>
          <a:xfrm>
            <a:off x="8183880" y="2148840"/>
            <a:ext cx="603504" cy="603504"/>
          </a:xfrm>
          <a:prstGeom prst="roundRect">
            <a:avLst>
              <a:gd name="adj" fmla="val 10606"/>
            </a:avLst>
          </a:prstGeom>
          <a:solidFill>
            <a:srgbClr val="23375A"/>
          </a:solidFill>
          <a:ln w="9525">
            <a:solidFill>
              <a:srgbClr val="3A4F78"/>
            </a:solidFill>
            <a:prstDash val="solid"/>
          </a:ln>
        </p:spPr>
      </p:sp>
      <p:sp>
        <p:nvSpPr>
          <p:cNvPr id="8" name="Shape 6"/>
          <p:cNvSpPr/>
          <p:nvPr/>
        </p:nvSpPr>
        <p:spPr>
          <a:xfrm>
            <a:off x="6720840" y="2880360"/>
            <a:ext cx="603504" cy="603504"/>
          </a:xfrm>
          <a:prstGeom prst="roundRect">
            <a:avLst>
              <a:gd name="adj" fmla="val 10606"/>
            </a:avLst>
          </a:prstGeom>
          <a:solidFill>
            <a:srgbClr val="23375A"/>
          </a:solidFill>
          <a:ln w="9525">
            <a:solidFill>
              <a:srgbClr val="3A4F78"/>
            </a:solidFill>
            <a:prstDash val="solid"/>
          </a:ln>
        </p:spPr>
      </p:sp>
      <p:sp>
        <p:nvSpPr>
          <p:cNvPr id="9" name="Shape 7"/>
          <p:cNvSpPr/>
          <p:nvPr/>
        </p:nvSpPr>
        <p:spPr>
          <a:xfrm>
            <a:off x="7452360" y="2880360"/>
            <a:ext cx="603504" cy="603504"/>
          </a:xfrm>
          <a:prstGeom prst="roundRect">
            <a:avLst>
              <a:gd name="adj" fmla="val 10606"/>
            </a:avLst>
          </a:prstGeom>
          <a:solidFill>
            <a:srgbClr val="23375A"/>
          </a:solidFill>
          <a:ln w="9525">
            <a:solidFill>
              <a:srgbClr val="3A4F78"/>
            </a:solidFill>
            <a:prstDash val="solid"/>
          </a:ln>
        </p:spPr>
      </p:sp>
      <p:sp>
        <p:nvSpPr>
          <p:cNvPr id="10" name="Shape 8"/>
          <p:cNvSpPr/>
          <p:nvPr/>
        </p:nvSpPr>
        <p:spPr>
          <a:xfrm>
            <a:off x="8183880" y="2880360"/>
            <a:ext cx="603504" cy="603504"/>
          </a:xfrm>
          <a:prstGeom prst="roundRect">
            <a:avLst>
              <a:gd name="adj" fmla="val 10606"/>
            </a:avLst>
          </a:prstGeom>
          <a:solidFill>
            <a:srgbClr val="E8A816"/>
          </a:solidFill>
          <a:ln w="12700">
            <a:solidFill>
              <a:srgbClr val="3A4F78"/>
            </a:solidFill>
            <a:prstDash val="solid"/>
          </a:ln>
        </p:spPr>
      </p:sp>
      <p:sp>
        <p:nvSpPr>
          <p:cNvPr id="11" name="Text 9"/>
          <p:cNvSpPr/>
          <p:nvPr/>
        </p:nvSpPr>
        <p:spPr>
          <a:xfrm>
            <a:off x="502920" y="457200"/>
            <a:ext cx="8138160" cy="274320"/>
          </a:xfrm>
          <a:prstGeom prst="rect">
            <a:avLst/>
          </a:prstGeom>
          <a:noFill/>
          <a:ln/>
        </p:spPr>
        <p:txBody>
          <a:bodyPr wrap="square" lIns="0" tIns="0" rIns="0" bIns="0" rtlCol="0" anchor="ctr"/>
          <a:lstStyle/>
          <a:p>
            <a:pPr indent="0" marL="0">
              <a:buNone/>
            </a:pPr>
            <a:r>
              <a:rPr lang="en-US" sz="1050" b="1" spc="250" kern="0" dirty="0">
                <a:solidFill>
                  <a:srgbClr val="E8A816"/>
                </a:solidFill>
                <a:latin typeface="Calibri" pitchFamily="34" charset="0"/>
                <a:ea typeface="Calibri" pitchFamily="34" charset="-122"/>
                <a:cs typeface="Calibri" pitchFamily="34" charset="-120"/>
              </a:rPr>
              <a:t>STATUSNEO × MODUTECTURE  ·  FORWARD-DEPLOYED ENGINEERING</a:t>
            </a:r>
            <a:endParaRPr lang="en-US" sz="1050" dirty="0"/>
          </a:p>
        </p:txBody>
      </p:sp>
      <p:sp>
        <p:nvSpPr>
          <p:cNvPr id="12" name="Text 10"/>
          <p:cNvSpPr/>
          <p:nvPr/>
        </p:nvSpPr>
        <p:spPr>
          <a:xfrm>
            <a:off x="502920" y="1325880"/>
            <a:ext cx="5943600" cy="1554480"/>
          </a:xfrm>
          <a:prstGeom prst="rect">
            <a:avLst/>
          </a:prstGeom>
          <a:noFill/>
          <a:ln/>
        </p:spPr>
        <p:txBody>
          <a:bodyPr wrap="square" lIns="0" tIns="0" rIns="0" bIns="0" rtlCol="0" anchor="ctr"/>
          <a:lstStyle/>
          <a:p>
            <a:pPr indent="0" marL="0">
              <a:lnSpc>
                <a:spcPts val="4400"/>
              </a:lnSpc>
              <a:buNone/>
            </a:pPr>
            <a:r>
              <a:rPr lang="en-US" sz="3800" b="1" dirty="0">
                <a:solidFill>
                  <a:srgbClr val="FFFFFF"/>
                </a:solidFill>
                <a:latin typeface="Cambria" pitchFamily="34" charset="0"/>
                <a:ea typeface="Cambria" pitchFamily="34" charset="-122"/>
                <a:cs typeface="Cambria" pitchFamily="34" charset="-120"/>
              </a:rPr>
              <a:t>Making Contextual Intelligence</a:t>
            </a:r>
            <a:endParaRPr lang="en-US" sz="3800" dirty="0"/>
          </a:p>
          <a:p>
            <a:pPr indent="0" marL="0">
              <a:lnSpc>
                <a:spcPts val="4400"/>
              </a:lnSpc>
              <a:buNone/>
            </a:pPr>
            <a:r>
              <a:rPr lang="en-US" sz="3800" b="1" dirty="0">
                <a:solidFill>
                  <a:srgbClr val="FFFFFF"/>
                </a:solidFill>
                <a:latin typeface="Cambria" pitchFamily="34" charset="0"/>
                <a:ea typeface="Cambria" pitchFamily="34" charset="-122"/>
                <a:cs typeface="Cambria" pitchFamily="34" charset="-120"/>
              </a:rPr>
              <a:t>Construction Shippable</a:t>
            </a:r>
            <a:endParaRPr lang="en-US" sz="3800" dirty="0"/>
          </a:p>
        </p:txBody>
      </p:sp>
      <p:sp>
        <p:nvSpPr>
          <p:cNvPr id="13" name="Text 11"/>
          <p:cNvSpPr/>
          <p:nvPr/>
        </p:nvSpPr>
        <p:spPr>
          <a:xfrm>
            <a:off x="502920" y="2971800"/>
            <a:ext cx="5760720" cy="640080"/>
          </a:xfrm>
          <a:prstGeom prst="rect">
            <a:avLst/>
          </a:prstGeom>
          <a:noFill/>
          <a:ln/>
        </p:spPr>
        <p:txBody>
          <a:bodyPr wrap="square" lIns="0" tIns="0" rIns="0" bIns="0" rtlCol="0" anchor="ctr"/>
          <a:lstStyle/>
          <a:p>
            <a:pPr indent="0" marL="0">
              <a:buNone/>
            </a:pPr>
            <a:r>
              <a:rPr lang="en-US" sz="1450" dirty="0">
                <a:solidFill>
                  <a:srgbClr val="C9D6E8"/>
                </a:solidFill>
                <a:latin typeface="Calibri" pitchFamily="34" charset="0"/>
                <a:ea typeface="Calibri" pitchFamily="34" charset="-122"/>
                <a:cs typeface="Calibri" pitchFamily="34" charset="-120"/>
              </a:rPr>
              <a:t>A two-track execution blueprint — what the platform must become,</a:t>
            </a:r>
            <a:endParaRPr lang="en-US" sz="1450" dirty="0"/>
          </a:p>
          <a:p>
            <a:pPr indent="0" marL="0">
              <a:buNone/>
            </a:pPr>
            <a:r>
              <a:rPr lang="en-US" sz="1450" dirty="0">
                <a:solidFill>
                  <a:srgbClr val="C9D6E8"/>
                </a:solidFill>
                <a:latin typeface="Calibri" pitchFamily="34" charset="0"/>
                <a:ea typeface="Calibri" pitchFamily="34" charset="-122"/>
                <a:cs typeface="Calibri" pitchFamily="34" charset="-120"/>
              </a:rPr>
              <a:t>and how the organization ships it.</a:t>
            </a:r>
            <a:endParaRPr lang="en-US" sz="1450" dirty="0"/>
          </a:p>
        </p:txBody>
      </p:sp>
      <p:sp>
        <p:nvSpPr>
          <p:cNvPr id="14" name="Text 12"/>
          <p:cNvSpPr/>
          <p:nvPr/>
        </p:nvSpPr>
        <p:spPr>
          <a:xfrm>
            <a:off x="502920" y="3703320"/>
            <a:ext cx="5760720" cy="292608"/>
          </a:xfrm>
          <a:prstGeom prst="rect">
            <a:avLst/>
          </a:prstGeom>
          <a:noFill/>
          <a:ln/>
        </p:spPr>
        <p:txBody>
          <a:bodyPr wrap="square" lIns="0" tIns="0" rIns="0" bIns="0" rtlCol="0" anchor="ctr"/>
          <a:lstStyle/>
          <a:p>
            <a:pPr indent="0" marL="0">
              <a:buNone/>
            </a:pPr>
            <a:r>
              <a:rPr lang="en-US" sz="1250" i="1" dirty="0">
                <a:solidFill>
                  <a:srgbClr val="E8A816"/>
                </a:solidFill>
                <a:latin typeface="Calibri" pitchFamily="34" charset="0"/>
                <a:ea typeface="Calibri" pitchFamily="34" charset="-122"/>
                <a:cs typeface="Calibri" pitchFamily="34" charset="-120"/>
              </a:rPr>
              <a:t>A working perspective, offered for your validation.</a:t>
            </a:r>
            <a:endParaRPr lang="en-US" sz="1250" dirty="0"/>
          </a:p>
        </p:txBody>
      </p:sp>
      <p:sp>
        <p:nvSpPr>
          <p:cNvPr id="15" name="Shape 13"/>
          <p:cNvSpPr/>
          <p:nvPr/>
        </p:nvSpPr>
        <p:spPr>
          <a:xfrm>
            <a:off x="502920" y="4370832"/>
            <a:ext cx="8138160" cy="0"/>
          </a:xfrm>
          <a:prstGeom prst="line">
            <a:avLst/>
          </a:prstGeom>
          <a:noFill/>
          <a:ln w="9525">
            <a:solidFill>
              <a:srgbClr val="3A4F78"/>
            </a:solidFill>
            <a:prstDash val="solid"/>
          </a:ln>
        </p:spPr>
      </p:sp>
      <p:sp>
        <p:nvSpPr>
          <p:cNvPr id="16" name="Text 14"/>
          <p:cNvSpPr/>
          <p:nvPr/>
        </p:nvSpPr>
        <p:spPr>
          <a:xfrm>
            <a:off x="502920" y="4498848"/>
            <a:ext cx="8138160" cy="274320"/>
          </a:xfrm>
          <a:prstGeom prst="rect">
            <a:avLst/>
          </a:prstGeom>
          <a:noFill/>
          <a:ln/>
        </p:spPr>
        <p:txBody>
          <a:bodyPr wrap="square" lIns="0" tIns="0" rIns="0" bIns="0" rtlCol="0" anchor="ctr"/>
          <a:lstStyle/>
          <a:p>
            <a:pPr indent="0" marL="0">
              <a:buNone/>
            </a:pPr>
            <a:r>
              <a:rPr lang="en-US" sz="1150" dirty="0">
                <a:solidFill>
                  <a:srgbClr val="C9D6E8"/>
                </a:solidFill>
                <a:latin typeface="Calibri" pitchFamily="34" charset="0"/>
                <a:ea typeface="Calibri" pitchFamily="34" charset="-122"/>
                <a:cs typeface="Calibri" pitchFamily="34" charset="-120"/>
              </a:rPr>
              <a:t>Prepared for David Wilson · Tech Head, Modutecture</a:t>
            </a:r>
            <a:pPr indent="0" marL="0">
              <a:buNone/>
            </a:pPr>
            <a:r>
              <a:rPr lang="en-US" sz="1150" dirty="0">
                <a:solidFill>
                  <a:srgbClr val="5B6B7E"/>
                </a:solidFill>
                <a:latin typeface="Calibri" pitchFamily="34" charset="0"/>
                <a:ea typeface="Calibri" pitchFamily="34" charset="-122"/>
                <a:cs typeface="Calibri" pitchFamily="34" charset="-120"/>
              </a:rPr>
              <a:t>      June 12, 2026</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92608"/>
            <a:ext cx="8229600" cy="274320"/>
          </a:xfrm>
          <a:prstGeom prst="rect">
            <a:avLst/>
          </a:prstGeom>
          <a:noFill/>
          <a:ln/>
        </p:spPr>
        <p:txBody>
          <a:bodyPr wrap="square" lIns="0" tIns="0" rIns="0" bIns="0" rtlCol="0" anchor="ctr"/>
          <a:lstStyle/>
          <a:p>
            <a:pPr indent="0" marL="0">
              <a:buNone/>
            </a:pPr>
            <a:r>
              <a:rPr lang="en-US" sz="1050" b="1" spc="200" kern="0" dirty="0">
                <a:solidFill>
                  <a:srgbClr val="C78F0D"/>
                </a:solidFill>
                <a:latin typeface="Calibri" pitchFamily="34" charset="0"/>
                <a:ea typeface="Calibri" pitchFamily="34" charset="-122"/>
                <a:cs typeface="Calibri" pitchFamily="34" charset="-120"/>
              </a:rPr>
              <a:t>RESPECT FOR THE FOUNDATION</a:t>
            </a:r>
            <a:endParaRPr lang="en-US" sz="1050" dirty="0"/>
          </a:p>
        </p:txBody>
      </p:sp>
      <p:sp>
        <p:nvSpPr>
          <p:cNvPr id="3" name="Text 1"/>
          <p:cNvSpPr/>
          <p:nvPr/>
        </p:nvSpPr>
        <p:spPr>
          <a:xfrm>
            <a:off x="457200" y="530352"/>
            <a:ext cx="8229600" cy="566928"/>
          </a:xfrm>
          <a:prstGeom prst="rect">
            <a:avLst/>
          </a:prstGeom>
          <a:noFill/>
          <a:ln/>
        </p:spPr>
        <p:txBody>
          <a:bodyPr wrap="square" lIns="0" tIns="0" rIns="0" bIns="0" rtlCol="0" anchor="ctr"/>
          <a:lstStyle/>
          <a:p>
            <a:pPr indent="0" marL="0">
              <a:buNone/>
            </a:pPr>
            <a:r>
              <a:rPr lang="en-US" sz="2800" b="1" dirty="0">
                <a:solidFill>
                  <a:srgbClr val="16263F"/>
                </a:solidFill>
                <a:latin typeface="Cambria" pitchFamily="34" charset="0"/>
                <a:ea typeface="Cambria" pitchFamily="34" charset="-122"/>
                <a:cs typeface="Cambria" pitchFamily="34" charset="-120"/>
              </a:rPr>
              <a:t>What you've already built</a:t>
            </a:r>
            <a:endParaRPr lang="en-US" sz="2800" dirty="0"/>
          </a:p>
        </p:txBody>
      </p:sp>
      <p:sp>
        <p:nvSpPr>
          <p:cNvPr id="4" name="Text 2"/>
          <p:cNvSpPr/>
          <p:nvPr/>
        </p:nvSpPr>
        <p:spPr>
          <a:xfrm>
            <a:off x="457200" y="1170432"/>
            <a:ext cx="8229600" cy="292608"/>
          </a:xfrm>
          <a:prstGeom prst="rect">
            <a:avLst/>
          </a:prstGeom>
          <a:noFill/>
          <a:ln/>
        </p:spPr>
        <p:txBody>
          <a:bodyPr wrap="square" lIns="0" tIns="0" rIns="0" bIns="0" rtlCol="0" anchor="ctr"/>
          <a:lstStyle/>
          <a:p>
            <a:pPr indent="0" marL="0">
              <a:buNone/>
            </a:pPr>
            <a:r>
              <a:rPr lang="en-US" sz="1300" dirty="0">
                <a:solidFill>
                  <a:srgbClr val="5B6B7E"/>
                </a:solidFill>
                <a:latin typeface="Calibri" pitchFamily="34" charset="0"/>
                <a:ea typeface="Calibri" pitchFamily="34" charset="-122"/>
                <a:cs typeface="Calibri" pitchFamily="34" charset="-120"/>
              </a:rPr>
              <a:t>Modutecture's bet is right: buildings should compound, not restart from zero. Three context loops, one platform.</a:t>
            </a:r>
            <a:endParaRPr lang="en-US" sz="1300" dirty="0"/>
          </a:p>
        </p:txBody>
      </p:sp>
      <p:sp>
        <p:nvSpPr>
          <p:cNvPr id="5" name="Shape 3"/>
          <p:cNvSpPr/>
          <p:nvPr/>
        </p:nvSpPr>
        <p:spPr>
          <a:xfrm>
            <a:off x="457200" y="1627632"/>
            <a:ext cx="2624328" cy="2395728"/>
          </a:xfrm>
          <a:prstGeom prst="roundRect">
            <a:avLst>
              <a:gd name="adj" fmla="val 2290"/>
            </a:avLst>
          </a:prstGeom>
          <a:solidFill>
            <a:srgbClr val="F3F6FA"/>
          </a:solidFill>
          <a:ln/>
          <a:effectLst>
            <a:outerShdw sx="100000" sy="100000" kx="0" ky="0" algn="bl" rotWithShape="0" blurRad="88900" dist="25400" dir="2700000">
              <a:srgbClr val="000000">
                <a:alpha val="14000"/>
              </a:srgbClr>
            </a:outerShdw>
          </a:effectLst>
        </p:spPr>
      </p:sp>
      <p:sp>
        <p:nvSpPr>
          <p:cNvPr id="6" name="Shape 4"/>
          <p:cNvSpPr/>
          <p:nvPr/>
        </p:nvSpPr>
        <p:spPr>
          <a:xfrm>
            <a:off x="658368" y="1828800"/>
            <a:ext cx="512064" cy="512064"/>
          </a:xfrm>
          <a:prstGeom prst="ellipse">
            <a:avLst/>
          </a:prstGeom>
          <a:solidFill>
            <a:srgbClr val="16263F"/>
          </a:solidFill>
          <a:ln/>
        </p:spPr>
      </p:sp>
      <p:pic>
        <p:nvPicPr>
          <p:cNvPr id="7" name="Image 0" descr="preencoded.png">    </p:cNvPr>
          <p:cNvPicPr>
            <a:picLocks noChangeAspect="1"/>
          </p:cNvPicPr>
          <p:nvPr/>
        </p:nvPicPr>
        <p:blipFill>
          <a:blip r:embed="rId1"/>
          <a:stretch>
            <a:fillRect/>
          </a:stretch>
        </p:blipFill>
        <p:spPr>
          <a:xfrm>
            <a:off x="791505" y="1961937"/>
            <a:ext cx="245791" cy="245791"/>
          </a:xfrm>
          <a:prstGeom prst="rect">
            <a:avLst/>
          </a:prstGeom>
        </p:spPr>
      </p:pic>
      <p:sp>
        <p:nvSpPr>
          <p:cNvPr id="8" name="Text 5"/>
          <p:cNvSpPr/>
          <p:nvPr/>
        </p:nvSpPr>
        <p:spPr>
          <a:xfrm>
            <a:off x="658368" y="2450592"/>
            <a:ext cx="2240280" cy="274320"/>
          </a:xfrm>
          <a:prstGeom prst="rect">
            <a:avLst/>
          </a:prstGeom>
          <a:noFill/>
          <a:ln/>
        </p:spPr>
        <p:txBody>
          <a:bodyPr wrap="square" lIns="0" tIns="0" rIns="0" bIns="0" rtlCol="0" anchor="ctr"/>
          <a:lstStyle/>
          <a:p>
            <a:pPr indent="0" marL="0">
              <a:buNone/>
            </a:pPr>
            <a:r>
              <a:rPr lang="en-US" sz="1400" b="1" dirty="0">
                <a:solidFill>
                  <a:srgbClr val="16263F"/>
                </a:solidFill>
                <a:latin typeface="Calibri" pitchFamily="34" charset="0"/>
                <a:ea typeface="Calibri" pitchFamily="34" charset="-122"/>
                <a:cs typeface="Calibri" pitchFamily="34" charset="-120"/>
              </a:rPr>
              <a:t>Historical Context</a:t>
            </a:r>
            <a:endParaRPr lang="en-US" sz="1400" dirty="0"/>
          </a:p>
        </p:txBody>
      </p:sp>
      <p:sp>
        <p:nvSpPr>
          <p:cNvPr id="9" name="Text 6"/>
          <p:cNvSpPr/>
          <p:nvPr/>
        </p:nvSpPr>
        <p:spPr>
          <a:xfrm>
            <a:off x="658368" y="2743200"/>
            <a:ext cx="2240280" cy="1188720"/>
          </a:xfrm>
          <a:prstGeom prst="rect">
            <a:avLst/>
          </a:prstGeom>
          <a:noFill/>
          <a:ln/>
        </p:spPr>
        <p:txBody>
          <a:bodyPr wrap="square" lIns="0" tIns="0" rIns="0" bIns="0" rtlCol="0" anchor="ctr"/>
          <a:lstStyle/>
          <a:p>
            <a:pPr indent="0" marL="0">
              <a:buNone/>
            </a:pPr>
            <a:r>
              <a:rPr lang="en-US" sz="1100" dirty="0">
                <a:solidFill>
                  <a:srgbClr val="1F2A38"/>
                </a:solidFill>
                <a:latin typeface="Calibri" pitchFamily="34" charset="0"/>
                <a:ea typeface="Calibri" pitchFamily="34" charset="-122"/>
                <a:cs typeface="Calibri" pitchFamily="34" charset="-120"/>
              </a:rPr>
              <a:t>Institutional design knowledge — past performance, costs, lessons — feeding Moducule Planner so every next facility starts smarter.</a:t>
            </a:r>
            <a:endParaRPr lang="en-US" sz="1100" dirty="0"/>
          </a:p>
        </p:txBody>
      </p:sp>
      <p:sp>
        <p:nvSpPr>
          <p:cNvPr id="10" name="Shape 7"/>
          <p:cNvSpPr/>
          <p:nvPr/>
        </p:nvSpPr>
        <p:spPr>
          <a:xfrm>
            <a:off x="3264408" y="1627632"/>
            <a:ext cx="2624328" cy="2395728"/>
          </a:xfrm>
          <a:prstGeom prst="roundRect">
            <a:avLst>
              <a:gd name="adj" fmla="val 2290"/>
            </a:avLst>
          </a:prstGeom>
          <a:solidFill>
            <a:srgbClr val="F3F6FA"/>
          </a:solidFill>
          <a:ln/>
          <a:effectLst>
            <a:outerShdw sx="100000" sy="100000" kx="0" ky="0" algn="bl" rotWithShape="0" blurRad="88900" dist="25400" dir="2700000">
              <a:srgbClr val="000000">
                <a:alpha val="14000"/>
              </a:srgbClr>
            </a:outerShdw>
          </a:effectLst>
        </p:spPr>
      </p:sp>
      <p:sp>
        <p:nvSpPr>
          <p:cNvPr id="11" name="Shape 8"/>
          <p:cNvSpPr/>
          <p:nvPr/>
        </p:nvSpPr>
        <p:spPr>
          <a:xfrm>
            <a:off x="3465576" y="1828800"/>
            <a:ext cx="512064" cy="512064"/>
          </a:xfrm>
          <a:prstGeom prst="ellipse">
            <a:avLst/>
          </a:prstGeom>
          <a:solidFill>
            <a:srgbClr val="16263F"/>
          </a:solidFill>
          <a:ln/>
        </p:spPr>
      </p:sp>
      <p:pic>
        <p:nvPicPr>
          <p:cNvPr id="12" name="Image 1" descr="preencoded.png">    </p:cNvPr>
          <p:cNvPicPr>
            <a:picLocks noChangeAspect="1"/>
          </p:cNvPicPr>
          <p:nvPr/>
        </p:nvPicPr>
        <p:blipFill>
          <a:blip r:embed="rId2"/>
          <a:stretch>
            <a:fillRect/>
          </a:stretch>
        </p:blipFill>
        <p:spPr>
          <a:xfrm>
            <a:off x="3598713" y="1961937"/>
            <a:ext cx="245791" cy="245791"/>
          </a:xfrm>
          <a:prstGeom prst="rect">
            <a:avLst/>
          </a:prstGeom>
        </p:spPr>
      </p:pic>
      <p:sp>
        <p:nvSpPr>
          <p:cNvPr id="13" name="Text 9"/>
          <p:cNvSpPr/>
          <p:nvPr/>
        </p:nvSpPr>
        <p:spPr>
          <a:xfrm>
            <a:off x="3465576" y="2450592"/>
            <a:ext cx="2240280" cy="274320"/>
          </a:xfrm>
          <a:prstGeom prst="rect">
            <a:avLst/>
          </a:prstGeom>
          <a:noFill/>
          <a:ln/>
        </p:spPr>
        <p:txBody>
          <a:bodyPr wrap="square" lIns="0" tIns="0" rIns="0" bIns="0" rtlCol="0" anchor="ctr"/>
          <a:lstStyle/>
          <a:p>
            <a:pPr indent="0" marL="0">
              <a:buNone/>
            </a:pPr>
            <a:r>
              <a:rPr lang="en-US" sz="1400" b="1" dirty="0">
                <a:solidFill>
                  <a:srgbClr val="16263F"/>
                </a:solidFill>
                <a:latin typeface="Calibri" pitchFamily="34" charset="0"/>
                <a:ea typeface="Calibri" pitchFamily="34" charset="-122"/>
                <a:cs typeface="Calibri" pitchFamily="34" charset="-120"/>
              </a:rPr>
              <a:t>Supply-Chain Context</a:t>
            </a:r>
            <a:endParaRPr lang="en-US" sz="1400" dirty="0"/>
          </a:p>
        </p:txBody>
      </p:sp>
      <p:sp>
        <p:nvSpPr>
          <p:cNvPr id="14" name="Text 10"/>
          <p:cNvSpPr/>
          <p:nvPr/>
        </p:nvSpPr>
        <p:spPr>
          <a:xfrm>
            <a:off x="3465576" y="2743200"/>
            <a:ext cx="2240280" cy="1188720"/>
          </a:xfrm>
          <a:prstGeom prst="rect">
            <a:avLst/>
          </a:prstGeom>
          <a:noFill/>
          <a:ln/>
        </p:spPr>
        <p:txBody>
          <a:bodyPr wrap="square" lIns="0" tIns="0" rIns="0" bIns="0" rtlCol="0" anchor="ctr"/>
          <a:lstStyle/>
          <a:p>
            <a:pPr indent="0" marL="0">
              <a:buNone/>
            </a:pPr>
            <a:r>
              <a:rPr lang="en-US" sz="1100" dirty="0">
                <a:solidFill>
                  <a:srgbClr val="1F2A38"/>
                </a:solidFill>
                <a:latin typeface="Calibri" pitchFamily="34" charset="0"/>
                <a:ea typeface="Calibri" pitchFamily="34" charset="-122"/>
                <a:cs typeface="Calibri" pitchFamily="34" charset="-120"/>
              </a:rPr>
              <a:t>The digital twin deconstructed into micro-tasks and supplier orders, opening large capital projects to local and certified-diverse vendors.</a:t>
            </a:r>
            <a:endParaRPr lang="en-US" sz="1100" dirty="0"/>
          </a:p>
        </p:txBody>
      </p:sp>
      <p:sp>
        <p:nvSpPr>
          <p:cNvPr id="15" name="Shape 11"/>
          <p:cNvSpPr/>
          <p:nvPr/>
        </p:nvSpPr>
        <p:spPr>
          <a:xfrm>
            <a:off x="6071616" y="1627632"/>
            <a:ext cx="2624328" cy="2395728"/>
          </a:xfrm>
          <a:prstGeom prst="roundRect">
            <a:avLst>
              <a:gd name="adj" fmla="val 2290"/>
            </a:avLst>
          </a:prstGeom>
          <a:solidFill>
            <a:srgbClr val="F3F6FA"/>
          </a:solidFill>
          <a:ln/>
          <a:effectLst>
            <a:outerShdw sx="100000" sy="100000" kx="0" ky="0" algn="bl" rotWithShape="0" blurRad="88900" dist="25400" dir="2700000">
              <a:srgbClr val="000000">
                <a:alpha val="14000"/>
              </a:srgbClr>
            </a:outerShdw>
          </a:effectLst>
        </p:spPr>
      </p:sp>
      <p:sp>
        <p:nvSpPr>
          <p:cNvPr id="16" name="Shape 12"/>
          <p:cNvSpPr/>
          <p:nvPr/>
        </p:nvSpPr>
        <p:spPr>
          <a:xfrm>
            <a:off x="6272784" y="1828800"/>
            <a:ext cx="512064" cy="512064"/>
          </a:xfrm>
          <a:prstGeom prst="ellipse">
            <a:avLst/>
          </a:prstGeom>
          <a:solidFill>
            <a:srgbClr val="16263F"/>
          </a:solidFill>
          <a:ln/>
        </p:spPr>
      </p:sp>
      <p:pic>
        <p:nvPicPr>
          <p:cNvPr id="17" name="Image 2" descr="preencoded.png">    </p:cNvPr>
          <p:cNvPicPr>
            <a:picLocks noChangeAspect="1"/>
          </p:cNvPicPr>
          <p:nvPr/>
        </p:nvPicPr>
        <p:blipFill>
          <a:blip r:embed="rId3"/>
          <a:stretch>
            <a:fillRect/>
          </a:stretch>
        </p:blipFill>
        <p:spPr>
          <a:xfrm>
            <a:off x="6405921" y="1961937"/>
            <a:ext cx="245791" cy="245791"/>
          </a:xfrm>
          <a:prstGeom prst="rect">
            <a:avLst/>
          </a:prstGeom>
        </p:spPr>
      </p:pic>
      <p:sp>
        <p:nvSpPr>
          <p:cNvPr id="18" name="Text 13"/>
          <p:cNvSpPr/>
          <p:nvPr/>
        </p:nvSpPr>
        <p:spPr>
          <a:xfrm>
            <a:off x="6272784" y="2450592"/>
            <a:ext cx="2240280" cy="274320"/>
          </a:xfrm>
          <a:prstGeom prst="rect">
            <a:avLst/>
          </a:prstGeom>
          <a:noFill/>
          <a:ln/>
        </p:spPr>
        <p:txBody>
          <a:bodyPr wrap="square" lIns="0" tIns="0" rIns="0" bIns="0" rtlCol="0" anchor="ctr"/>
          <a:lstStyle/>
          <a:p>
            <a:pPr indent="0" marL="0">
              <a:buNone/>
            </a:pPr>
            <a:r>
              <a:rPr lang="en-US" sz="1400" b="1" dirty="0">
                <a:solidFill>
                  <a:srgbClr val="16263F"/>
                </a:solidFill>
                <a:latin typeface="Calibri" pitchFamily="34" charset="0"/>
                <a:ea typeface="Calibri" pitchFamily="34" charset="-122"/>
                <a:cs typeface="Calibri" pitchFamily="34" charset="-120"/>
              </a:rPr>
              <a:t>Operational Context</a:t>
            </a:r>
            <a:endParaRPr lang="en-US" sz="1400" dirty="0"/>
          </a:p>
        </p:txBody>
      </p:sp>
      <p:sp>
        <p:nvSpPr>
          <p:cNvPr id="19" name="Text 14"/>
          <p:cNvSpPr/>
          <p:nvPr/>
        </p:nvSpPr>
        <p:spPr>
          <a:xfrm>
            <a:off x="6272784" y="2743200"/>
            <a:ext cx="2240280" cy="1188720"/>
          </a:xfrm>
          <a:prstGeom prst="rect">
            <a:avLst/>
          </a:prstGeom>
          <a:noFill/>
          <a:ln/>
        </p:spPr>
        <p:txBody>
          <a:bodyPr wrap="square" lIns="0" tIns="0" rIns="0" bIns="0" rtlCol="0" anchor="ctr"/>
          <a:lstStyle/>
          <a:p>
            <a:pPr indent="0" marL="0">
              <a:buNone/>
            </a:pPr>
            <a:r>
              <a:rPr lang="en-US" sz="1100" dirty="0">
                <a:solidFill>
                  <a:srgbClr val="1F2A38"/>
                </a:solidFill>
                <a:latin typeface="Calibri" pitchFamily="34" charset="0"/>
                <a:ea typeface="Calibri" pitchFamily="34" charset="-122"/>
                <a:cs typeface="Calibri" pitchFamily="34" charset="-120"/>
              </a:rPr>
              <a:t>Live performance data from operating assets streaming back upstream into the next design — the loop that makes intelligence continuous.</a:t>
            </a:r>
            <a:endParaRPr lang="en-US" sz="1100" dirty="0"/>
          </a:p>
        </p:txBody>
      </p:sp>
      <p:sp>
        <p:nvSpPr>
          <p:cNvPr id="20" name="Text 15"/>
          <p:cNvSpPr/>
          <p:nvPr/>
        </p:nvSpPr>
        <p:spPr>
          <a:xfrm>
            <a:off x="457200" y="4315968"/>
            <a:ext cx="8229600" cy="457200"/>
          </a:xfrm>
          <a:prstGeom prst="rect">
            <a:avLst/>
          </a:prstGeom>
          <a:noFill/>
          <a:ln/>
        </p:spPr>
        <p:txBody>
          <a:bodyPr wrap="square" lIns="0" tIns="0" rIns="0" bIns="0" rtlCol="0" anchor="ctr"/>
          <a:lstStyle/>
          <a:p>
            <a:pPr indent="0" marL="0">
              <a:buNone/>
            </a:pPr>
            <a:r>
              <a:rPr lang="en-US" sz="1300" i="1" dirty="0">
                <a:solidFill>
                  <a:srgbClr val="5B6B7E"/>
                </a:solidFill>
                <a:latin typeface="Calibri" pitchFamily="34" charset="0"/>
                <a:ea typeface="Calibri" pitchFamily="34" charset="-122"/>
                <a:cs typeface="Calibri" pitchFamily="34" charset="-120"/>
              </a:rPr>
              <a:t>A strong foundation and a differentiated vision.  </a:t>
            </a:r>
            <a:pPr indent="0" marL="0">
              <a:buNone/>
            </a:pPr>
            <a:r>
              <a:rPr lang="en-US" sz="1300" b="1" dirty="0">
                <a:solidFill>
                  <a:srgbClr val="16263F"/>
                </a:solidFill>
                <a:latin typeface="Calibri" pitchFamily="34" charset="0"/>
                <a:ea typeface="Calibri" pitchFamily="34" charset="-122"/>
                <a:cs typeface="Calibri" pitchFamily="34" charset="-120"/>
              </a:rPr>
              <a:t>My role is to make it shippable — with your sign-off as the gate on every decision.</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92608"/>
            <a:ext cx="8229600" cy="274320"/>
          </a:xfrm>
          <a:prstGeom prst="rect">
            <a:avLst/>
          </a:prstGeom>
          <a:noFill/>
          <a:ln/>
        </p:spPr>
        <p:txBody>
          <a:bodyPr wrap="square" lIns="0" tIns="0" rIns="0" bIns="0" rtlCol="0" anchor="ctr"/>
          <a:lstStyle/>
          <a:p>
            <a:pPr indent="0" marL="0">
              <a:buNone/>
            </a:pPr>
            <a:r>
              <a:rPr lang="en-US" sz="1050" b="1" spc="200" kern="0" dirty="0">
                <a:solidFill>
                  <a:srgbClr val="C78F0D"/>
                </a:solidFill>
                <a:latin typeface="Calibri" pitchFamily="34" charset="0"/>
                <a:ea typeface="Calibri" pitchFamily="34" charset="-122"/>
                <a:cs typeface="Calibri" pitchFamily="34" charset="-120"/>
              </a:rPr>
              <a:t>DUE DILIGENCE</a:t>
            </a:r>
            <a:endParaRPr lang="en-US" sz="1050" dirty="0"/>
          </a:p>
        </p:txBody>
      </p:sp>
      <p:sp>
        <p:nvSpPr>
          <p:cNvPr id="3" name="Text 1"/>
          <p:cNvSpPr/>
          <p:nvPr/>
        </p:nvSpPr>
        <p:spPr>
          <a:xfrm>
            <a:off x="457200" y="530352"/>
            <a:ext cx="8229600" cy="566928"/>
          </a:xfrm>
          <a:prstGeom prst="rect">
            <a:avLst/>
          </a:prstGeom>
          <a:noFill/>
          <a:ln/>
        </p:spPr>
        <p:txBody>
          <a:bodyPr wrap="square" lIns="0" tIns="0" rIns="0" bIns="0" rtlCol="0" anchor="ctr"/>
          <a:lstStyle/>
          <a:p>
            <a:pPr indent="0" marL="0">
              <a:buNone/>
            </a:pPr>
            <a:r>
              <a:rPr lang="en-US" sz="2800" b="1" dirty="0">
                <a:solidFill>
                  <a:srgbClr val="16263F"/>
                </a:solidFill>
                <a:latin typeface="Cambria" pitchFamily="34" charset="0"/>
                <a:ea typeface="Cambria" pitchFamily="34" charset="-122"/>
                <a:cs typeface="Cambria" pitchFamily="34" charset="-120"/>
              </a:rPr>
              <a:t>What I studied before forming a view</a:t>
            </a:r>
            <a:endParaRPr lang="en-US" sz="2800" dirty="0"/>
          </a:p>
        </p:txBody>
      </p:sp>
      <p:sp>
        <p:nvSpPr>
          <p:cNvPr id="4" name="Shape 2"/>
          <p:cNvSpPr/>
          <p:nvPr/>
        </p:nvSpPr>
        <p:spPr>
          <a:xfrm>
            <a:off x="457200" y="1298448"/>
            <a:ext cx="457200" cy="457200"/>
          </a:xfrm>
          <a:prstGeom prst="ellipse">
            <a:avLst/>
          </a:prstGeom>
          <a:solidFill>
            <a:srgbClr val="16263F"/>
          </a:solidFill>
          <a:ln/>
        </p:spPr>
      </p:sp>
      <p:pic>
        <p:nvPicPr>
          <p:cNvPr id="5" name="Image 0" descr="preencoded.png">    </p:cNvPr>
          <p:cNvPicPr>
            <a:picLocks noChangeAspect="1"/>
          </p:cNvPicPr>
          <p:nvPr/>
        </p:nvPicPr>
        <p:blipFill>
          <a:blip r:embed="rId1"/>
          <a:stretch>
            <a:fillRect/>
          </a:stretch>
        </p:blipFill>
        <p:spPr>
          <a:xfrm>
            <a:off x="576072" y="1417320"/>
            <a:ext cx="219456" cy="219456"/>
          </a:xfrm>
          <a:prstGeom prst="rect">
            <a:avLst/>
          </a:prstGeom>
        </p:spPr>
      </p:pic>
      <p:sp>
        <p:nvSpPr>
          <p:cNvPr id="6" name="Text 3"/>
          <p:cNvSpPr/>
          <p:nvPr/>
        </p:nvSpPr>
        <p:spPr>
          <a:xfrm>
            <a:off x="1097280" y="1280160"/>
            <a:ext cx="4297680" cy="256032"/>
          </a:xfrm>
          <a:prstGeom prst="rect">
            <a:avLst/>
          </a:prstGeom>
          <a:noFill/>
          <a:ln/>
        </p:spPr>
        <p:txBody>
          <a:bodyPr wrap="square" lIns="0" tIns="0" rIns="0" bIns="0" rtlCol="0" anchor="ctr"/>
          <a:lstStyle/>
          <a:p>
            <a:pPr indent="0" marL="0">
              <a:buNone/>
            </a:pPr>
            <a:r>
              <a:rPr lang="en-US" sz="1300" b="1" dirty="0">
                <a:solidFill>
                  <a:srgbClr val="16263F"/>
                </a:solidFill>
                <a:latin typeface="Calibri" pitchFamily="34" charset="0"/>
                <a:ea typeface="Calibri" pitchFamily="34" charset="-122"/>
                <a:cs typeface="Calibri" pitchFamily="34" charset="-120"/>
              </a:rPr>
              <a:t>StatusNeo transformation proposal</a:t>
            </a:r>
            <a:endParaRPr lang="en-US" sz="1300" dirty="0"/>
          </a:p>
        </p:txBody>
      </p:sp>
      <p:sp>
        <p:nvSpPr>
          <p:cNvPr id="7" name="Text 4"/>
          <p:cNvSpPr/>
          <p:nvPr/>
        </p:nvSpPr>
        <p:spPr>
          <a:xfrm>
            <a:off x="1097280" y="1536192"/>
            <a:ext cx="4297680" cy="457200"/>
          </a:xfrm>
          <a:prstGeom prst="rect">
            <a:avLst/>
          </a:prstGeom>
          <a:noFill/>
          <a:ln/>
        </p:spPr>
        <p:txBody>
          <a:bodyPr wrap="square" lIns="0" tIns="0" rIns="0" bIns="0" rtlCol="0" anchor="ctr"/>
          <a:lstStyle/>
          <a:p>
            <a:pPr indent="0" marL="0">
              <a:buNone/>
            </a:pPr>
            <a:r>
              <a:rPr lang="en-US" sz="1050" dirty="0">
                <a:solidFill>
                  <a:srgbClr val="5B6B7E"/>
                </a:solidFill>
                <a:latin typeface="Calibri" pitchFamily="34" charset="0"/>
                <a:ea typeface="Calibri" pitchFamily="34" charset="-122"/>
                <a:cs typeface="Calibri" pitchFamily="34" charset="-120"/>
              </a:rPr>
              <a:t>Current-state observations, FDE operating model, AI-DLC loops, transition options.</a:t>
            </a:r>
            <a:endParaRPr lang="en-US" sz="1050" dirty="0"/>
          </a:p>
        </p:txBody>
      </p:sp>
      <p:sp>
        <p:nvSpPr>
          <p:cNvPr id="8" name="Shape 5"/>
          <p:cNvSpPr/>
          <p:nvPr/>
        </p:nvSpPr>
        <p:spPr>
          <a:xfrm>
            <a:off x="457200" y="2048256"/>
            <a:ext cx="457200" cy="457200"/>
          </a:xfrm>
          <a:prstGeom prst="ellipse">
            <a:avLst/>
          </a:prstGeom>
          <a:solidFill>
            <a:srgbClr val="16263F"/>
          </a:solidFill>
          <a:ln/>
        </p:spPr>
      </p:sp>
      <p:pic>
        <p:nvPicPr>
          <p:cNvPr id="9" name="Image 1" descr="preencoded.png">    </p:cNvPr>
          <p:cNvPicPr>
            <a:picLocks noChangeAspect="1"/>
          </p:cNvPicPr>
          <p:nvPr/>
        </p:nvPicPr>
        <p:blipFill>
          <a:blip r:embed="rId2"/>
          <a:stretch>
            <a:fillRect/>
          </a:stretch>
        </p:blipFill>
        <p:spPr>
          <a:xfrm>
            <a:off x="576072" y="2167128"/>
            <a:ext cx="219456" cy="219456"/>
          </a:xfrm>
          <a:prstGeom prst="rect">
            <a:avLst/>
          </a:prstGeom>
        </p:spPr>
      </p:pic>
      <p:sp>
        <p:nvSpPr>
          <p:cNvPr id="10" name="Text 6"/>
          <p:cNvSpPr/>
          <p:nvPr/>
        </p:nvSpPr>
        <p:spPr>
          <a:xfrm>
            <a:off x="1097280" y="2029968"/>
            <a:ext cx="4297680" cy="256032"/>
          </a:xfrm>
          <a:prstGeom prst="rect">
            <a:avLst/>
          </a:prstGeom>
          <a:noFill/>
          <a:ln/>
        </p:spPr>
        <p:txBody>
          <a:bodyPr wrap="square" lIns="0" tIns="0" rIns="0" bIns="0" rtlCol="0" anchor="ctr"/>
          <a:lstStyle/>
          <a:p>
            <a:pPr indent="0" marL="0">
              <a:buNone/>
            </a:pPr>
            <a:r>
              <a:rPr lang="en-US" sz="1300" b="1" dirty="0">
                <a:solidFill>
                  <a:srgbClr val="16263F"/>
                </a:solidFill>
                <a:latin typeface="Calibri" pitchFamily="34" charset="0"/>
                <a:ea typeface="Calibri" pitchFamily="34" charset="-122"/>
                <a:cs typeface="Calibri" pitchFamily="34" charset="-120"/>
              </a:rPr>
              <a:t>Team onboarding &amp; first-5-days plan</a:t>
            </a:r>
            <a:endParaRPr lang="en-US" sz="1300" dirty="0"/>
          </a:p>
        </p:txBody>
      </p:sp>
      <p:sp>
        <p:nvSpPr>
          <p:cNvPr id="11" name="Text 7"/>
          <p:cNvSpPr/>
          <p:nvPr/>
        </p:nvSpPr>
        <p:spPr>
          <a:xfrm>
            <a:off x="1097280" y="2286000"/>
            <a:ext cx="4297680" cy="457200"/>
          </a:xfrm>
          <a:prstGeom prst="rect">
            <a:avLst/>
          </a:prstGeom>
          <a:noFill/>
          <a:ln/>
        </p:spPr>
        <p:txBody>
          <a:bodyPr wrap="square" lIns="0" tIns="0" rIns="0" bIns="0" rtlCol="0" anchor="ctr"/>
          <a:lstStyle/>
          <a:p>
            <a:pPr indent="0" marL="0">
              <a:buNone/>
            </a:pPr>
            <a:r>
              <a:rPr lang="en-US" sz="1050" dirty="0">
                <a:solidFill>
                  <a:srgbClr val="5B6B7E"/>
                </a:solidFill>
                <a:latin typeface="Calibri" pitchFamily="34" charset="0"/>
                <a:ea typeface="Calibri" pitchFamily="34" charset="-122"/>
                <a:cs typeface="Calibri" pitchFamily="34" charset="-120"/>
              </a:rPr>
              <a:t>Ways of working, cadence, tooling, skill matrix, access paths, quality model.</a:t>
            </a:r>
            <a:endParaRPr lang="en-US" sz="1050" dirty="0"/>
          </a:p>
        </p:txBody>
      </p:sp>
      <p:sp>
        <p:nvSpPr>
          <p:cNvPr id="12" name="Shape 8"/>
          <p:cNvSpPr/>
          <p:nvPr/>
        </p:nvSpPr>
        <p:spPr>
          <a:xfrm>
            <a:off x="457200" y="2798064"/>
            <a:ext cx="457200" cy="457200"/>
          </a:xfrm>
          <a:prstGeom prst="ellipse">
            <a:avLst/>
          </a:prstGeom>
          <a:solidFill>
            <a:srgbClr val="16263F"/>
          </a:solidFill>
          <a:ln/>
        </p:spPr>
      </p:sp>
      <p:pic>
        <p:nvPicPr>
          <p:cNvPr id="13" name="Image 2" descr="preencoded.png">    </p:cNvPr>
          <p:cNvPicPr>
            <a:picLocks noChangeAspect="1"/>
          </p:cNvPicPr>
          <p:nvPr/>
        </p:nvPicPr>
        <p:blipFill>
          <a:blip r:embed="rId3"/>
          <a:stretch>
            <a:fillRect/>
          </a:stretch>
        </p:blipFill>
        <p:spPr>
          <a:xfrm>
            <a:off x="576072" y="2916936"/>
            <a:ext cx="219456" cy="219456"/>
          </a:xfrm>
          <a:prstGeom prst="rect">
            <a:avLst/>
          </a:prstGeom>
        </p:spPr>
      </p:pic>
      <p:sp>
        <p:nvSpPr>
          <p:cNvPr id="14" name="Text 9"/>
          <p:cNvSpPr/>
          <p:nvPr/>
        </p:nvSpPr>
        <p:spPr>
          <a:xfrm>
            <a:off x="1097280" y="2779776"/>
            <a:ext cx="4297680" cy="256032"/>
          </a:xfrm>
          <a:prstGeom prst="rect">
            <a:avLst/>
          </a:prstGeom>
          <a:noFill/>
          <a:ln/>
        </p:spPr>
        <p:txBody>
          <a:bodyPr wrap="square" lIns="0" tIns="0" rIns="0" bIns="0" rtlCol="0" anchor="ctr"/>
          <a:lstStyle/>
          <a:p>
            <a:pPr indent="0" marL="0">
              <a:buNone/>
            </a:pPr>
            <a:r>
              <a:rPr lang="en-US" sz="1300" b="1" dirty="0">
                <a:solidFill>
                  <a:srgbClr val="16263F"/>
                </a:solidFill>
                <a:latin typeface="Calibri" pitchFamily="34" charset="0"/>
                <a:ea typeface="Calibri" pitchFamily="34" charset="-122"/>
                <a:cs typeface="Calibri" pitchFamily="34" charset="-120"/>
              </a:rPr>
              <a:t>Product workflows in the documents</a:t>
            </a:r>
            <a:endParaRPr lang="en-US" sz="1300" dirty="0"/>
          </a:p>
        </p:txBody>
      </p:sp>
      <p:sp>
        <p:nvSpPr>
          <p:cNvPr id="15" name="Text 10"/>
          <p:cNvSpPr/>
          <p:nvPr/>
        </p:nvSpPr>
        <p:spPr>
          <a:xfrm>
            <a:off x="1097280" y="3035808"/>
            <a:ext cx="4297680" cy="457200"/>
          </a:xfrm>
          <a:prstGeom prst="rect">
            <a:avLst/>
          </a:prstGeom>
          <a:noFill/>
          <a:ln/>
        </p:spPr>
        <p:txBody>
          <a:bodyPr wrap="square" lIns="0" tIns="0" rIns="0" bIns="0" rtlCol="0" anchor="ctr"/>
          <a:lstStyle/>
          <a:p>
            <a:pPr indent="0" marL="0">
              <a:buNone/>
            </a:pPr>
            <a:r>
              <a:rPr lang="en-US" sz="1050" dirty="0">
                <a:solidFill>
                  <a:srgbClr val="5B6B7E"/>
                </a:solidFill>
                <a:latin typeface="Calibri" pitchFamily="34" charset="0"/>
                <a:ea typeface="Calibri" pitchFamily="34" charset="-122"/>
                <a:cs typeface="Calibri" pitchFamily="34" charset="-120"/>
              </a:rPr>
              <a:t>Moducule Builder, Room Planner / Space Bot, Catalog, ASP/SPA pipelines, GraphQL &amp; security work.</a:t>
            </a:r>
            <a:endParaRPr lang="en-US" sz="1050" dirty="0"/>
          </a:p>
        </p:txBody>
      </p:sp>
      <p:sp>
        <p:nvSpPr>
          <p:cNvPr id="16" name="Shape 11"/>
          <p:cNvSpPr/>
          <p:nvPr/>
        </p:nvSpPr>
        <p:spPr>
          <a:xfrm>
            <a:off x="457200" y="3547872"/>
            <a:ext cx="457200" cy="457200"/>
          </a:xfrm>
          <a:prstGeom prst="ellipse">
            <a:avLst/>
          </a:prstGeom>
          <a:solidFill>
            <a:srgbClr val="16263F"/>
          </a:solidFill>
          <a:ln/>
        </p:spPr>
      </p:sp>
      <p:pic>
        <p:nvPicPr>
          <p:cNvPr id="17" name="Image 3" descr="preencoded.png">    </p:cNvPr>
          <p:cNvPicPr>
            <a:picLocks noChangeAspect="1"/>
          </p:cNvPicPr>
          <p:nvPr/>
        </p:nvPicPr>
        <p:blipFill>
          <a:blip r:embed="rId4"/>
          <a:stretch>
            <a:fillRect/>
          </a:stretch>
        </p:blipFill>
        <p:spPr>
          <a:xfrm>
            <a:off x="576072" y="3666744"/>
            <a:ext cx="219456" cy="219456"/>
          </a:xfrm>
          <a:prstGeom prst="rect">
            <a:avLst/>
          </a:prstGeom>
        </p:spPr>
      </p:pic>
      <p:sp>
        <p:nvSpPr>
          <p:cNvPr id="18" name="Text 12"/>
          <p:cNvSpPr/>
          <p:nvPr/>
        </p:nvSpPr>
        <p:spPr>
          <a:xfrm>
            <a:off x="1097280" y="3529584"/>
            <a:ext cx="4297680" cy="256032"/>
          </a:xfrm>
          <a:prstGeom prst="rect">
            <a:avLst/>
          </a:prstGeom>
          <a:noFill/>
          <a:ln/>
        </p:spPr>
        <p:txBody>
          <a:bodyPr wrap="square" lIns="0" tIns="0" rIns="0" bIns="0" rtlCol="0" anchor="ctr"/>
          <a:lstStyle/>
          <a:p>
            <a:pPr indent="0" marL="0">
              <a:buNone/>
            </a:pPr>
            <a:r>
              <a:rPr lang="en-US" sz="1300" b="1" dirty="0">
                <a:solidFill>
                  <a:srgbClr val="16263F"/>
                </a:solidFill>
                <a:latin typeface="Calibri" pitchFamily="34" charset="0"/>
                <a:ea typeface="Calibri" pitchFamily="34" charset="-122"/>
                <a:cs typeface="Calibri" pitchFamily="34" charset="-120"/>
              </a:rPr>
              <a:t>Architecture portfolio, prepared in advance</a:t>
            </a:r>
            <a:endParaRPr lang="en-US" sz="1300" dirty="0"/>
          </a:p>
        </p:txBody>
      </p:sp>
      <p:sp>
        <p:nvSpPr>
          <p:cNvPr id="19" name="Text 13"/>
          <p:cNvSpPr/>
          <p:nvPr/>
        </p:nvSpPr>
        <p:spPr>
          <a:xfrm>
            <a:off x="1097280" y="3785616"/>
            <a:ext cx="4297680" cy="457200"/>
          </a:xfrm>
          <a:prstGeom prst="rect">
            <a:avLst/>
          </a:prstGeom>
          <a:noFill/>
          <a:ln/>
        </p:spPr>
        <p:txBody>
          <a:bodyPr wrap="square" lIns="0" tIns="0" rIns="0" bIns="0" rtlCol="0" anchor="ctr"/>
          <a:lstStyle/>
          <a:p>
            <a:pPr indent="0" marL="0">
              <a:buNone/>
            </a:pPr>
            <a:r>
              <a:rPr lang="en-US" sz="1050" dirty="0">
                <a:solidFill>
                  <a:srgbClr val="5B6B7E"/>
                </a:solidFill>
                <a:latin typeface="Calibri" pitchFamily="34" charset="0"/>
                <a:ea typeface="Calibri" pitchFamily="34" charset="-122"/>
                <a:cs typeface="Calibri" pitchFamily="34" charset="-120"/>
              </a:rPr>
              <a:t>Requirements → BDD → acceptance tests → ADRs, drafted so day one starts at execution, not discovery.</a:t>
            </a:r>
            <a:endParaRPr lang="en-US" sz="1050" dirty="0"/>
          </a:p>
        </p:txBody>
      </p:sp>
      <p:sp>
        <p:nvSpPr>
          <p:cNvPr id="20" name="Shape 14"/>
          <p:cNvSpPr/>
          <p:nvPr/>
        </p:nvSpPr>
        <p:spPr>
          <a:xfrm>
            <a:off x="5715000" y="1298448"/>
            <a:ext cx="2971800" cy="3017520"/>
          </a:xfrm>
          <a:prstGeom prst="roundRect">
            <a:avLst>
              <a:gd name="adj" fmla="val 1846"/>
            </a:avLst>
          </a:prstGeom>
          <a:solidFill>
            <a:srgbClr val="FBF2DC"/>
          </a:solidFill>
          <a:ln/>
          <a:effectLst>
            <a:outerShdw sx="100000" sy="100000" kx="0" ky="0" algn="bl" rotWithShape="0" blurRad="88900" dist="25400" dir="2700000">
              <a:srgbClr val="000000">
                <a:alpha val="14000"/>
              </a:srgbClr>
            </a:outerShdw>
          </a:effectLst>
        </p:spPr>
      </p:sp>
      <p:pic>
        <p:nvPicPr>
          <p:cNvPr id="21" name="Image 4" descr="preencoded.png">    </p:cNvPr>
          <p:cNvPicPr>
            <a:picLocks noChangeAspect="1"/>
          </p:cNvPicPr>
          <p:nvPr/>
        </p:nvPicPr>
        <p:blipFill>
          <a:blip r:embed="rId5"/>
          <a:stretch>
            <a:fillRect/>
          </a:stretch>
        </p:blipFill>
        <p:spPr>
          <a:xfrm>
            <a:off x="5943600" y="1536192"/>
            <a:ext cx="384048" cy="384048"/>
          </a:xfrm>
          <a:prstGeom prst="rect">
            <a:avLst/>
          </a:prstGeom>
        </p:spPr>
      </p:pic>
      <p:sp>
        <p:nvSpPr>
          <p:cNvPr id="22" name="Text 15"/>
          <p:cNvSpPr/>
          <p:nvPr/>
        </p:nvSpPr>
        <p:spPr>
          <a:xfrm>
            <a:off x="5943600" y="2011680"/>
            <a:ext cx="2560320" cy="274320"/>
          </a:xfrm>
          <a:prstGeom prst="rect">
            <a:avLst/>
          </a:prstGeom>
          <a:noFill/>
          <a:ln/>
        </p:spPr>
        <p:txBody>
          <a:bodyPr wrap="square" lIns="0" tIns="0" rIns="0" bIns="0" rtlCol="0" anchor="ctr"/>
          <a:lstStyle/>
          <a:p>
            <a:pPr indent="0" marL="0">
              <a:buNone/>
            </a:pPr>
            <a:r>
              <a:rPr lang="en-US" sz="1400" b="1" dirty="0">
                <a:solidFill>
                  <a:srgbClr val="16263F"/>
                </a:solidFill>
                <a:latin typeface="Calibri" pitchFamily="34" charset="0"/>
                <a:ea typeface="Calibri" pitchFamily="34" charset="-122"/>
                <a:cs typeface="Calibri" pitchFamily="34" charset="-120"/>
              </a:rPr>
              <a:t>A commitment, up front</a:t>
            </a:r>
            <a:endParaRPr lang="en-US" sz="1400" dirty="0"/>
          </a:p>
        </p:txBody>
      </p:sp>
      <p:sp>
        <p:nvSpPr>
          <p:cNvPr id="23" name="Text 16"/>
          <p:cNvSpPr/>
          <p:nvPr/>
        </p:nvSpPr>
        <p:spPr>
          <a:xfrm>
            <a:off x="5943600" y="2304288"/>
            <a:ext cx="2542032" cy="1737360"/>
          </a:xfrm>
          <a:prstGeom prst="rect">
            <a:avLst/>
          </a:prstGeom>
          <a:noFill/>
          <a:ln/>
        </p:spPr>
        <p:txBody>
          <a:bodyPr wrap="square" lIns="0" tIns="0" rIns="0" bIns="0" rtlCol="0" anchor="ctr"/>
          <a:lstStyle/>
          <a:p>
            <a:pPr indent="0" marL="0">
              <a:buNone/>
            </a:pPr>
            <a:r>
              <a:rPr lang="en-US" sz="1150" dirty="0">
                <a:solidFill>
                  <a:srgbClr val="1F2A38"/>
                </a:solidFill>
                <a:latin typeface="Calibri" pitchFamily="34" charset="0"/>
                <a:ea typeface="Calibri" pitchFamily="34" charset="-122"/>
                <a:cs typeface="Calibri" pitchFamily="34" charset="-120"/>
              </a:rPr>
              <a:t>Everything that follows is an observation to validate with you — not a verdict.</a:t>
            </a:r>
            <a:endParaRPr lang="en-US" sz="1150" dirty="0"/>
          </a:p>
          <a:p>
            <a:pPr indent="0" marL="0">
              <a:buNone/>
            </a:pPr>
            <a:endParaRPr lang="en-US" sz="1150" dirty="0"/>
          </a:p>
          <a:p>
            <a:pPr indent="0" marL="0">
              <a:buNone/>
            </a:pPr>
            <a:r>
              <a:rPr lang="en-US" sz="1150" dirty="0">
                <a:solidFill>
                  <a:srgbClr val="1F2A38"/>
                </a:solidFill>
                <a:latin typeface="Calibri" pitchFamily="34" charset="0"/>
                <a:ea typeface="Calibri" pitchFamily="34" charset="-122"/>
                <a:cs typeface="Calibri" pitchFamily="34" charset="-120"/>
              </a:rPr>
              <a:t>Where I'm wrong, the decision record will show it fast, and we correct course on evidence.</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92608"/>
            <a:ext cx="8229600" cy="274320"/>
          </a:xfrm>
          <a:prstGeom prst="rect">
            <a:avLst/>
          </a:prstGeom>
          <a:noFill/>
          <a:ln/>
        </p:spPr>
        <p:txBody>
          <a:bodyPr wrap="square" lIns="0" tIns="0" rIns="0" bIns="0" rtlCol="0" anchor="ctr"/>
          <a:lstStyle/>
          <a:p>
            <a:pPr indent="0" marL="0">
              <a:buNone/>
            </a:pPr>
            <a:r>
              <a:rPr lang="en-US" sz="1050" b="1" spc="200" kern="0" dirty="0">
                <a:solidFill>
                  <a:srgbClr val="C78F0D"/>
                </a:solidFill>
                <a:latin typeface="Calibri" pitchFamily="34" charset="0"/>
                <a:ea typeface="Calibri" pitchFamily="34" charset="-122"/>
                <a:cs typeface="Calibri" pitchFamily="34" charset="-120"/>
              </a:rPr>
              <a:t>THE SHAPE OF THE PROBLEM</a:t>
            </a:r>
            <a:endParaRPr lang="en-US" sz="1050" dirty="0"/>
          </a:p>
        </p:txBody>
      </p:sp>
      <p:sp>
        <p:nvSpPr>
          <p:cNvPr id="3" name="Text 1"/>
          <p:cNvSpPr/>
          <p:nvPr/>
        </p:nvSpPr>
        <p:spPr>
          <a:xfrm>
            <a:off x="457200" y="530352"/>
            <a:ext cx="8229600" cy="566928"/>
          </a:xfrm>
          <a:prstGeom prst="rect">
            <a:avLst/>
          </a:prstGeom>
          <a:noFill/>
          <a:ln/>
        </p:spPr>
        <p:txBody>
          <a:bodyPr wrap="square" lIns="0" tIns="0" rIns="0" bIns="0" rtlCol="0" anchor="ctr"/>
          <a:lstStyle/>
          <a:p>
            <a:pPr indent="0" marL="0">
              <a:buNone/>
            </a:pPr>
            <a:r>
              <a:rPr lang="en-US" sz="2800" b="1" dirty="0">
                <a:solidFill>
                  <a:srgbClr val="16263F"/>
                </a:solidFill>
                <a:latin typeface="Cambria" pitchFamily="34" charset="0"/>
                <a:ea typeface="Cambria" pitchFamily="34" charset="-122"/>
                <a:cs typeface="Cambria" pitchFamily="34" charset="-120"/>
              </a:rPr>
              <a:t>Two tracks, one diagnosis</a:t>
            </a:r>
            <a:endParaRPr lang="en-US" sz="2800" dirty="0"/>
          </a:p>
        </p:txBody>
      </p:sp>
      <p:sp>
        <p:nvSpPr>
          <p:cNvPr id="4" name="Shape 2"/>
          <p:cNvSpPr/>
          <p:nvPr/>
        </p:nvSpPr>
        <p:spPr>
          <a:xfrm>
            <a:off x="457200" y="1280160"/>
            <a:ext cx="4041648" cy="2395728"/>
          </a:xfrm>
          <a:prstGeom prst="roundRect">
            <a:avLst>
              <a:gd name="adj" fmla="val 2290"/>
            </a:avLst>
          </a:prstGeom>
          <a:solidFill>
            <a:srgbClr val="F3F6FA"/>
          </a:solidFill>
          <a:ln/>
          <a:effectLst>
            <a:outerShdw sx="100000" sy="100000" kx="0" ky="0" algn="bl" rotWithShape="0" blurRad="88900" dist="25400" dir="2700000">
              <a:srgbClr val="000000">
                <a:alpha val="14000"/>
              </a:srgbClr>
            </a:outerShdw>
          </a:effectLst>
        </p:spPr>
      </p:sp>
      <p:sp>
        <p:nvSpPr>
          <p:cNvPr id="5" name="Shape 3"/>
          <p:cNvSpPr/>
          <p:nvPr/>
        </p:nvSpPr>
        <p:spPr>
          <a:xfrm>
            <a:off x="640080" y="1444752"/>
            <a:ext cx="420624" cy="420624"/>
          </a:xfrm>
          <a:prstGeom prst="ellipse">
            <a:avLst/>
          </a:prstGeom>
          <a:solidFill>
            <a:srgbClr val="16263F"/>
          </a:solidFill>
          <a:ln/>
        </p:spPr>
      </p:sp>
      <p:pic>
        <p:nvPicPr>
          <p:cNvPr id="6" name="Image 0" descr="preencoded.png">    </p:cNvPr>
          <p:cNvPicPr>
            <a:picLocks noChangeAspect="1"/>
          </p:cNvPicPr>
          <p:nvPr/>
        </p:nvPicPr>
        <p:blipFill>
          <a:blip r:embed="rId1"/>
          <a:stretch>
            <a:fillRect/>
          </a:stretch>
        </p:blipFill>
        <p:spPr>
          <a:xfrm>
            <a:off x="749442" y="1554114"/>
            <a:ext cx="201900" cy="201900"/>
          </a:xfrm>
          <a:prstGeom prst="rect">
            <a:avLst/>
          </a:prstGeom>
        </p:spPr>
      </p:pic>
      <p:sp>
        <p:nvSpPr>
          <p:cNvPr id="7" name="Text 4"/>
          <p:cNvSpPr/>
          <p:nvPr/>
        </p:nvSpPr>
        <p:spPr>
          <a:xfrm>
            <a:off x="1170432" y="1481328"/>
            <a:ext cx="3246120" cy="365760"/>
          </a:xfrm>
          <a:prstGeom prst="rect">
            <a:avLst/>
          </a:prstGeom>
          <a:noFill/>
          <a:ln/>
        </p:spPr>
        <p:txBody>
          <a:bodyPr wrap="square" lIns="0" tIns="0" rIns="0" bIns="0" rtlCol="0" anchor="ctr"/>
          <a:lstStyle/>
          <a:p>
            <a:pPr indent="0" marL="0">
              <a:buNone/>
            </a:pPr>
            <a:r>
              <a:rPr lang="en-US" sz="1250" b="1" dirty="0">
                <a:solidFill>
                  <a:srgbClr val="16263F"/>
                </a:solidFill>
                <a:latin typeface="Calibri" pitchFamily="34" charset="0"/>
                <a:ea typeface="Calibri" pitchFamily="34" charset="-122"/>
                <a:cs typeface="Calibri" pitchFamily="34" charset="-120"/>
              </a:rPr>
              <a:t>TRACK 1 — What the platform must become</a:t>
            </a:r>
            <a:endParaRPr lang="en-US" sz="1250" dirty="0"/>
          </a:p>
        </p:txBody>
      </p:sp>
      <p:sp>
        <p:nvSpPr>
          <p:cNvPr id="8" name="Text 5"/>
          <p:cNvSpPr/>
          <p:nvPr/>
        </p:nvSpPr>
        <p:spPr>
          <a:xfrm>
            <a:off x="685800" y="1975104"/>
            <a:ext cx="3657600" cy="1627632"/>
          </a:xfrm>
          <a:prstGeom prst="rect">
            <a:avLst/>
          </a:prstGeom>
          <a:noFill/>
          <a:ln/>
        </p:spPr>
        <p:txBody>
          <a:bodyPr wrap="square" lIns="0" tIns="0" rIns="0" bIns="0" rtlCol="0" anchor="ctr"/>
          <a:lstStyle/>
          <a:p>
            <a:pPr marL="342900" indent="-342900">
              <a:spcAft>
                <a:spcPts val="400"/>
              </a:spcAft>
              <a:buSzPct val="100000"/>
              <a:buChar char="•"/>
            </a:pPr>
            <a:r>
              <a:rPr lang="en-US" sz="1080" dirty="0">
                <a:solidFill>
                  <a:srgbClr val="1F2A38"/>
                </a:solidFill>
                <a:latin typeface="Calibri" pitchFamily="34" charset="0"/>
                <a:ea typeface="Calibri" pitchFamily="34" charset="-122"/>
                <a:cs typeface="Calibri" pitchFamily="34" charset="-120"/>
              </a:rPr>
              <a:t>Silos → three product value streams</a:t>
            </a:r>
            <a:endParaRPr lang="en-US" sz="1080" dirty="0"/>
          </a:p>
          <a:p>
            <a:pPr marL="342900" indent="-342900">
              <a:spcAft>
                <a:spcPts val="400"/>
              </a:spcAft>
              <a:buSzPct val="100000"/>
              <a:buChar char="•"/>
            </a:pPr>
            <a:r>
              <a:rPr lang="en-US" sz="1080" dirty="0">
                <a:solidFill>
                  <a:srgbClr val="1F2A38"/>
                </a:solidFill>
                <a:latin typeface="Calibri" pitchFamily="34" charset="0"/>
                <a:ea typeface="Calibri" pitchFamily="34" charset="-122"/>
                <a:cs typeface="Calibri" pitchFamily="34" charset="-120"/>
              </a:rPr>
              <a:t>Promise → a grounded Context Spine</a:t>
            </a:r>
            <a:endParaRPr lang="en-US" sz="1080" dirty="0"/>
          </a:p>
          <a:p>
            <a:pPr marL="342900" indent="-342900">
              <a:spcAft>
                <a:spcPts val="400"/>
              </a:spcAft>
              <a:buSzPct val="100000"/>
              <a:buChar char="•"/>
            </a:pPr>
            <a:r>
              <a:rPr lang="en-US" sz="1080" dirty="0">
                <a:solidFill>
                  <a:srgbClr val="1F2A38"/>
                </a:solidFill>
                <a:latin typeface="Calibri" pitchFamily="34" charset="0"/>
                <a:ea typeface="Calibri" pitchFamily="34" charset="-122"/>
                <a:cs typeface="Calibri" pitchFamily="34" charset="-120"/>
              </a:rPr>
              <a:t>Catalog → an enforceable Moducule contract</a:t>
            </a:r>
            <a:endParaRPr lang="en-US" sz="1080" dirty="0"/>
          </a:p>
          <a:p>
            <a:pPr marL="342900" indent="-342900">
              <a:spcAft>
                <a:spcPts val="400"/>
              </a:spcAft>
              <a:buSzPct val="100000"/>
              <a:buChar char="•"/>
            </a:pPr>
            <a:r>
              <a:rPr lang="en-US" sz="1080" dirty="0">
                <a:solidFill>
                  <a:srgbClr val="1F2A38"/>
                </a:solidFill>
                <a:latin typeface="Calibri" pitchFamily="34" charset="0"/>
                <a:ea typeface="Calibri" pitchFamily="34" charset="-122"/>
                <a:cs typeface="Calibri" pitchFamily="34" charset="-120"/>
              </a:rPr>
              <a:t>Client-owned state → one Twin API</a:t>
            </a:r>
            <a:endParaRPr lang="en-US" sz="1080" dirty="0"/>
          </a:p>
          <a:p>
            <a:pPr marL="342900" indent="-342900">
              <a:spcAft>
                <a:spcPts val="400"/>
              </a:spcAft>
              <a:buSzPct val="100000"/>
              <a:buChar char="•"/>
            </a:pPr>
            <a:r>
              <a:rPr lang="en-US" sz="1080" dirty="0">
                <a:solidFill>
                  <a:srgbClr val="1F2A38"/>
                </a:solidFill>
                <a:latin typeface="Calibri" pitchFamily="34" charset="0"/>
                <a:ea typeface="Calibri" pitchFamily="34" charset="-122"/>
                <a:cs typeface="Calibri" pitchFamily="34" charset="-120"/>
              </a:rPr>
              <a:t>One RDBMS → persistence by workload</a:t>
            </a:r>
            <a:endParaRPr lang="en-US" sz="1080" dirty="0"/>
          </a:p>
          <a:p>
            <a:pPr marL="342900" indent="-342900">
              <a:spcAft>
                <a:spcPts val="400"/>
              </a:spcAft>
              <a:buSzPct val="100000"/>
              <a:buChar char="•"/>
            </a:pPr>
            <a:r>
              <a:rPr lang="en-US" sz="1080" dirty="0">
                <a:solidFill>
                  <a:srgbClr val="1F2A38"/>
                </a:solidFill>
                <a:latin typeface="Calibri" pitchFamily="34" charset="0"/>
                <a:ea typeface="Calibri" pitchFamily="34" charset="-122"/>
                <a:cs typeface="Calibri" pitchFamily="34" charset="-120"/>
              </a:rPr>
              <a:t>Unity suspicion → a managed, evidenced decision</a:t>
            </a:r>
            <a:endParaRPr lang="en-US" sz="1080" dirty="0"/>
          </a:p>
        </p:txBody>
      </p:sp>
      <p:sp>
        <p:nvSpPr>
          <p:cNvPr id="9" name="Shape 6"/>
          <p:cNvSpPr/>
          <p:nvPr/>
        </p:nvSpPr>
        <p:spPr>
          <a:xfrm>
            <a:off x="4681728" y="1280160"/>
            <a:ext cx="4041648" cy="2395728"/>
          </a:xfrm>
          <a:prstGeom prst="roundRect">
            <a:avLst>
              <a:gd name="adj" fmla="val 2290"/>
            </a:avLst>
          </a:prstGeom>
          <a:solidFill>
            <a:srgbClr val="F3F6FA"/>
          </a:solidFill>
          <a:ln/>
          <a:effectLst>
            <a:outerShdw sx="100000" sy="100000" kx="0" ky="0" algn="bl" rotWithShape="0" blurRad="88900" dist="25400" dir="2700000">
              <a:srgbClr val="000000">
                <a:alpha val="14000"/>
              </a:srgbClr>
            </a:outerShdw>
          </a:effectLst>
        </p:spPr>
      </p:sp>
      <p:sp>
        <p:nvSpPr>
          <p:cNvPr id="10" name="Shape 7"/>
          <p:cNvSpPr/>
          <p:nvPr/>
        </p:nvSpPr>
        <p:spPr>
          <a:xfrm>
            <a:off x="4864608" y="1444752"/>
            <a:ext cx="420624" cy="420624"/>
          </a:xfrm>
          <a:prstGeom prst="ellipse">
            <a:avLst/>
          </a:prstGeom>
          <a:solidFill>
            <a:srgbClr val="16263F"/>
          </a:solidFill>
          <a:ln/>
        </p:spPr>
      </p:sp>
      <p:pic>
        <p:nvPicPr>
          <p:cNvPr id="11" name="Image 1" descr="preencoded.png">    </p:cNvPr>
          <p:cNvPicPr>
            <a:picLocks noChangeAspect="1"/>
          </p:cNvPicPr>
          <p:nvPr/>
        </p:nvPicPr>
        <p:blipFill>
          <a:blip r:embed="rId2"/>
          <a:stretch>
            <a:fillRect/>
          </a:stretch>
        </p:blipFill>
        <p:spPr>
          <a:xfrm>
            <a:off x="4973970" y="1554114"/>
            <a:ext cx="201900" cy="201900"/>
          </a:xfrm>
          <a:prstGeom prst="rect">
            <a:avLst/>
          </a:prstGeom>
        </p:spPr>
      </p:pic>
      <p:sp>
        <p:nvSpPr>
          <p:cNvPr id="12" name="Text 8"/>
          <p:cNvSpPr/>
          <p:nvPr/>
        </p:nvSpPr>
        <p:spPr>
          <a:xfrm>
            <a:off x="5394960" y="1481328"/>
            <a:ext cx="3246120" cy="365760"/>
          </a:xfrm>
          <a:prstGeom prst="rect">
            <a:avLst/>
          </a:prstGeom>
          <a:noFill/>
          <a:ln/>
        </p:spPr>
        <p:txBody>
          <a:bodyPr wrap="square" lIns="0" tIns="0" rIns="0" bIns="0" rtlCol="0" anchor="ctr"/>
          <a:lstStyle/>
          <a:p>
            <a:pPr indent="0" marL="0">
              <a:buNone/>
            </a:pPr>
            <a:r>
              <a:rPr lang="en-US" sz="1250" b="1" dirty="0">
                <a:solidFill>
                  <a:srgbClr val="16263F"/>
                </a:solidFill>
                <a:latin typeface="Calibri" pitchFamily="34" charset="0"/>
                <a:ea typeface="Calibri" pitchFamily="34" charset="-122"/>
                <a:cs typeface="Calibri" pitchFamily="34" charset="-120"/>
              </a:rPr>
              <a:t>TRACK 2 — How the organization ships</a:t>
            </a:r>
            <a:endParaRPr lang="en-US" sz="1250" dirty="0"/>
          </a:p>
        </p:txBody>
      </p:sp>
      <p:sp>
        <p:nvSpPr>
          <p:cNvPr id="13" name="Text 9"/>
          <p:cNvSpPr/>
          <p:nvPr/>
        </p:nvSpPr>
        <p:spPr>
          <a:xfrm>
            <a:off x="4910328" y="1975104"/>
            <a:ext cx="3657600" cy="1627632"/>
          </a:xfrm>
          <a:prstGeom prst="rect">
            <a:avLst/>
          </a:prstGeom>
          <a:noFill/>
          <a:ln/>
        </p:spPr>
        <p:txBody>
          <a:bodyPr wrap="square" lIns="0" tIns="0" rIns="0" bIns="0" rtlCol="0" anchor="ctr"/>
          <a:lstStyle/>
          <a:p>
            <a:pPr marL="342900" indent="-342900">
              <a:spcAft>
                <a:spcPts val="400"/>
              </a:spcAft>
              <a:buSzPct val="100000"/>
              <a:buChar char="•"/>
            </a:pPr>
            <a:r>
              <a:rPr lang="en-US" sz="1080" dirty="0">
                <a:solidFill>
                  <a:srgbClr val="1F2A38"/>
                </a:solidFill>
                <a:latin typeface="Calibri" pitchFamily="34" charset="0"/>
                <a:ea typeface="Calibri" pitchFamily="34" charset="-122"/>
                <a:cs typeface="Calibri" pitchFamily="34" charset="-120"/>
              </a:rPr>
              <a:t>Single-threaded ownership + decision records (ADRs)</a:t>
            </a:r>
            <a:endParaRPr lang="en-US" sz="1080" dirty="0"/>
          </a:p>
          <a:p>
            <a:pPr marL="342900" indent="-342900">
              <a:spcAft>
                <a:spcPts val="400"/>
              </a:spcAft>
              <a:buSzPct val="100000"/>
              <a:buChar char="•"/>
            </a:pPr>
            <a:r>
              <a:rPr lang="en-US" sz="1080" dirty="0">
                <a:solidFill>
                  <a:srgbClr val="1F2A38"/>
                </a:solidFill>
                <a:latin typeface="Calibri" pitchFamily="34" charset="0"/>
                <a:ea typeface="Calibri" pitchFamily="34" charset="-122"/>
                <a:cs typeface="Calibri" pitchFamily="34" charset="-120"/>
              </a:rPr>
              <a:t>One backlog, one cadence — sprints inside release trains</a:t>
            </a:r>
            <a:endParaRPr lang="en-US" sz="1080" dirty="0"/>
          </a:p>
          <a:p>
            <a:pPr marL="342900" indent="-342900">
              <a:spcAft>
                <a:spcPts val="400"/>
              </a:spcAft>
              <a:buSzPct val="100000"/>
              <a:buChar char="•"/>
            </a:pPr>
            <a:r>
              <a:rPr lang="en-US" sz="1080" dirty="0">
                <a:solidFill>
                  <a:srgbClr val="1F2A38"/>
                </a:solidFill>
                <a:latin typeface="Calibri" pitchFamily="34" charset="0"/>
                <a:ea typeface="Calibri" pitchFamily="34" charset="-122"/>
                <a:cs typeface="Calibri" pitchFamily="34" charset="-120"/>
              </a:rPr>
              <a:t>Spec → BDD → ATDD as the delivery contract</a:t>
            </a:r>
            <a:endParaRPr lang="en-US" sz="1080" dirty="0"/>
          </a:p>
          <a:p>
            <a:pPr marL="342900" indent="-342900">
              <a:spcAft>
                <a:spcPts val="400"/>
              </a:spcAft>
              <a:buSzPct val="100000"/>
              <a:buChar char="•"/>
            </a:pPr>
            <a:r>
              <a:rPr lang="en-US" sz="1080" dirty="0">
                <a:solidFill>
                  <a:srgbClr val="1F2A38"/>
                </a:solidFill>
                <a:latin typeface="Calibri" pitchFamily="34" charset="0"/>
                <a:ea typeface="Calibri" pitchFamily="34" charset="-122"/>
                <a:cs typeface="Calibri" pitchFamily="34" charset="-120"/>
              </a:rPr>
              <a:t>AI-augmented SDLC with human-only merge authority</a:t>
            </a:r>
            <a:endParaRPr lang="en-US" sz="1080" dirty="0"/>
          </a:p>
          <a:p>
            <a:pPr marL="342900" indent="-342900">
              <a:spcAft>
                <a:spcPts val="400"/>
              </a:spcAft>
              <a:buSzPct val="100000"/>
              <a:buChar char="•"/>
            </a:pPr>
            <a:r>
              <a:rPr lang="en-US" sz="1080" dirty="0">
                <a:solidFill>
                  <a:srgbClr val="1F2A38"/>
                </a:solidFill>
                <a:latin typeface="Calibri" pitchFamily="34" charset="0"/>
                <a:ea typeface="Calibri" pitchFamily="34" charset="-122"/>
                <a:cs typeface="Calibri" pitchFamily="34" charset="-120"/>
              </a:rPr>
              <a:t>CI/CD + feature flags — deploy ≠ release</a:t>
            </a:r>
            <a:endParaRPr lang="en-US" sz="1080" dirty="0"/>
          </a:p>
          <a:p>
            <a:pPr marL="342900" indent="-342900">
              <a:spcAft>
                <a:spcPts val="400"/>
              </a:spcAft>
              <a:buSzPct val="100000"/>
              <a:buChar char="•"/>
            </a:pPr>
            <a:r>
              <a:rPr lang="en-US" sz="1080" dirty="0">
                <a:solidFill>
                  <a:srgbClr val="1F2A38"/>
                </a:solidFill>
                <a:latin typeface="Calibri" pitchFamily="34" charset="0"/>
                <a:ea typeface="Calibri" pitchFamily="34" charset="-122"/>
                <a:cs typeface="Calibri" pitchFamily="34" charset="-120"/>
              </a:rPr>
              <a:t>Phased pod transition with exit criteria</a:t>
            </a:r>
            <a:endParaRPr lang="en-US" sz="1080" dirty="0"/>
          </a:p>
        </p:txBody>
      </p:sp>
      <p:sp>
        <p:nvSpPr>
          <p:cNvPr id="14" name="Shape 10"/>
          <p:cNvSpPr/>
          <p:nvPr/>
        </p:nvSpPr>
        <p:spPr>
          <a:xfrm>
            <a:off x="457200" y="3858768"/>
            <a:ext cx="8229600" cy="868680"/>
          </a:xfrm>
          <a:prstGeom prst="roundRect">
            <a:avLst>
              <a:gd name="adj" fmla="val 7368"/>
            </a:avLst>
          </a:prstGeom>
          <a:solidFill>
            <a:srgbClr val="16263F"/>
          </a:solidFill>
          <a:ln/>
          <a:effectLst>
            <a:outerShdw sx="100000" sy="100000" kx="0" ky="0" algn="bl" rotWithShape="0" blurRad="88900" dist="25400" dir="2700000">
              <a:srgbClr val="000000">
                <a:alpha val="14000"/>
              </a:srgbClr>
            </a:outerShdw>
          </a:effectLst>
        </p:spPr>
      </p:sp>
      <p:sp>
        <p:nvSpPr>
          <p:cNvPr id="15" name="Shape 11"/>
          <p:cNvSpPr/>
          <p:nvPr/>
        </p:nvSpPr>
        <p:spPr>
          <a:xfrm>
            <a:off x="713232" y="4041648"/>
            <a:ext cx="502920" cy="502920"/>
          </a:xfrm>
          <a:prstGeom prst="ellipse">
            <a:avLst/>
          </a:prstGeom>
          <a:solidFill>
            <a:srgbClr val="E8A816"/>
          </a:solidFill>
          <a:ln/>
        </p:spPr>
      </p:sp>
      <p:pic>
        <p:nvPicPr>
          <p:cNvPr id="16" name="Image 2" descr="preencoded.png">    </p:cNvPr>
          <p:cNvPicPr>
            <a:picLocks noChangeAspect="1"/>
          </p:cNvPicPr>
          <p:nvPr/>
        </p:nvPicPr>
        <p:blipFill>
          <a:blip r:embed="rId3"/>
          <a:stretch>
            <a:fillRect/>
          </a:stretch>
        </p:blipFill>
        <p:spPr>
          <a:xfrm>
            <a:off x="843991" y="4172407"/>
            <a:ext cx="241402" cy="241402"/>
          </a:xfrm>
          <a:prstGeom prst="rect">
            <a:avLst/>
          </a:prstGeom>
        </p:spPr>
      </p:pic>
      <p:sp>
        <p:nvSpPr>
          <p:cNvPr id="17" name="Text 12"/>
          <p:cNvSpPr/>
          <p:nvPr/>
        </p:nvSpPr>
        <p:spPr>
          <a:xfrm>
            <a:off x="1371600" y="3959352"/>
            <a:ext cx="7178040" cy="68580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NORTH STAR — Time-to-Compliant-Design</a:t>
            </a:r>
            <a:endParaRPr lang="en-US" sz="1500" dirty="0"/>
          </a:p>
          <a:p>
            <a:pPr indent="0" marL="0">
              <a:buNone/>
            </a:pPr>
            <a:r>
              <a:rPr lang="en-US" sz="1100" dirty="0">
                <a:solidFill>
                  <a:srgbClr val="C9D6E8"/>
                </a:solidFill>
                <a:latin typeface="Calibri" pitchFamily="34" charset="0"/>
                <a:ea typeface="Calibri" pitchFamily="34" charset="-122"/>
                <a:cs typeface="Calibri" pitchFamily="34" charset="-120"/>
              </a:rPr>
              <a:t>From intake to an approved, standards-compliant design assembled from reusable Moducules. Every theme moves this number.</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92608"/>
            <a:ext cx="8229600" cy="274320"/>
          </a:xfrm>
          <a:prstGeom prst="rect">
            <a:avLst/>
          </a:prstGeom>
          <a:noFill/>
          <a:ln/>
        </p:spPr>
        <p:txBody>
          <a:bodyPr wrap="square" lIns="0" tIns="0" rIns="0" bIns="0" rtlCol="0" anchor="ctr"/>
          <a:lstStyle/>
          <a:p>
            <a:pPr indent="0" marL="0">
              <a:buNone/>
            </a:pPr>
            <a:r>
              <a:rPr lang="en-US" sz="1050" b="1" spc="200" kern="0" dirty="0">
                <a:solidFill>
                  <a:srgbClr val="C78F0D"/>
                </a:solidFill>
                <a:latin typeface="Calibri" pitchFamily="34" charset="0"/>
                <a:ea typeface="Calibri" pitchFamily="34" charset="-122"/>
                <a:cs typeface="Calibri" pitchFamily="34" charset="-120"/>
              </a:rPr>
              <a:t>TRACK 1 · PLATFORM &amp; ORGANIZATION</a:t>
            </a:r>
            <a:endParaRPr lang="en-US" sz="1050" dirty="0"/>
          </a:p>
        </p:txBody>
      </p:sp>
      <p:sp>
        <p:nvSpPr>
          <p:cNvPr id="3" name="Text 1"/>
          <p:cNvSpPr/>
          <p:nvPr/>
        </p:nvSpPr>
        <p:spPr>
          <a:xfrm>
            <a:off x="457200" y="530352"/>
            <a:ext cx="8229600" cy="566928"/>
          </a:xfrm>
          <a:prstGeom prst="rect">
            <a:avLst/>
          </a:prstGeom>
          <a:noFill/>
          <a:ln/>
        </p:spPr>
        <p:txBody>
          <a:bodyPr wrap="square" lIns="0" tIns="0" rIns="0" bIns="0" rtlCol="0" anchor="ctr"/>
          <a:lstStyle/>
          <a:p>
            <a:pPr indent="0" marL="0">
              <a:buNone/>
            </a:pPr>
            <a:r>
              <a:rPr lang="en-US" sz="2800" b="1" dirty="0">
                <a:solidFill>
                  <a:srgbClr val="16263F"/>
                </a:solidFill>
                <a:latin typeface="Cambria" pitchFamily="34" charset="0"/>
                <a:ea typeface="Cambria" pitchFamily="34" charset="-122"/>
                <a:cs typeface="Cambria" pitchFamily="34" charset="-120"/>
              </a:rPr>
              <a:t>Seven themes, mapped to what we heard</a:t>
            </a:r>
            <a:endParaRPr lang="en-US" sz="28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1261872"/>
          <a:ext cx="8229600" cy="914400"/>
        </p:xfrm>
        <a:graphic>
          <a:graphicData uri="http://schemas.openxmlformats.org/drawingml/2006/table">
            <a:tbl>
              <a:tblPr/>
              <a:tblGrid>
                <a:gridCol w="2331720"/>
                <a:gridCol w="3154680"/>
                <a:gridCol w="2743200"/>
              </a:tblGrid>
              <a:tr h="420624">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Finding on the table</a:t>
                      </a:r>
                      <a:endParaRPr lang="en-US" sz="1100" dirty="0">
                        <a:latin typeface="Calibri" charset="0"/>
                        <a:ea typeface="Calibri" charset="0"/>
                        <a:cs typeface="Calibri" charset="0"/>
                      </a:endParaRPr>
                    </a:p>
                  </a:txBody>
                  <a:tcPr marL="54864" marR="54864" marT="54864" marB="54864" anchor="ctr">
                    <a:lnL w="6350" cap="flat" cmpd="sng" algn="ctr">
                      <a:solidFill>
                        <a:srgbClr val="DFE6EE"/>
                      </a:solidFill>
                      <a:prstDash val="solid"/>
                      <a:round/>
                      <a:headEnd type="none" w="med" len="med"/>
                      <a:tailEnd type="none" w="med" len="med"/>
                    </a:lnL>
                    <a:lnR w="6350" cap="flat" cmpd="sng" algn="ctr">
                      <a:solidFill>
                        <a:srgbClr val="DFE6EE"/>
                      </a:solidFill>
                      <a:prstDash val="solid"/>
                      <a:round/>
                      <a:headEnd type="none" w="med" len="med"/>
                      <a:tailEnd type="none" w="med" len="med"/>
                    </a:lnR>
                    <a:lnT w="6350" cap="flat" cmpd="sng" algn="ctr">
                      <a:solidFill>
                        <a:srgbClr val="DFE6EE"/>
                      </a:solidFill>
                      <a:prstDash val="solid"/>
                      <a:round/>
                      <a:headEnd type="none" w="med" len="med"/>
                      <a:tailEnd type="none" w="med" len="med"/>
                    </a:lnT>
                    <a:lnB w="6350" cap="flat" cmpd="sng" algn="ctr">
                      <a:solidFill>
                        <a:srgbClr val="DFE6EE"/>
                      </a:solidFill>
                      <a:prstDash val="solid"/>
                      <a:round/>
                      <a:headEnd type="none" w="med" len="med"/>
                      <a:tailEnd type="none" w="med" len="med"/>
                    </a:lnB>
                    <a:solidFill>
                      <a:srgbClr val="16263F"/>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Prescribed theme</a:t>
                      </a:r>
                      <a:endParaRPr lang="en-US" sz="1100" dirty="0">
                        <a:latin typeface="Calibri" charset="0"/>
                        <a:ea typeface="Calibri" charset="0"/>
                        <a:cs typeface="Calibri" charset="0"/>
                      </a:endParaRPr>
                    </a:p>
                  </a:txBody>
                  <a:tcPr marL="54864" marR="54864" marT="54864" marB="54864" anchor="ctr">
                    <a:lnL w="6350" cap="flat" cmpd="sng" algn="ctr">
                      <a:solidFill>
                        <a:srgbClr val="DFE6EE"/>
                      </a:solidFill>
                      <a:prstDash val="solid"/>
                      <a:round/>
                      <a:headEnd type="none" w="med" len="med"/>
                      <a:tailEnd type="none" w="med" len="med"/>
                    </a:lnL>
                    <a:lnR w="6350" cap="flat" cmpd="sng" algn="ctr">
                      <a:solidFill>
                        <a:srgbClr val="DFE6EE"/>
                      </a:solidFill>
                      <a:prstDash val="solid"/>
                      <a:round/>
                      <a:headEnd type="none" w="med" len="med"/>
                      <a:tailEnd type="none" w="med" len="med"/>
                    </a:lnR>
                    <a:lnT w="6350" cap="flat" cmpd="sng" algn="ctr">
                      <a:solidFill>
                        <a:srgbClr val="DFE6EE"/>
                      </a:solidFill>
                      <a:prstDash val="solid"/>
                      <a:round/>
                      <a:headEnd type="none" w="med" len="med"/>
                      <a:tailEnd type="none" w="med" len="med"/>
                    </a:lnT>
                    <a:lnB w="6350" cap="flat" cmpd="sng" algn="ctr">
                      <a:solidFill>
                        <a:srgbClr val="DFE6EE"/>
                      </a:solidFill>
                      <a:prstDash val="solid"/>
                      <a:round/>
                      <a:headEnd type="none" w="med" len="med"/>
                      <a:tailEnd type="none" w="med" len="med"/>
                    </a:lnB>
                    <a:solidFill>
                      <a:srgbClr val="16263F"/>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First proof — inside 30 days</a:t>
                      </a:r>
                      <a:endParaRPr lang="en-US" sz="1100" dirty="0">
                        <a:latin typeface="Calibri" charset="0"/>
                        <a:ea typeface="Calibri" charset="0"/>
                        <a:cs typeface="Calibri" charset="0"/>
                      </a:endParaRPr>
                    </a:p>
                  </a:txBody>
                  <a:tcPr marL="54864" marR="54864" marT="54864" marB="54864" anchor="ctr">
                    <a:lnL w="6350" cap="flat" cmpd="sng" algn="ctr">
                      <a:solidFill>
                        <a:srgbClr val="DFE6EE"/>
                      </a:solidFill>
                      <a:prstDash val="solid"/>
                      <a:round/>
                      <a:headEnd type="none" w="med" len="med"/>
                      <a:tailEnd type="none" w="med" len="med"/>
                    </a:lnL>
                    <a:lnR w="6350" cap="flat" cmpd="sng" algn="ctr">
                      <a:solidFill>
                        <a:srgbClr val="DFE6EE"/>
                      </a:solidFill>
                      <a:prstDash val="solid"/>
                      <a:round/>
                      <a:headEnd type="none" w="med" len="med"/>
                      <a:tailEnd type="none" w="med" len="med"/>
                    </a:lnR>
                    <a:lnT w="6350" cap="flat" cmpd="sng" algn="ctr">
                      <a:solidFill>
                        <a:srgbClr val="DFE6EE"/>
                      </a:solidFill>
                      <a:prstDash val="solid"/>
                      <a:round/>
                      <a:headEnd type="none" w="med" len="med"/>
                      <a:tailEnd type="none" w="med" len="med"/>
                    </a:lnT>
                    <a:lnB w="6350" cap="flat" cmpd="sng" algn="ctr">
                      <a:solidFill>
                        <a:srgbClr val="DFE6EE"/>
                      </a:solidFill>
                      <a:prstDash val="solid"/>
                      <a:round/>
                      <a:headEnd type="none" w="med" len="med"/>
                      <a:tailEnd type="none" w="med" len="med"/>
                    </a:lnB>
                    <a:solidFill>
                      <a:srgbClr val="16263F"/>
                    </a:solidFill>
                  </a:tcPr>
                </a:tc>
              </a:tr>
              <a:tr h="420624">
                <a:tc>
                  <a:txBody>
                    <a:bodyPr/>
                    <a:lstStyle/>
                    <a:p>
                      <a:pPr indent="0" marL="0">
                        <a:buNone/>
                      </a:pPr>
                      <a:r>
                        <a:rPr lang="en-US" sz="1020" dirty="0">
                          <a:solidFill>
                            <a:srgbClr val="1F2A38"/>
                          </a:solidFill>
                          <a:latin typeface="Calibri" pitchFamily="34" charset="0"/>
                          <a:ea typeface="Calibri" pitchFamily="34" charset="-122"/>
                          <a:cs typeface="Calibri" pitchFamily="34" charset="-120"/>
                        </a:rPr>
                        <a:t>Distributed silos</a:t>
                      </a:r>
                      <a:endParaRPr lang="en-US" sz="1020" dirty="0">
                        <a:latin typeface="Calibri" charset="0"/>
                        <a:ea typeface="Calibri" charset="0"/>
                        <a:cs typeface="Calibri" charset="0"/>
                      </a:endParaRPr>
                    </a:p>
                  </a:txBody>
                  <a:tcPr marL="54864" marR="54864" marT="54864" marB="54864" anchor="ctr">
                    <a:lnL w="6350" cap="flat" cmpd="sng" algn="ctr">
                      <a:solidFill>
                        <a:srgbClr val="DFE6EE"/>
                      </a:solidFill>
                      <a:prstDash val="solid"/>
                      <a:round/>
                      <a:headEnd type="none" w="med" len="med"/>
                      <a:tailEnd type="none" w="med" len="med"/>
                    </a:lnL>
                    <a:lnR w="6350" cap="flat" cmpd="sng" algn="ctr">
                      <a:solidFill>
                        <a:srgbClr val="DFE6EE"/>
                      </a:solidFill>
                      <a:prstDash val="solid"/>
                      <a:round/>
                      <a:headEnd type="none" w="med" len="med"/>
                      <a:tailEnd type="none" w="med" len="med"/>
                    </a:lnR>
                    <a:lnT w="6350" cap="flat" cmpd="sng" algn="ctr">
                      <a:solidFill>
                        <a:srgbClr val="DFE6EE"/>
                      </a:solidFill>
                      <a:prstDash val="solid"/>
                      <a:round/>
                      <a:headEnd type="none" w="med" len="med"/>
                      <a:tailEnd type="none" w="med" len="med"/>
                    </a:lnT>
                    <a:lnB w="6350" cap="flat" cmpd="sng" algn="ctr">
                      <a:solidFill>
                        <a:srgbClr val="DFE6EE"/>
                      </a:solidFill>
                      <a:prstDash val="solid"/>
                      <a:round/>
                      <a:headEnd type="none" w="med" len="med"/>
                      <a:tailEnd type="none" w="med" len="med"/>
                    </a:lnB>
                    <a:solidFill>
                      <a:srgbClr val="FFFFFF"/>
                    </a:solidFill>
                  </a:tcPr>
                </a:tc>
                <a:tc>
                  <a:txBody>
                    <a:bodyPr/>
                    <a:lstStyle/>
                    <a:p>
                      <a:pPr indent="0" marL="0">
                        <a:buNone/>
                      </a:pPr>
                      <a:r>
                        <a:rPr lang="en-US" sz="1020" b="1" dirty="0">
                          <a:solidFill>
                            <a:srgbClr val="16263F"/>
                          </a:solidFill>
                          <a:latin typeface="Calibri" pitchFamily="34" charset="0"/>
                          <a:ea typeface="Calibri" pitchFamily="34" charset="-122"/>
                          <a:cs typeface="Calibri" pitchFamily="34" charset="-120"/>
                        </a:rPr>
                        <a:t>Value-stream organization (3 product streams, FDE integrating)</a:t>
                      </a:r>
                      <a:endParaRPr lang="en-US" sz="1020" dirty="0">
                        <a:latin typeface="Calibri" charset="0"/>
                        <a:ea typeface="Calibri" charset="0"/>
                        <a:cs typeface="Calibri" charset="0"/>
                      </a:endParaRPr>
                    </a:p>
                  </a:txBody>
                  <a:tcPr marL="54864" marR="54864" marT="54864" marB="54864" anchor="ctr">
                    <a:lnL w="6350" cap="flat" cmpd="sng" algn="ctr">
                      <a:solidFill>
                        <a:srgbClr val="DFE6EE"/>
                      </a:solidFill>
                      <a:prstDash val="solid"/>
                      <a:round/>
                      <a:headEnd type="none" w="med" len="med"/>
                      <a:tailEnd type="none" w="med" len="med"/>
                    </a:lnL>
                    <a:lnR w="6350" cap="flat" cmpd="sng" algn="ctr">
                      <a:solidFill>
                        <a:srgbClr val="DFE6EE"/>
                      </a:solidFill>
                      <a:prstDash val="solid"/>
                      <a:round/>
                      <a:headEnd type="none" w="med" len="med"/>
                      <a:tailEnd type="none" w="med" len="med"/>
                    </a:lnR>
                    <a:lnT w="6350" cap="flat" cmpd="sng" algn="ctr">
                      <a:solidFill>
                        <a:srgbClr val="DFE6EE"/>
                      </a:solidFill>
                      <a:prstDash val="solid"/>
                      <a:round/>
                      <a:headEnd type="none" w="med" len="med"/>
                      <a:tailEnd type="none" w="med" len="med"/>
                    </a:lnT>
                    <a:lnB w="6350" cap="flat" cmpd="sng" algn="ctr">
                      <a:solidFill>
                        <a:srgbClr val="DFE6EE"/>
                      </a:solidFill>
                      <a:prstDash val="solid"/>
                      <a:round/>
                      <a:headEnd type="none" w="med" len="med"/>
                      <a:tailEnd type="none" w="med" len="med"/>
                    </a:lnB>
                    <a:solidFill>
                      <a:srgbClr val="FFFFFF"/>
                    </a:solidFill>
                  </a:tcPr>
                </a:tc>
                <a:tc>
                  <a:txBody>
                    <a:bodyPr/>
                    <a:lstStyle/>
                    <a:p>
                      <a:pPr indent="0" marL="0">
                        <a:buNone/>
                      </a:pPr>
                      <a:r>
                        <a:rPr lang="en-US" sz="1020" dirty="0">
                          <a:solidFill>
                            <a:srgbClr val="1F2A38"/>
                          </a:solidFill>
                          <a:latin typeface="Calibri" pitchFamily="34" charset="0"/>
                          <a:ea typeface="Calibri" pitchFamily="34" charset="-122"/>
                          <a:cs typeface="Calibri" pitchFamily="34" charset="-120"/>
                        </a:rPr>
                        <a:t>Charters + RASCI signed · one backlog live</a:t>
                      </a:r>
                      <a:endParaRPr lang="en-US" sz="1020" dirty="0">
                        <a:latin typeface="Calibri" charset="0"/>
                        <a:ea typeface="Calibri" charset="0"/>
                        <a:cs typeface="Calibri" charset="0"/>
                      </a:endParaRPr>
                    </a:p>
                  </a:txBody>
                  <a:tcPr marL="54864" marR="54864" marT="54864" marB="54864" anchor="ctr">
                    <a:lnL w="6350" cap="flat" cmpd="sng" algn="ctr">
                      <a:solidFill>
                        <a:srgbClr val="DFE6EE"/>
                      </a:solidFill>
                      <a:prstDash val="solid"/>
                      <a:round/>
                      <a:headEnd type="none" w="med" len="med"/>
                      <a:tailEnd type="none" w="med" len="med"/>
                    </a:lnL>
                    <a:lnR w="6350" cap="flat" cmpd="sng" algn="ctr">
                      <a:solidFill>
                        <a:srgbClr val="DFE6EE"/>
                      </a:solidFill>
                      <a:prstDash val="solid"/>
                      <a:round/>
                      <a:headEnd type="none" w="med" len="med"/>
                      <a:tailEnd type="none" w="med" len="med"/>
                    </a:lnR>
                    <a:lnT w="6350" cap="flat" cmpd="sng" algn="ctr">
                      <a:solidFill>
                        <a:srgbClr val="DFE6EE"/>
                      </a:solidFill>
                      <a:prstDash val="solid"/>
                      <a:round/>
                      <a:headEnd type="none" w="med" len="med"/>
                      <a:tailEnd type="none" w="med" len="med"/>
                    </a:lnT>
                    <a:lnB w="6350" cap="flat" cmpd="sng" algn="ctr">
                      <a:solidFill>
                        <a:srgbClr val="DFE6EE"/>
                      </a:solidFill>
                      <a:prstDash val="solid"/>
                      <a:round/>
                      <a:headEnd type="none" w="med" len="med"/>
                      <a:tailEnd type="none" w="med" len="med"/>
                    </a:lnB>
                    <a:solidFill>
                      <a:srgbClr val="FFFFFF"/>
                    </a:solidFill>
                  </a:tcPr>
                </a:tc>
              </a:tr>
              <a:tr h="420624">
                <a:tc>
                  <a:txBody>
                    <a:bodyPr/>
                    <a:lstStyle/>
                    <a:p>
                      <a:pPr indent="0" marL="0">
                        <a:buNone/>
                      </a:pPr>
                      <a:r>
                        <a:rPr lang="en-US" sz="1020" dirty="0">
                          <a:solidFill>
                            <a:srgbClr val="1F2A38"/>
                          </a:solidFill>
                          <a:latin typeface="Calibri" pitchFamily="34" charset="0"/>
                          <a:ea typeface="Calibri" pitchFamily="34" charset="-122"/>
                          <a:cs typeface="Calibri" pitchFamily="34" charset="-120"/>
                        </a:rPr>
                        <a:t>No cadence, MVPs, or working backwards</a:t>
                      </a:r>
                      <a:endParaRPr lang="en-US" sz="1020" dirty="0">
                        <a:latin typeface="Calibri" charset="0"/>
                        <a:ea typeface="Calibri" charset="0"/>
                        <a:cs typeface="Calibri" charset="0"/>
                      </a:endParaRPr>
                    </a:p>
                  </a:txBody>
                  <a:tcPr marL="54864" marR="54864" marT="54864" marB="54864" anchor="ctr">
                    <a:lnL w="6350" cap="flat" cmpd="sng" algn="ctr">
                      <a:solidFill>
                        <a:srgbClr val="DFE6EE"/>
                      </a:solidFill>
                      <a:prstDash val="solid"/>
                      <a:round/>
                      <a:headEnd type="none" w="med" len="med"/>
                      <a:tailEnd type="none" w="med" len="med"/>
                    </a:lnL>
                    <a:lnR w="6350" cap="flat" cmpd="sng" algn="ctr">
                      <a:solidFill>
                        <a:srgbClr val="DFE6EE"/>
                      </a:solidFill>
                      <a:prstDash val="solid"/>
                      <a:round/>
                      <a:headEnd type="none" w="med" len="med"/>
                      <a:tailEnd type="none" w="med" len="med"/>
                    </a:lnR>
                    <a:lnT w="6350" cap="flat" cmpd="sng" algn="ctr">
                      <a:solidFill>
                        <a:srgbClr val="DFE6EE"/>
                      </a:solidFill>
                      <a:prstDash val="solid"/>
                      <a:round/>
                      <a:headEnd type="none" w="med" len="med"/>
                      <a:tailEnd type="none" w="med" len="med"/>
                    </a:lnT>
                    <a:lnB w="6350" cap="flat" cmpd="sng" algn="ctr">
                      <a:solidFill>
                        <a:srgbClr val="DFE6EE"/>
                      </a:solidFill>
                      <a:prstDash val="solid"/>
                      <a:round/>
                      <a:headEnd type="none" w="med" len="med"/>
                      <a:tailEnd type="none" w="med" len="med"/>
                    </a:lnB>
                    <a:solidFill>
                      <a:srgbClr val="F3F6FA"/>
                    </a:solidFill>
                  </a:tcPr>
                </a:tc>
                <a:tc>
                  <a:txBody>
                    <a:bodyPr/>
                    <a:lstStyle/>
                    <a:p>
                      <a:pPr indent="0" marL="0">
                        <a:buNone/>
                      </a:pPr>
                      <a:r>
                        <a:rPr lang="en-US" sz="1020" b="1" dirty="0">
                          <a:solidFill>
                            <a:srgbClr val="16263F"/>
                          </a:solidFill>
                          <a:latin typeface="Calibri" pitchFamily="34" charset="0"/>
                          <a:ea typeface="Calibri" pitchFamily="34" charset="-122"/>
                          <a:cs typeface="Calibri" pitchFamily="34" charset="-120"/>
                        </a:rPr>
                        <a:t>Product operating system — PRFAQ in, release out</a:t>
                      </a:r>
                      <a:endParaRPr lang="en-US" sz="1020" dirty="0">
                        <a:latin typeface="Calibri" charset="0"/>
                        <a:ea typeface="Calibri" charset="0"/>
                        <a:cs typeface="Calibri" charset="0"/>
                      </a:endParaRPr>
                    </a:p>
                  </a:txBody>
                  <a:tcPr marL="54864" marR="54864" marT="54864" marB="54864" anchor="ctr">
                    <a:lnL w="6350" cap="flat" cmpd="sng" algn="ctr">
                      <a:solidFill>
                        <a:srgbClr val="DFE6EE"/>
                      </a:solidFill>
                      <a:prstDash val="solid"/>
                      <a:round/>
                      <a:headEnd type="none" w="med" len="med"/>
                      <a:tailEnd type="none" w="med" len="med"/>
                    </a:lnL>
                    <a:lnR w="6350" cap="flat" cmpd="sng" algn="ctr">
                      <a:solidFill>
                        <a:srgbClr val="DFE6EE"/>
                      </a:solidFill>
                      <a:prstDash val="solid"/>
                      <a:round/>
                      <a:headEnd type="none" w="med" len="med"/>
                      <a:tailEnd type="none" w="med" len="med"/>
                    </a:lnR>
                    <a:lnT w="6350" cap="flat" cmpd="sng" algn="ctr">
                      <a:solidFill>
                        <a:srgbClr val="DFE6EE"/>
                      </a:solidFill>
                      <a:prstDash val="solid"/>
                      <a:round/>
                      <a:headEnd type="none" w="med" len="med"/>
                      <a:tailEnd type="none" w="med" len="med"/>
                    </a:lnT>
                    <a:lnB w="6350" cap="flat" cmpd="sng" algn="ctr">
                      <a:solidFill>
                        <a:srgbClr val="DFE6EE"/>
                      </a:solidFill>
                      <a:prstDash val="solid"/>
                      <a:round/>
                      <a:headEnd type="none" w="med" len="med"/>
                      <a:tailEnd type="none" w="med" len="med"/>
                    </a:lnB>
                    <a:solidFill>
                      <a:srgbClr val="F3F6FA"/>
                    </a:solidFill>
                  </a:tcPr>
                </a:tc>
                <a:tc>
                  <a:txBody>
                    <a:bodyPr/>
                    <a:lstStyle/>
                    <a:p>
                      <a:pPr indent="0" marL="0">
                        <a:buNone/>
                      </a:pPr>
                      <a:r>
                        <a:rPr lang="en-US" sz="1020" dirty="0">
                          <a:solidFill>
                            <a:srgbClr val="1F2A38"/>
                          </a:solidFill>
                          <a:latin typeface="Calibri" pitchFamily="34" charset="0"/>
                          <a:ea typeface="Calibri" pitchFamily="34" charset="-122"/>
                          <a:cs typeface="Calibri" pitchFamily="34" charset="-120"/>
                        </a:rPr>
                        <a:t>Train #1 scoped · DORA &amp; flow baseline</a:t>
                      </a:r>
                      <a:endParaRPr lang="en-US" sz="1020" dirty="0">
                        <a:latin typeface="Calibri" charset="0"/>
                        <a:ea typeface="Calibri" charset="0"/>
                        <a:cs typeface="Calibri" charset="0"/>
                      </a:endParaRPr>
                    </a:p>
                  </a:txBody>
                  <a:tcPr marL="54864" marR="54864" marT="54864" marB="54864" anchor="ctr">
                    <a:lnL w="6350" cap="flat" cmpd="sng" algn="ctr">
                      <a:solidFill>
                        <a:srgbClr val="DFE6EE"/>
                      </a:solidFill>
                      <a:prstDash val="solid"/>
                      <a:round/>
                      <a:headEnd type="none" w="med" len="med"/>
                      <a:tailEnd type="none" w="med" len="med"/>
                    </a:lnL>
                    <a:lnR w="6350" cap="flat" cmpd="sng" algn="ctr">
                      <a:solidFill>
                        <a:srgbClr val="DFE6EE"/>
                      </a:solidFill>
                      <a:prstDash val="solid"/>
                      <a:round/>
                      <a:headEnd type="none" w="med" len="med"/>
                      <a:tailEnd type="none" w="med" len="med"/>
                    </a:lnR>
                    <a:lnT w="6350" cap="flat" cmpd="sng" algn="ctr">
                      <a:solidFill>
                        <a:srgbClr val="DFE6EE"/>
                      </a:solidFill>
                      <a:prstDash val="solid"/>
                      <a:round/>
                      <a:headEnd type="none" w="med" len="med"/>
                      <a:tailEnd type="none" w="med" len="med"/>
                    </a:lnT>
                    <a:lnB w="6350" cap="flat" cmpd="sng" algn="ctr">
                      <a:solidFill>
                        <a:srgbClr val="DFE6EE"/>
                      </a:solidFill>
                      <a:prstDash val="solid"/>
                      <a:round/>
                      <a:headEnd type="none" w="med" len="med"/>
                      <a:tailEnd type="none" w="med" len="med"/>
                    </a:lnB>
                    <a:solidFill>
                      <a:srgbClr val="F3F6FA"/>
                    </a:solidFill>
                  </a:tcPr>
                </a:tc>
              </a:tr>
              <a:tr h="420624">
                <a:tc>
                  <a:txBody>
                    <a:bodyPr/>
                    <a:lstStyle/>
                    <a:p>
                      <a:pPr indent="0" marL="0">
                        <a:buNone/>
                      </a:pPr>
                      <a:r>
                        <a:rPr lang="en-US" sz="1020" dirty="0">
                          <a:solidFill>
                            <a:srgbClr val="1F2A38"/>
                          </a:solidFill>
                          <a:latin typeface="Calibri" pitchFamily="34" charset="0"/>
                          <a:ea typeface="Calibri" pitchFamily="34" charset="-122"/>
                          <a:cs typeface="Calibri" pitchFamily="34" charset="-120"/>
                        </a:rPr>
                        <a:t>Contextual Intelligence promised, not realized</a:t>
                      </a:r>
                      <a:endParaRPr lang="en-US" sz="1020" dirty="0">
                        <a:latin typeface="Calibri" charset="0"/>
                        <a:ea typeface="Calibri" charset="0"/>
                        <a:cs typeface="Calibri" charset="0"/>
                      </a:endParaRPr>
                    </a:p>
                  </a:txBody>
                  <a:tcPr marL="54864" marR="54864" marT="54864" marB="54864" anchor="ctr">
                    <a:lnL w="6350" cap="flat" cmpd="sng" algn="ctr">
                      <a:solidFill>
                        <a:srgbClr val="DFE6EE"/>
                      </a:solidFill>
                      <a:prstDash val="solid"/>
                      <a:round/>
                      <a:headEnd type="none" w="med" len="med"/>
                      <a:tailEnd type="none" w="med" len="med"/>
                    </a:lnL>
                    <a:lnR w="6350" cap="flat" cmpd="sng" algn="ctr">
                      <a:solidFill>
                        <a:srgbClr val="DFE6EE"/>
                      </a:solidFill>
                      <a:prstDash val="solid"/>
                      <a:round/>
                      <a:headEnd type="none" w="med" len="med"/>
                      <a:tailEnd type="none" w="med" len="med"/>
                    </a:lnR>
                    <a:lnT w="6350" cap="flat" cmpd="sng" algn="ctr">
                      <a:solidFill>
                        <a:srgbClr val="DFE6EE"/>
                      </a:solidFill>
                      <a:prstDash val="solid"/>
                      <a:round/>
                      <a:headEnd type="none" w="med" len="med"/>
                      <a:tailEnd type="none" w="med" len="med"/>
                    </a:lnT>
                    <a:lnB w="6350" cap="flat" cmpd="sng" algn="ctr">
                      <a:solidFill>
                        <a:srgbClr val="DFE6EE"/>
                      </a:solidFill>
                      <a:prstDash val="solid"/>
                      <a:round/>
                      <a:headEnd type="none" w="med" len="med"/>
                      <a:tailEnd type="none" w="med" len="med"/>
                    </a:lnB>
                    <a:solidFill>
                      <a:srgbClr val="FFFFFF"/>
                    </a:solidFill>
                  </a:tcPr>
                </a:tc>
                <a:tc>
                  <a:txBody>
                    <a:bodyPr/>
                    <a:lstStyle/>
                    <a:p>
                      <a:pPr indent="0" marL="0">
                        <a:buNone/>
                      </a:pPr>
                      <a:r>
                        <a:rPr lang="en-US" sz="1020" b="1" dirty="0">
                          <a:solidFill>
                            <a:srgbClr val="16263F"/>
                          </a:solidFill>
                          <a:latin typeface="Calibri" pitchFamily="34" charset="0"/>
                          <a:ea typeface="Calibri" pitchFamily="34" charset="-122"/>
                          <a:cs typeface="Calibri" pitchFamily="34" charset="-120"/>
                        </a:rPr>
                        <a:t>The Context Spine — graph-grounded retrieval &amp; learning</a:t>
                      </a:r>
                      <a:endParaRPr lang="en-US" sz="1020" dirty="0">
                        <a:latin typeface="Calibri" charset="0"/>
                        <a:ea typeface="Calibri" charset="0"/>
                        <a:cs typeface="Calibri" charset="0"/>
                      </a:endParaRPr>
                    </a:p>
                  </a:txBody>
                  <a:tcPr marL="54864" marR="54864" marT="54864" marB="54864" anchor="ctr">
                    <a:lnL w="6350" cap="flat" cmpd="sng" algn="ctr">
                      <a:solidFill>
                        <a:srgbClr val="DFE6EE"/>
                      </a:solidFill>
                      <a:prstDash val="solid"/>
                      <a:round/>
                      <a:headEnd type="none" w="med" len="med"/>
                      <a:tailEnd type="none" w="med" len="med"/>
                    </a:lnL>
                    <a:lnR w="6350" cap="flat" cmpd="sng" algn="ctr">
                      <a:solidFill>
                        <a:srgbClr val="DFE6EE"/>
                      </a:solidFill>
                      <a:prstDash val="solid"/>
                      <a:round/>
                      <a:headEnd type="none" w="med" len="med"/>
                      <a:tailEnd type="none" w="med" len="med"/>
                    </a:lnR>
                    <a:lnT w="6350" cap="flat" cmpd="sng" algn="ctr">
                      <a:solidFill>
                        <a:srgbClr val="DFE6EE"/>
                      </a:solidFill>
                      <a:prstDash val="solid"/>
                      <a:round/>
                      <a:headEnd type="none" w="med" len="med"/>
                      <a:tailEnd type="none" w="med" len="med"/>
                    </a:lnT>
                    <a:lnB w="6350" cap="flat" cmpd="sng" algn="ctr">
                      <a:solidFill>
                        <a:srgbClr val="DFE6EE"/>
                      </a:solidFill>
                      <a:prstDash val="solid"/>
                      <a:round/>
                      <a:headEnd type="none" w="med" len="med"/>
                      <a:tailEnd type="none" w="med" len="med"/>
                    </a:lnB>
                    <a:solidFill>
                      <a:srgbClr val="FFFFFF"/>
                    </a:solidFill>
                  </a:tcPr>
                </a:tc>
                <a:tc>
                  <a:txBody>
                    <a:bodyPr/>
                    <a:lstStyle/>
                    <a:p>
                      <a:pPr indent="0" marL="0">
                        <a:buNone/>
                      </a:pPr>
                      <a:r>
                        <a:rPr lang="en-US" sz="1020" dirty="0">
                          <a:solidFill>
                            <a:srgbClr val="1F2A38"/>
                          </a:solidFill>
                          <a:latin typeface="Calibri" pitchFamily="34" charset="0"/>
                          <a:ea typeface="Calibri" pitchFamily="34" charset="-122"/>
                          <a:cs typeface="Calibri" pitchFamily="34" charset="-120"/>
                        </a:rPr>
                        <a:t>Ontology v0.1 · golden eval set v0</a:t>
                      </a:r>
                      <a:endParaRPr lang="en-US" sz="1020" dirty="0">
                        <a:latin typeface="Calibri" charset="0"/>
                        <a:ea typeface="Calibri" charset="0"/>
                        <a:cs typeface="Calibri" charset="0"/>
                      </a:endParaRPr>
                    </a:p>
                  </a:txBody>
                  <a:tcPr marL="54864" marR="54864" marT="54864" marB="54864" anchor="ctr">
                    <a:lnL w="6350" cap="flat" cmpd="sng" algn="ctr">
                      <a:solidFill>
                        <a:srgbClr val="DFE6EE"/>
                      </a:solidFill>
                      <a:prstDash val="solid"/>
                      <a:round/>
                      <a:headEnd type="none" w="med" len="med"/>
                      <a:tailEnd type="none" w="med" len="med"/>
                    </a:lnL>
                    <a:lnR w="6350" cap="flat" cmpd="sng" algn="ctr">
                      <a:solidFill>
                        <a:srgbClr val="DFE6EE"/>
                      </a:solidFill>
                      <a:prstDash val="solid"/>
                      <a:round/>
                      <a:headEnd type="none" w="med" len="med"/>
                      <a:tailEnd type="none" w="med" len="med"/>
                    </a:lnR>
                    <a:lnT w="6350" cap="flat" cmpd="sng" algn="ctr">
                      <a:solidFill>
                        <a:srgbClr val="DFE6EE"/>
                      </a:solidFill>
                      <a:prstDash val="solid"/>
                      <a:round/>
                      <a:headEnd type="none" w="med" len="med"/>
                      <a:tailEnd type="none" w="med" len="med"/>
                    </a:lnT>
                    <a:lnB w="6350" cap="flat" cmpd="sng" algn="ctr">
                      <a:solidFill>
                        <a:srgbClr val="DFE6EE"/>
                      </a:solidFill>
                      <a:prstDash val="solid"/>
                      <a:round/>
                      <a:headEnd type="none" w="med" len="med"/>
                      <a:tailEnd type="none" w="med" len="med"/>
                    </a:lnB>
                    <a:solidFill>
                      <a:srgbClr val="FFFFFF"/>
                    </a:solidFill>
                  </a:tcPr>
                </a:tc>
              </a:tr>
              <a:tr h="420624">
                <a:tc>
                  <a:txBody>
                    <a:bodyPr/>
                    <a:lstStyle/>
                    <a:p>
                      <a:pPr indent="0" marL="0">
                        <a:buNone/>
                      </a:pPr>
                      <a:r>
                        <a:rPr lang="en-US" sz="1020" dirty="0">
                          <a:solidFill>
                            <a:srgbClr val="1F2A38"/>
                          </a:solidFill>
                          <a:latin typeface="Calibri" pitchFamily="34" charset="0"/>
                          <a:ea typeface="Calibri" pitchFamily="34" charset="-122"/>
                          <a:cs typeface="Calibri" pitchFamily="34" charset="-120"/>
                        </a:rPr>
                        <a:t>Plug-&amp;-play: Moducule → Module → Room → Building</a:t>
                      </a:r>
                      <a:endParaRPr lang="en-US" sz="1020" dirty="0">
                        <a:latin typeface="Calibri" charset="0"/>
                        <a:ea typeface="Calibri" charset="0"/>
                        <a:cs typeface="Calibri" charset="0"/>
                      </a:endParaRPr>
                    </a:p>
                  </a:txBody>
                  <a:tcPr marL="54864" marR="54864" marT="54864" marB="54864" anchor="ctr">
                    <a:lnL w="6350" cap="flat" cmpd="sng" algn="ctr">
                      <a:solidFill>
                        <a:srgbClr val="DFE6EE"/>
                      </a:solidFill>
                      <a:prstDash val="solid"/>
                      <a:round/>
                      <a:headEnd type="none" w="med" len="med"/>
                      <a:tailEnd type="none" w="med" len="med"/>
                    </a:lnL>
                    <a:lnR w="6350" cap="flat" cmpd="sng" algn="ctr">
                      <a:solidFill>
                        <a:srgbClr val="DFE6EE"/>
                      </a:solidFill>
                      <a:prstDash val="solid"/>
                      <a:round/>
                      <a:headEnd type="none" w="med" len="med"/>
                      <a:tailEnd type="none" w="med" len="med"/>
                    </a:lnR>
                    <a:lnT w="6350" cap="flat" cmpd="sng" algn="ctr">
                      <a:solidFill>
                        <a:srgbClr val="DFE6EE"/>
                      </a:solidFill>
                      <a:prstDash val="solid"/>
                      <a:round/>
                      <a:headEnd type="none" w="med" len="med"/>
                      <a:tailEnd type="none" w="med" len="med"/>
                    </a:lnT>
                    <a:lnB w="6350" cap="flat" cmpd="sng" algn="ctr">
                      <a:solidFill>
                        <a:srgbClr val="DFE6EE"/>
                      </a:solidFill>
                      <a:prstDash val="solid"/>
                      <a:round/>
                      <a:headEnd type="none" w="med" len="med"/>
                      <a:tailEnd type="none" w="med" len="med"/>
                    </a:lnB>
                    <a:solidFill>
                      <a:srgbClr val="F3F6FA"/>
                    </a:solidFill>
                  </a:tcPr>
                </a:tc>
                <a:tc>
                  <a:txBody>
                    <a:bodyPr/>
                    <a:lstStyle/>
                    <a:p>
                      <a:pPr indent="0" marL="0">
                        <a:buNone/>
                      </a:pPr>
                      <a:r>
                        <a:rPr lang="en-US" sz="1020" b="1" dirty="0">
                          <a:solidFill>
                            <a:srgbClr val="16263F"/>
                          </a:solidFill>
                          <a:latin typeface="Calibri" pitchFamily="34" charset="0"/>
                          <a:ea typeface="Calibri" pitchFamily="34" charset="-122"/>
                          <a:cs typeface="Calibri" pitchFamily="34" charset="-120"/>
                        </a:rPr>
                        <a:t>Component contract (MDS) + certified registry</a:t>
                      </a:r>
                      <a:endParaRPr lang="en-US" sz="1020" dirty="0">
                        <a:latin typeface="Calibri" charset="0"/>
                        <a:ea typeface="Calibri" charset="0"/>
                        <a:cs typeface="Calibri" charset="0"/>
                      </a:endParaRPr>
                    </a:p>
                  </a:txBody>
                  <a:tcPr marL="54864" marR="54864" marT="54864" marB="54864" anchor="ctr">
                    <a:lnL w="6350" cap="flat" cmpd="sng" algn="ctr">
                      <a:solidFill>
                        <a:srgbClr val="DFE6EE"/>
                      </a:solidFill>
                      <a:prstDash val="solid"/>
                      <a:round/>
                      <a:headEnd type="none" w="med" len="med"/>
                      <a:tailEnd type="none" w="med" len="med"/>
                    </a:lnL>
                    <a:lnR w="6350" cap="flat" cmpd="sng" algn="ctr">
                      <a:solidFill>
                        <a:srgbClr val="DFE6EE"/>
                      </a:solidFill>
                      <a:prstDash val="solid"/>
                      <a:round/>
                      <a:headEnd type="none" w="med" len="med"/>
                      <a:tailEnd type="none" w="med" len="med"/>
                    </a:lnR>
                    <a:lnT w="6350" cap="flat" cmpd="sng" algn="ctr">
                      <a:solidFill>
                        <a:srgbClr val="DFE6EE"/>
                      </a:solidFill>
                      <a:prstDash val="solid"/>
                      <a:round/>
                      <a:headEnd type="none" w="med" len="med"/>
                      <a:tailEnd type="none" w="med" len="med"/>
                    </a:lnT>
                    <a:lnB w="6350" cap="flat" cmpd="sng" algn="ctr">
                      <a:solidFill>
                        <a:srgbClr val="DFE6EE"/>
                      </a:solidFill>
                      <a:prstDash val="solid"/>
                      <a:round/>
                      <a:headEnd type="none" w="med" len="med"/>
                      <a:tailEnd type="none" w="med" len="med"/>
                    </a:lnB>
                    <a:solidFill>
                      <a:srgbClr val="F3F6FA"/>
                    </a:solidFill>
                  </a:tcPr>
                </a:tc>
                <a:tc>
                  <a:txBody>
                    <a:bodyPr/>
                    <a:lstStyle/>
                    <a:p>
                      <a:pPr indent="0" marL="0">
                        <a:buNone/>
                      </a:pPr>
                      <a:r>
                        <a:rPr lang="en-US" sz="1020" dirty="0">
                          <a:solidFill>
                            <a:srgbClr val="1F2A38"/>
                          </a:solidFill>
                          <a:latin typeface="Calibri" pitchFamily="34" charset="0"/>
                          <a:ea typeface="Calibri" pitchFamily="34" charset="-122"/>
                          <a:cs typeface="Calibri" pitchFamily="34" charset="-120"/>
                        </a:rPr>
                        <a:t>MDS v0.1 schema reviewed with you</a:t>
                      </a:r>
                      <a:endParaRPr lang="en-US" sz="1020" dirty="0">
                        <a:latin typeface="Calibri" charset="0"/>
                        <a:ea typeface="Calibri" charset="0"/>
                        <a:cs typeface="Calibri" charset="0"/>
                      </a:endParaRPr>
                    </a:p>
                  </a:txBody>
                  <a:tcPr marL="54864" marR="54864" marT="54864" marB="54864" anchor="ctr">
                    <a:lnL w="6350" cap="flat" cmpd="sng" algn="ctr">
                      <a:solidFill>
                        <a:srgbClr val="DFE6EE"/>
                      </a:solidFill>
                      <a:prstDash val="solid"/>
                      <a:round/>
                      <a:headEnd type="none" w="med" len="med"/>
                      <a:tailEnd type="none" w="med" len="med"/>
                    </a:lnL>
                    <a:lnR w="6350" cap="flat" cmpd="sng" algn="ctr">
                      <a:solidFill>
                        <a:srgbClr val="DFE6EE"/>
                      </a:solidFill>
                      <a:prstDash val="solid"/>
                      <a:round/>
                      <a:headEnd type="none" w="med" len="med"/>
                      <a:tailEnd type="none" w="med" len="med"/>
                    </a:lnR>
                    <a:lnT w="6350" cap="flat" cmpd="sng" algn="ctr">
                      <a:solidFill>
                        <a:srgbClr val="DFE6EE"/>
                      </a:solidFill>
                      <a:prstDash val="solid"/>
                      <a:round/>
                      <a:headEnd type="none" w="med" len="med"/>
                      <a:tailEnd type="none" w="med" len="med"/>
                    </a:lnT>
                    <a:lnB w="6350" cap="flat" cmpd="sng" algn="ctr">
                      <a:solidFill>
                        <a:srgbClr val="DFE6EE"/>
                      </a:solidFill>
                      <a:prstDash val="solid"/>
                      <a:round/>
                      <a:headEnd type="none" w="med" len="med"/>
                      <a:tailEnd type="none" w="med" len="med"/>
                    </a:lnB>
                    <a:solidFill>
                      <a:srgbClr val="F3F6FA"/>
                    </a:solidFill>
                  </a:tcPr>
                </a:tc>
              </a:tr>
              <a:tr h="420624">
                <a:tc>
                  <a:txBody>
                    <a:bodyPr/>
                    <a:lstStyle/>
                    <a:p>
                      <a:pPr indent="0" marL="0">
                        <a:buNone/>
                      </a:pPr>
                      <a:r>
                        <a:rPr lang="en-US" sz="1020" dirty="0">
                          <a:solidFill>
                            <a:srgbClr val="1F2A38"/>
                          </a:solidFill>
                          <a:latin typeface="Calibri" pitchFamily="34" charset="0"/>
                          <a:ea typeface="Calibri" pitchFamily="34" charset="-122"/>
                          <a:cs typeface="Calibri" pitchFamily="34" charset="-120"/>
                        </a:rPr>
                        <a:t>Digital twin at every level</a:t>
                      </a:r>
                      <a:endParaRPr lang="en-US" sz="1020" dirty="0">
                        <a:latin typeface="Calibri" charset="0"/>
                        <a:ea typeface="Calibri" charset="0"/>
                        <a:cs typeface="Calibri" charset="0"/>
                      </a:endParaRPr>
                    </a:p>
                  </a:txBody>
                  <a:tcPr marL="54864" marR="54864" marT="54864" marB="54864" anchor="ctr">
                    <a:lnL w="6350" cap="flat" cmpd="sng" algn="ctr">
                      <a:solidFill>
                        <a:srgbClr val="DFE6EE"/>
                      </a:solidFill>
                      <a:prstDash val="solid"/>
                      <a:round/>
                      <a:headEnd type="none" w="med" len="med"/>
                      <a:tailEnd type="none" w="med" len="med"/>
                    </a:lnL>
                    <a:lnR w="6350" cap="flat" cmpd="sng" algn="ctr">
                      <a:solidFill>
                        <a:srgbClr val="DFE6EE"/>
                      </a:solidFill>
                      <a:prstDash val="solid"/>
                      <a:round/>
                      <a:headEnd type="none" w="med" len="med"/>
                      <a:tailEnd type="none" w="med" len="med"/>
                    </a:lnR>
                    <a:lnT w="6350" cap="flat" cmpd="sng" algn="ctr">
                      <a:solidFill>
                        <a:srgbClr val="DFE6EE"/>
                      </a:solidFill>
                      <a:prstDash val="solid"/>
                      <a:round/>
                      <a:headEnd type="none" w="med" len="med"/>
                      <a:tailEnd type="none" w="med" len="med"/>
                    </a:lnT>
                    <a:lnB w="6350" cap="flat" cmpd="sng" algn="ctr">
                      <a:solidFill>
                        <a:srgbClr val="DFE6EE"/>
                      </a:solidFill>
                      <a:prstDash val="solid"/>
                      <a:round/>
                      <a:headEnd type="none" w="med" len="med"/>
                      <a:tailEnd type="none" w="med" len="med"/>
                    </a:lnB>
                    <a:solidFill>
                      <a:srgbClr val="FFFFFF"/>
                    </a:solidFill>
                  </a:tcPr>
                </a:tc>
                <a:tc>
                  <a:txBody>
                    <a:bodyPr/>
                    <a:lstStyle/>
                    <a:p>
                      <a:pPr indent="0" marL="0">
                        <a:buNone/>
                      </a:pPr>
                      <a:r>
                        <a:rPr lang="en-US" sz="1020" b="1" dirty="0">
                          <a:solidFill>
                            <a:srgbClr val="16263F"/>
                          </a:solidFill>
                          <a:latin typeface="Calibri" pitchFamily="34" charset="0"/>
                          <a:ea typeface="Calibri" pitchFamily="34" charset="-122"/>
                          <a:cs typeface="Calibri" pitchFamily="34" charset="-120"/>
                        </a:rPr>
                        <a:t>Twin hierarchy — change-journaled, one API</a:t>
                      </a:r>
                      <a:endParaRPr lang="en-US" sz="1020" dirty="0">
                        <a:latin typeface="Calibri" charset="0"/>
                        <a:ea typeface="Calibri" charset="0"/>
                        <a:cs typeface="Calibri" charset="0"/>
                      </a:endParaRPr>
                    </a:p>
                  </a:txBody>
                  <a:tcPr marL="54864" marR="54864" marT="54864" marB="54864" anchor="ctr">
                    <a:lnL w="6350" cap="flat" cmpd="sng" algn="ctr">
                      <a:solidFill>
                        <a:srgbClr val="DFE6EE"/>
                      </a:solidFill>
                      <a:prstDash val="solid"/>
                      <a:round/>
                      <a:headEnd type="none" w="med" len="med"/>
                      <a:tailEnd type="none" w="med" len="med"/>
                    </a:lnL>
                    <a:lnR w="6350" cap="flat" cmpd="sng" algn="ctr">
                      <a:solidFill>
                        <a:srgbClr val="DFE6EE"/>
                      </a:solidFill>
                      <a:prstDash val="solid"/>
                      <a:round/>
                      <a:headEnd type="none" w="med" len="med"/>
                      <a:tailEnd type="none" w="med" len="med"/>
                    </a:lnR>
                    <a:lnT w="6350" cap="flat" cmpd="sng" algn="ctr">
                      <a:solidFill>
                        <a:srgbClr val="DFE6EE"/>
                      </a:solidFill>
                      <a:prstDash val="solid"/>
                      <a:round/>
                      <a:headEnd type="none" w="med" len="med"/>
                      <a:tailEnd type="none" w="med" len="med"/>
                    </a:lnT>
                    <a:lnB w="6350" cap="flat" cmpd="sng" algn="ctr">
                      <a:solidFill>
                        <a:srgbClr val="DFE6EE"/>
                      </a:solidFill>
                      <a:prstDash val="solid"/>
                      <a:round/>
                      <a:headEnd type="none" w="med" len="med"/>
                      <a:tailEnd type="none" w="med" len="med"/>
                    </a:lnB>
                    <a:solidFill>
                      <a:srgbClr val="FFFFFF"/>
                    </a:solidFill>
                  </a:tcPr>
                </a:tc>
                <a:tc>
                  <a:txBody>
                    <a:bodyPr/>
                    <a:lstStyle/>
                    <a:p>
                      <a:pPr indent="0" marL="0">
                        <a:buNone/>
                      </a:pPr>
                      <a:r>
                        <a:rPr lang="en-US" sz="1020" dirty="0">
                          <a:solidFill>
                            <a:srgbClr val="1F2A38"/>
                          </a:solidFill>
                          <a:latin typeface="Calibri" pitchFamily="34" charset="0"/>
                          <a:ea typeface="Calibri" pitchFamily="34" charset="-122"/>
                          <a:cs typeface="Calibri" pitchFamily="34" charset="-120"/>
                        </a:rPr>
                        <a:t>Twin API ADR + read-path design</a:t>
                      </a:r>
                      <a:endParaRPr lang="en-US" sz="1020" dirty="0">
                        <a:latin typeface="Calibri" charset="0"/>
                        <a:ea typeface="Calibri" charset="0"/>
                        <a:cs typeface="Calibri" charset="0"/>
                      </a:endParaRPr>
                    </a:p>
                  </a:txBody>
                  <a:tcPr marL="54864" marR="54864" marT="54864" marB="54864" anchor="ctr">
                    <a:lnL w="6350" cap="flat" cmpd="sng" algn="ctr">
                      <a:solidFill>
                        <a:srgbClr val="DFE6EE"/>
                      </a:solidFill>
                      <a:prstDash val="solid"/>
                      <a:round/>
                      <a:headEnd type="none" w="med" len="med"/>
                      <a:tailEnd type="none" w="med" len="med"/>
                    </a:lnL>
                    <a:lnR w="6350" cap="flat" cmpd="sng" algn="ctr">
                      <a:solidFill>
                        <a:srgbClr val="DFE6EE"/>
                      </a:solidFill>
                      <a:prstDash val="solid"/>
                      <a:round/>
                      <a:headEnd type="none" w="med" len="med"/>
                      <a:tailEnd type="none" w="med" len="med"/>
                    </a:lnR>
                    <a:lnT w="6350" cap="flat" cmpd="sng" algn="ctr">
                      <a:solidFill>
                        <a:srgbClr val="DFE6EE"/>
                      </a:solidFill>
                      <a:prstDash val="solid"/>
                      <a:round/>
                      <a:headEnd type="none" w="med" len="med"/>
                      <a:tailEnd type="none" w="med" len="med"/>
                    </a:lnT>
                    <a:lnB w="6350" cap="flat" cmpd="sng" algn="ctr">
                      <a:solidFill>
                        <a:srgbClr val="DFE6EE"/>
                      </a:solidFill>
                      <a:prstDash val="solid"/>
                      <a:round/>
                      <a:headEnd type="none" w="med" len="med"/>
                      <a:tailEnd type="none" w="med" len="med"/>
                    </a:lnB>
                    <a:solidFill>
                      <a:srgbClr val="FFFFFF"/>
                    </a:solidFill>
                  </a:tcPr>
                </a:tc>
              </a:tr>
              <a:tr h="420624">
                <a:tc>
                  <a:txBody>
                    <a:bodyPr/>
                    <a:lstStyle/>
                    <a:p>
                      <a:pPr indent="0" marL="0">
                        <a:buNone/>
                      </a:pPr>
                      <a:r>
                        <a:rPr lang="en-US" sz="1020" dirty="0">
                          <a:solidFill>
                            <a:srgbClr val="1F2A38"/>
                          </a:solidFill>
                          <a:latin typeface="Calibri" pitchFamily="34" charset="0"/>
                          <a:ea typeface="Calibri" pitchFamily="34" charset="-122"/>
                          <a:cs typeface="Calibri" pitchFamily="34" charset="-120"/>
                        </a:rPr>
                        <a:t>Current RDBMS constraints</a:t>
                      </a:r>
                      <a:endParaRPr lang="en-US" sz="1020" dirty="0">
                        <a:latin typeface="Calibri" charset="0"/>
                        <a:ea typeface="Calibri" charset="0"/>
                        <a:cs typeface="Calibri" charset="0"/>
                      </a:endParaRPr>
                    </a:p>
                  </a:txBody>
                  <a:tcPr marL="54864" marR="54864" marT="54864" marB="54864" anchor="ctr">
                    <a:lnL w="6350" cap="flat" cmpd="sng" algn="ctr">
                      <a:solidFill>
                        <a:srgbClr val="DFE6EE"/>
                      </a:solidFill>
                      <a:prstDash val="solid"/>
                      <a:round/>
                      <a:headEnd type="none" w="med" len="med"/>
                      <a:tailEnd type="none" w="med" len="med"/>
                    </a:lnL>
                    <a:lnR w="6350" cap="flat" cmpd="sng" algn="ctr">
                      <a:solidFill>
                        <a:srgbClr val="DFE6EE"/>
                      </a:solidFill>
                      <a:prstDash val="solid"/>
                      <a:round/>
                      <a:headEnd type="none" w="med" len="med"/>
                      <a:tailEnd type="none" w="med" len="med"/>
                    </a:lnR>
                    <a:lnT w="6350" cap="flat" cmpd="sng" algn="ctr">
                      <a:solidFill>
                        <a:srgbClr val="DFE6EE"/>
                      </a:solidFill>
                      <a:prstDash val="solid"/>
                      <a:round/>
                      <a:headEnd type="none" w="med" len="med"/>
                      <a:tailEnd type="none" w="med" len="med"/>
                    </a:lnT>
                    <a:lnB w="6350" cap="flat" cmpd="sng" algn="ctr">
                      <a:solidFill>
                        <a:srgbClr val="DFE6EE"/>
                      </a:solidFill>
                      <a:prstDash val="solid"/>
                      <a:round/>
                      <a:headEnd type="none" w="med" len="med"/>
                      <a:tailEnd type="none" w="med" len="med"/>
                    </a:lnB>
                    <a:solidFill>
                      <a:srgbClr val="F3F6FA"/>
                    </a:solidFill>
                  </a:tcPr>
                </a:tc>
                <a:tc>
                  <a:txBody>
                    <a:bodyPr/>
                    <a:lstStyle/>
                    <a:p>
                      <a:pPr indent="0" marL="0">
                        <a:buNone/>
                      </a:pPr>
                      <a:r>
                        <a:rPr lang="en-US" sz="1020" b="1" dirty="0">
                          <a:solidFill>
                            <a:srgbClr val="16263F"/>
                          </a:solidFill>
                          <a:latin typeface="Calibri" pitchFamily="34" charset="0"/>
                          <a:ea typeface="Calibri" pitchFamily="34" charset="-122"/>
                          <a:cs typeface="Calibri" pitchFamily="34" charset="-120"/>
                        </a:rPr>
                        <a:t>Polyglot persistence by workload — strangler, no big bang</a:t>
                      </a:r>
                      <a:endParaRPr lang="en-US" sz="1020" dirty="0">
                        <a:latin typeface="Calibri" charset="0"/>
                        <a:ea typeface="Calibri" charset="0"/>
                        <a:cs typeface="Calibri" charset="0"/>
                      </a:endParaRPr>
                    </a:p>
                  </a:txBody>
                  <a:tcPr marL="54864" marR="54864" marT="54864" marB="54864" anchor="ctr">
                    <a:lnL w="6350" cap="flat" cmpd="sng" algn="ctr">
                      <a:solidFill>
                        <a:srgbClr val="DFE6EE"/>
                      </a:solidFill>
                      <a:prstDash val="solid"/>
                      <a:round/>
                      <a:headEnd type="none" w="med" len="med"/>
                      <a:tailEnd type="none" w="med" len="med"/>
                    </a:lnL>
                    <a:lnR w="6350" cap="flat" cmpd="sng" algn="ctr">
                      <a:solidFill>
                        <a:srgbClr val="DFE6EE"/>
                      </a:solidFill>
                      <a:prstDash val="solid"/>
                      <a:round/>
                      <a:headEnd type="none" w="med" len="med"/>
                      <a:tailEnd type="none" w="med" len="med"/>
                    </a:lnR>
                    <a:lnT w="6350" cap="flat" cmpd="sng" algn="ctr">
                      <a:solidFill>
                        <a:srgbClr val="DFE6EE"/>
                      </a:solidFill>
                      <a:prstDash val="solid"/>
                      <a:round/>
                      <a:headEnd type="none" w="med" len="med"/>
                      <a:tailEnd type="none" w="med" len="med"/>
                    </a:lnT>
                    <a:lnB w="6350" cap="flat" cmpd="sng" algn="ctr">
                      <a:solidFill>
                        <a:srgbClr val="DFE6EE"/>
                      </a:solidFill>
                      <a:prstDash val="solid"/>
                      <a:round/>
                      <a:headEnd type="none" w="med" len="med"/>
                      <a:tailEnd type="none" w="med" len="med"/>
                    </a:lnB>
                    <a:solidFill>
                      <a:srgbClr val="F3F6FA"/>
                    </a:solidFill>
                  </a:tcPr>
                </a:tc>
                <a:tc>
                  <a:txBody>
                    <a:bodyPr/>
                    <a:lstStyle/>
                    <a:p>
                      <a:pPr indent="0" marL="0">
                        <a:buNone/>
                      </a:pPr>
                      <a:r>
                        <a:rPr lang="en-US" sz="1020" dirty="0">
                          <a:solidFill>
                            <a:srgbClr val="1F2A38"/>
                          </a:solidFill>
                          <a:latin typeface="Calibri" pitchFamily="34" charset="0"/>
                          <a:ea typeface="Calibri" pitchFamily="34" charset="-122"/>
                          <a:cs typeface="Calibri" pitchFamily="34" charset="-120"/>
                        </a:rPr>
                        <a:t>ADR with graduation thresholds · parity gates</a:t>
                      </a:r>
                      <a:endParaRPr lang="en-US" sz="1020" dirty="0">
                        <a:latin typeface="Calibri" charset="0"/>
                        <a:ea typeface="Calibri" charset="0"/>
                        <a:cs typeface="Calibri" charset="0"/>
                      </a:endParaRPr>
                    </a:p>
                  </a:txBody>
                  <a:tcPr marL="54864" marR="54864" marT="54864" marB="54864" anchor="ctr">
                    <a:lnL w="6350" cap="flat" cmpd="sng" algn="ctr">
                      <a:solidFill>
                        <a:srgbClr val="DFE6EE"/>
                      </a:solidFill>
                      <a:prstDash val="solid"/>
                      <a:round/>
                      <a:headEnd type="none" w="med" len="med"/>
                      <a:tailEnd type="none" w="med" len="med"/>
                    </a:lnL>
                    <a:lnR w="6350" cap="flat" cmpd="sng" algn="ctr">
                      <a:solidFill>
                        <a:srgbClr val="DFE6EE"/>
                      </a:solidFill>
                      <a:prstDash val="solid"/>
                      <a:round/>
                      <a:headEnd type="none" w="med" len="med"/>
                      <a:tailEnd type="none" w="med" len="med"/>
                    </a:lnR>
                    <a:lnT w="6350" cap="flat" cmpd="sng" algn="ctr">
                      <a:solidFill>
                        <a:srgbClr val="DFE6EE"/>
                      </a:solidFill>
                      <a:prstDash val="solid"/>
                      <a:round/>
                      <a:headEnd type="none" w="med" len="med"/>
                      <a:tailEnd type="none" w="med" len="med"/>
                    </a:lnT>
                    <a:lnB w="6350" cap="flat" cmpd="sng" algn="ctr">
                      <a:solidFill>
                        <a:srgbClr val="DFE6EE"/>
                      </a:solidFill>
                      <a:prstDash val="solid"/>
                      <a:round/>
                      <a:headEnd type="none" w="med" len="med"/>
                      <a:tailEnd type="none" w="med" len="med"/>
                    </a:lnB>
                    <a:solidFill>
                      <a:srgbClr val="F3F6FA"/>
                    </a:solidFill>
                  </a:tcPr>
                </a:tc>
              </a:tr>
              <a:tr h="420624">
                <a:tc>
                  <a:txBody>
                    <a:bodyPr/>
                    <a:lstStyle/>
                    <a:p>
                      <a:pPr indent="0" marL="0">
                        <a:buNone/>
                      </a:pPr>
                      <a:r>
                        <a:rPr lang="en-US" sz="1020" dirty="0">
                          <a:solidFill>
                            <a:srgbClr val="1F2A38"/>
                          </a:solidFill>
                          <a:latin typeface="Calibri" pitchFamily="34" charset="0"/>
                          <a:ea typeface="Calibri" pitchFamily="34" charset="-122"/>
                          <a:cs typeface="Calibri" pitchFamily="34" charset="-120"/>
                        </a:rPr>
                        <a:t>Suspected Unity limitations</a:t>
                      </a:r>
                      <a:endParaRPr lang="en-US" sz="1020" dirty="0">
                        <a:latin typeface="Calibri" charset="0"/>
                        <a:ea typeface="Calibri" charset="0"/>
                        <a:cs typeface="Calibri" charset="0"/>
                      </a:endParaRPr>
                    </a:p>
                  </a:txBody>
                  <a:tcPr marL="54864" marR="54864" marT="54864" marB="54864" anchor="ctr">
                    <a:lnL w="6350" cap="flat" cmpd="sng" algn="ctr">
                      <a:solidFill>
                        <a:srgbClr val="DFE6EE"/>
                      </a:solidFill>
                      <a:prstDash val="solid"/>
                      <a:round/>
                      <a:headEnd type="none" w="med" len="med"/>
                      <a:tailEnd type="none" w="med" len="med"/>
                    </a:lnL>
                    <a:lnR w="6350" cap="flat" cmpd="sng" algn="ctr">
                      <a:solidFill>
                        <a:srgbClr val="DFE6EE"/>
                      </a:solidFill>
                      <a:prstDash val="solid"/>
                      <a:round/>
                      <a:headEnd type="none" w="med" len="med"/>
                      <a:tailEnd type="none" w="med" len="med"/>
                    </a:lnR>
                    <a:lnT w="6350" cap="flat" cmpd="sng" algn="ctr">
                      <a:solidFill>
                        <a:srgbClr val="DFE6EE"/>
                      </a:solidFill>
                      <a:prstDash val="solid"/>
                      <a:round/>
                      <a:headEnd type="none" w="med" len="med"/>
                      <a:tailEnd type="none" w="med" len="med"/>
                    </a:lnT>
                    <a:lnB w="6350" cap="flat" cmpd="sng" algn="ctr">
                      <a:solidFill>
                        <a:srgbClr val="DFE6EE"/>
                      </a:solidFill>
                      <a:prstDash val="solid"/>
                      <a:round/>
                      <a:headEnd type="none" w="med" len="med"/>
                      <a:tailEnd type="none" w="med" len="med"/>
                    </a:lnB>
                    <a:solidFill>
                      <a:srgbClr val="FFFFFF"/>
                    </a:solidFill>
                  </a:tcPr>
                </a:tc>
                <a:tc>
                  <a:txBody>
                    <a:bodyPr/>
                    <a:lstStyle/>
                    <a:p>
                      <a:pPr indent="0" marL="0">
                        <a:buNone/>
                      </a:pPr>
                      <a:r>
                        <a:rPr lang="en-US" sz="1020" b="1" dirty="0">
                          <a:solidFill>
                            <a:srgbClr val="16263F"/>
                          </a:solidFill>
                          <a:latin typeface="Calibri" pitchFamily="34" charset="0"/>
                          <a:ea typeface="Calibri" pitchFamily="34" charset="-122"/>
                          <a:cs typeface="Calibri" pitchFamily="34" charset="-120"/>
                        </a:rPr>
                        <a:t>“Thin Unity” — decouple state, add web track, keep XR edge</a:t>
                      </a:r>
                      <a:endParaRPr lang="en-US" sz="1020" dirty="0">
                        <a:latin typeface="Calibri" charset="0"/>
                        <a:ea typeface="Calibri" charset="0"/>
                        <a:cs typeface="Calibri" charset="0"/>
                      </a:endParaRPr>
                    </a:p>
                  </a:txBody>
                  <a:tcPr marL="54864" marR="54864" marT="54864" marB="54864" anchor="ctr">
                    <a:lnL w="6350" cap="flat" cmpd="sng" algn="ctr">
                      <a:solidFill>
                        <a:srgbClr val="DFE6EE"/>
                      </a:solidFill>
                      <a:prstDash val="solid"/>
                      <a:round/>
                      <a:headEnd type="none" w="med" len="med"/>
                      <a:tailEnd type="none" w="med" len="med"/>
                    </a:lnL>
                    <a:lnR w="6350" cap="flat" cmpd="sng" algn="ctr">
                      <a:solidFill>
                        <a:srgbClr val="DFE6EE"/>
                      </a:solidFill>
                      <a:prstDash val="solid"/>
                      <a:round/>
                      <a:headEnd type="none" w="med" len="med"/>
                      <a:tailEnd type="none" w="med" len="med"/>
                    </a:lnR>
                    <a:lnT w="6350" cap="flat" cmpd="sng" algn="ctr">
                      <a:solidFill>
                        <a:srgbClr val="DFE6EE"/>
                      </a:solidFill>
                      <a:prstDash val="solid"/>
                      <a:round/>
                      <a:headEnd type="none" w="med" len="med"/>
                      <a:tailEnd type="none" w="med" len="med"/>
                    </a:lnT>
                    <a:lnB w="6350" cap="flat" cmpd="sng" algn="ctr">
                      <a:solidFill>
                        <a:srgbClr val="DFE6EE"/>
                      </a:solidFill>
                      <a:prstDash val="solid"/>
                      <a:round/>
                      <a:headEnd type="none" w="med" len="med"/>
                      <a:tailEnd type="none" w="med" len="med"/>
                    </a:lnB>
                    <a:solidFill>
                      <a:srgbClr val="FFFFFF"/>
                    </a:solidFill>
                  </a:tcPr>
                </a:tc>
                <a:tc>
                  <a:txBody>
                    <a:bodyPr/>
                    <a:lstStyle/>
                    <a:p>
                      <a:pPr indent="0" marL="0">
                        <a:buNone/>
                      </a:pPr>
                      <a:r>
                        <a:rPr lang="en-US" sz="1020" dirty="0">
                          <a:solidFill>
                            <a:srgbClr val="1F2A38"/>
                          </a:solidFill>
                          <a:latin typeface="Calibri" pitchFamily="34" charset="0"/>
                          <a:ea typeface="Calibri" pitchFamily="34" charset="-122"/>
                          <a:cs typeface="Calibri" pitchFamily="34" charset="-120"/>
                        </a:rPr>
                        <a:t>4-week spike scoped, pass/fail gates agreed</a:t>
                      </a:r>
                      <a:endParaRPr lang="en-US" sz="1020" dirty="0">
                        <a:latin typeface="Calibri" charset="0"/>
                        <a:ea typeface="Calibri" charset="0"/>
                        <a:cs typeface="Calibri" charset="0"/>
                      </a:endParaRPr>
                    </a:p>
                  </a:txBody>
                  <a:tcPr marL="54864" marR="54864" marT="54864" marB="54864" anchor="ctr">
                    <a:lnL w="6350" cap="flat" cmpd="sng" algn="ctr">
                      <a:solidFill>
                        <a:srgbClr val="DFE6EE"/>
                      </a:solidFill>
                      <a:prstDash val="solid"/>
                      <a:round/>
                      <a:headEnd type="none" w="med" len="med"/>
                      <a:tailEnd type="none" w="med" len="med"/>
                    </a:lnL>
                    <a:lnR w="6350" cap="flat" cmpd="sng" algn="ctr">
                      <a:solidFill>
                        <a:srgbClr val="DFE6EE"/>
                      </a:solidFill>
                      <a:prstDash val="solid"/>
                      <a:round/>
                      <a:headEnd type="none" w="med" len="med"/>
                      <a:tailEnd type="none" w="med" len="med"/>
                    </a:lnR>
                    <a:lnT w="6350" cap="flat" cmpd="sng" algn="ctr">
                      <a:solidFill>
                        <a:srgbClr val="DFE6EE"/>
                      </a:solidFill>
                      <a:prstDash val="solid"/>
                      <a:round/>
                      <a:headEnd type="none" w="med" len="med"/>
                      <a:tailEnd type="none" w="med" len="med"/>
                    </a:lnT>
                    <a:lnB w="6350" cap="flat" cmpd="sng" algn="ctr">
                      <a:solidFill>
                        <a:srgbClr val="DFE6EE"/>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92608"/>
            <a:ext cx="8229600" cy="274320"/>
          </a:xfrm>
          <a:prstGeom prst="rect">
            <a:avLst/>
          </a:prstGeom>
          <a:noFill/>
          <a:ln/>
        </p:spPr>
        <p:txBody>
          <a:bodyPr wrap="square" lIns="0" tIns="0" rIns="0" bIns="0" rtlCol="0" anchor="ctr"/>
          <a:lstStyle/>
          <a:p>
            <a:pPr indent="0" marL="0">
              <a:buNone/>
            </a:pPr>
            <a:r>
              <a:rPr lang="en-US" sz="1050" b="1" spc="200" kern="0" dirty="0">
                <a:solidFill>
                  <a:srgbClr val="C78F0D"/>
                </a:solidFill>
                <a:latin typeface="Calibri" pitchFamily="34" charset="0"/>
                <a:ea typeface="Calibri" pitchFamily="34" charset="-122"/>
                <a:cs typeface="Calibri" pitchFamily="34" charset="-120"/>
              </a:rPr>
              <a:t>TRACK 1 · DEEP DIVE</a:t>
            </a:r>
            <a:endParaRPr lang="en-US" sz="1050" dirty="0"/>
          </a:p>
        </p:txBody>
      </p:sp>
      <p:sp>
        <p:nvSpPr>
          <p:cNvPr id="3" name="Text 1"/>
          <p:cNvSpPr/>
          <p:nvPr/>
        </p:nvSpPr>
        <p:spPr>
          <a:xfrm>
            <a:off x="457200" y="530352"/>
            <a:ext cx="8229600" cy="566928"/>
          </a:xfrm>
          <a:prstGeom prst="rect">
            <a:avLst/>
          </a:prstGeom>
          <a:noFill/>
          <a:ln/>
        </p:spPr>
        <p:txBody>
          <a:bodyPr wrap="square" lIns="0" tIns="0" rIns="0" bIns="0" rtlCol="0" anchor="ctr"/>
          <a:lstStyle/>
          <a:p>
            <a:pPr indent="0" marL="0">
              <a:buNone/>
            </a:pPr>
            <a:r>
              <a:rPr lang="en-US" sz="2800" b="1" dirty="0">
                <a:solidFill>
                  <a:srgbClr val="16263F"/>
                </a:solidFill>
                <a:latin typeface="Cambria" pitchFamily="34" charset="0"/>
                <a:ea typeface="Cambria" pitchFamily="34" charset="-122"/>
                <a:cs typeface="Cambria" pitchFamily="34" charset="-120"/>
              </a:rPr>
              <a:t>The Context Spine — making the promise real</a:t>
            </a:r>
            <a:endParaRPr lang="en-US" sz="2800" dirty="0"/>
          </a:p>
        </p:txBody>
      </p:sp>
      <p:sp>
        <p:nvSpPr>
          <p:cNvPr id="4" name="Shape 2"/>
          <p:cNvSpPr/>
          <p:nvPr/>
        </p:nvSpPr>
        <p:spPr>
          <a:xfrm>
            <a:off x="457200" y="1298448"/>
            <a:ext cx="2542032" cy="1828800"/>
          </a:xfrm>
          <a:prstGeom prst="roundRect">
            <a:avLst>
              <a:gd name="adj" fmla="val 3000"/>
            </a:avLst>
          </a:prstGeom>
          <a:solidFill>
            <a:srgbClr val="F3F6FA"/>
          </a:solidFill>
          <a:ln/>
          <a:effectLst>
            <a:outerShdw sx="100000" sy="100000" kx="0" ky="0" algn="bl" rotWithShape="0" blurRad="88900" dist="25400" dir="2700000">
              <a:srgbClr val="000000">
                <a:alpha val="14000"/>
              </a:srgbClr>
            </a:outerShdw>
          </a:effectLst>
        </p:spPr>
      </p:sp>
      <p:sp>
        <p:nvSpPr>
          <p:cNvPr id="5" name="Shape 3"/>
          <p:cNvSpPr/>
          <p:nvPr/>
        </p:nvSpPr>
        <p:spPr>
          <a:xfrm>
            <a:off x="640080" y="1463040"/>
            <a:ext cx="420624" cy="420624"/>
          </a:xfrm>
          <a:prstGeom prst="ellipse">
            <a:avLst/>
          </a:prstGeom>
          <a:solidFill>
            <a:srgbClr val="16263F"/>
          </a:solidFill>
          <a:ln/>
        </p:spPr>
      </p:sp>
      <p:pic>
        <p:nvPicPr>
          <p:cNvPr id="6" name="Image 0" descr="preencoded.png">    </p:cNvPr>
          <p:cNvPicPr>
            <a:picLocks noChangeAspect="1"/>
          </p:cNvPicPr>
          <p:nvPr/>
        </p:nvPicPr>
        <p:blipFill>
          <a:blip r:embed="rId1"/>
          <a:stretch>
            <a:fillRect/>
          </a:stretch>
        </p:blipFill>
        <p:spPr>
          <a:xfrm>
            <a:off x="749442" y="1572402"/>
            <a:ext cx="201900" cy="201900"/>
          </a:xfrm>
          <a:prstGeom prst="rect">
            <a:avLst/>
          </a:prstGeom>
        </p:spPr>
      </p:pic>
      <p:sp>
        <p:nvSpPr>
          <p:cNvPr id="7" name="Text 4"/>
          <p:cNvSpPr/>
          <p:nvPr/>
        </p:nvSpPr>
        <p:spPr>
          <a:xfrm>
            <a:off x="1152144" y="1499616"/>
            <a:ext cx="1783080" cy="347472"/>
          </a:xfrm>
          <a:prstGeom prst="rect">
            <a:avLst/>
          </a:prstGeom>
          <a:noFill/>
          <a:ln/>
        </p:spPr>
        <p:txBody>
          <a:bodyPr wrap="square" lIns="0" tIns="0" rIns="0" bIns="0" rtlCol="0" anchor="ctr"/>
          <a:lstStyle/>
          <a:p>
            <a:pPr indent="0" marL="0">
              <a:buNone/>
            </a:pPr>
            <a:r>
              <a:rPr lang="en-US" sz="1300" b="1" dirty="0">
                <a:solidFill>
                  <a:srgbClr val="16263F"/>
                </a:solidFill>
                <a:latin typeface="Calibri" pitchFamily="34" charset="0"/>
                <a:ea typeface="Calibri" pitchFamily="34" charset="-122"/>
                <a:cs typeface="Calibri" pitchFamily="34" charset="-120"/>
              </a:rPr>
              <a:t>A · GROUND</a:t>
            </a:r>
            <a:endParaRPr lang="en-US" sz="1300" dirty="0"/>
          </a:p>
        </p:txBody>
      </p:sp>
      <p:sp>
        <p:nvSpPr>
          <p:cNvPr id="8" name="Text 5"/>
          <p:cNvSpPr/>
          <p:nvPr/>
        </p:nvSpPr>
        <p:spPr>
          <a:xfrm>
            <a:off x="658368" y="1956816"/>
            <a:ext cx="2157984" cy="1097280"/>
          </a:xfrm>
          <a:prstGeom prst="rect">
            <a:avLst/>
          </a:prstGeom>
          <a:noFill/>
          <a:ln/>
        </p:spPr>
        <p:txBody>
          <a:bodyPr wrap="square" lIns="0" tIns="0" rIns="0" bIns="0" rtlCol="0" anchor="ctr"/>
          <a:lstStyle/>
          <a:p>
            <a:pPr indent="0" marL="0">
              <a:buNone/>
            </a:pPr>
            <a:r>
              <a:rPr lang="en-US" sz="1030" dirty="0">
                <a:solidFill>
                  <a:srgbClr val="1F2A38"/>
                </a:solidFill>
                <a:latin typeface="Calibri" pitchFamily="34" charset="0"/>
                <a:ea typeface="Calibri" pitchFamily="34" charset="-122"/>
                <a:cs typeface="Calibri" pitchFamily="34" charset="-120"/>
              </a:rPr>
              <a:t>Unify standards (ASP/SPA), catalog, and room/department hierarchies into a knowledge graph + vector recall. Retrieval is GraphRAG: hard facts first, semantics second.</a:t>
            </a:r>
            <a:endParaRPr lang="en-US" sz="1030" dirty="0"/>
          </a:p>
        </p:txBody>
      </p:sp>
      <p:pic>
        <p:nvPicPr>
          <p:cNvPr id="9" name="Image 1" descr="preencoded.png">    </p:cNvPr>
          <p:cNvPicPr>
            <a:picLocks noChangeAspect="1"/>
          </p:cNvPicPr>
          <p:nvPr/>
        </p:nvPicPr>
        <p:blipFill>
          <a:blip r:embed="rId2"/>
          <a:stretch>
            <a:fillRect/>
          </a:stretch>
        </p:blipFill>
        <p:spPr>
          <a:xfrm>
            <a:off x="3054096" y="2084832"/>
            <a:ext cx="274320" cy="274320"/>
          </a:xfrm>
          <a:prstGeom prst="rect">
            <a:avLst/>
          </a:prstGeom>
        </p:spPr>
      </p:pic>
      <p:sp>
        <p:nvSpPr>
          <p:cNvPr id="10" name="Shape 6"/>
          <p:cNvSpPr/>
          <p:nvPr/>
        </p:nvSpPr>
        <p:spPr>
          <a:xfrm>
            <a:off x="3383280" y="1298448"/>
            <a:ext cx="2542032" cy="1828800"/>
          </a:xfrm>
          <a:prstGeom prst="roundRect">
            <a:avLst>
              <a:gd name="adj" fmla="val 3000"/>
            </a:avLst>
          </a:prstGeom>
          <a:solidFill>
            <a:srgbClr val="F3F6FA"/>
          </a:solidFill>
          <a:ln/>
          <a:effectLst>
            <a:outerShdw sx="100000" sy="100000" kx="0" ky="0" algn="bl" rotWithShape="0" blurRad="88900" dist="25400" dir="2700000">
              <a:srgbClr val="000000">
                <a:alpha val="14000"/>
              </a:srgbClr>
            </a:outerShdw>
          </a:effectLst>
        </p:spPr>
      </p:sp>
      <p:sp>
        <p:nvSpPr>
          <p:cNvPr id="11" name="Shape 7"/>
          <p:cNvSpPr/>
          <p:nvPr/>
        </p:nvSpPr>
        <p:spPr>
          <a:xfrm>
            <a:off x="3566160" y="1463040"/>
            <a:ext cx="420624" cy="420624"/>
          </a:xfrm>
          <a:prstGeom prst="ellipse">
            <a:avLst/>
          </a:prstGeom>
          <a:solidFill>
            <a:srgbClr val="16263F"/>
          </a:solidFill>
          <a:ln/>
        </p:spPr>
      </p:sp>
      <p:pic>
        <p:nvPicPr>
          <p:cNvPr id="12" name="Image 2" descr="preencoded.png">    </p:cNvPr>
          <p:cNvPicPr>
            <a:picLocks noChangeAspect="1"/>
          </p:cNvPicPr>
          <p:nvPr/>
        </p:nvPicPr>
        <p:blipFill>
          <a:blip r:embed="rId3"/>
          <a:stretch>
            <a:fillRect/>
          </a:stretch>
        </p:blipFill>
        <p:spPr>
          <a:xfrm>
            <a:off x="3675522" y="1572402"/>
            <a:ext cx="201900" cy="201900"/>
          </a:xfrm>
          <a:prstGeom prst="rect">
            <a:avLst/>
          </a:prstGeom>
        </p:spPr>
      </p:pic>
      <p:sp>
        <p:nvSpPr>
          <p:cNvPr id="13" name="Text 8"/>
          <p:cNvSpPr/>
          <p:nvPr/>
        </p:nvSpPr>
        <p:spPr>
          <a:xfrm>
            <a:off x="4078224" y="1499616"/>
            <a:ext cx="1783080" cy="347472"/>
          </a:xfrm>
          <a:prstGeom prst="rect">
            <a:avLst/>
          </a:prstGeom>
          <a:noFill/>
          <a:ln/>
        </p:spPr>
        <p:txBody>
          <a:bodyPr wrap="square" lIns="0" tIns="0" rIns="0" bIns="0" rtlCol="0" anchor="ctr"/>
          <a:lstStyle/>
          <a:p>
            <a:pPr indent="0" marL="0">
              <a:buNone/>
            </a:pPr>
            <a:r>
              <a:rPr lang="en-US" sz="1300" b="1" dirty="0">
                <a:solidFill>
                  <a:srgbClr val="16263F"/>
                </a:solidFill>
                <a:latin typeface="Calibri" pitchFamily="34" charset="0"/>
                <a:ea typeface="Calibri" pitchFamily="34" charset="-122"/>
                <a:cs typeface="Calibri" pitchFamily="34" charset="-120"/>
              </a:rPr>
              <a:t>B · ASSIST</a:t>
            </a:r>
            <a:endParaRPr lang="en-US" sz="1300" dirty="0"/>
          </a:p>
        </p:txBody>
      </p:sp>
      <p:sp>
        <p:nvSpPr>
          <p:cNvPr id="14" name="Text 9"/>
          <p:cNvSpPr/>
          <p:nvPr/>
        </p:nvSpPr>
        <p:spPr>
          <a:xfrm>
            <a:off x="3584448" y="1956816"/>
            <a:ext cx="2157984" cy="1097280"/>
          </a:xfrm>
          <a:prstGeom prst="rect">
            <a:avLst/>
          </a:prstGeom>
          <a:noFill/>
          <a:ln/>
        </p:spPr>
        <p:txBody>
          <a:bodyPr wrap="square" lIns="0" tIns="0" rIns="0" bIns="0" rtlCol="0" anchor="ctr"/>
          <a:lstStyle/>
          <a:p>
            <a:pPr indent="0" marL="0">
              <a:buNone/>
            </a:pPr>
            <a:r>
              <a:rPr lang="en-US" sz="1030" dirty="0">
                <a:solidFill>
                  <a:srgbClr val="1F2A38"/>
                </a:solidFill>
                <a:latin typeface="Calibri" pitchFamily="34" charset="0"/>
                <a:ea typeface="Calibri" pitchFamily="34" charset="-122"/>
                <a:cs typeface="Calibri" pitchFamily="34" charset="-120"/>
              </a:rPr>
              <a:t>Grounded copilots in-product: compliance Q&amp;A with rule citations, semantic catalog search, layout suggestions constrained by the rules engine.</a:t>
            </a:r>
            <a:endParaRPr lang="en-US" sz="1030" dirty="0"/>
          </a:p>
        </p:txBody>
      </p:sp>
      <p:pic>
        <p:nvPicPr>
          <p:cNvPr id="15" name="Image 3" descr="preencoded.png">    </p:cNvPr>
          <p:cNvPicPr>
            <a:picLocks noChangeAspect="1"/>
          </p:cNvPicPr>
          <p:nvPr/>
        </p:nvPicPr>
        <p:blipFill>
          <a:blip r:embed="rId4"/>
          <a:stretch>
            <a:fillRect/>
          </a:stretch>
        </p:blipFill>
        <p:spPr>
          <a:xfrm>
            <a:off x="5980176" y="2084832"/>
            <a:ext cx="274320" cy="274320"/>
          </a:xfrm>
          <a:prstGeom prst="rect">
            <a:avLst/>
          </a:prstGeom>
        </p:spPr>
      </p:pic>
      <p:sp>
        <p:nvSpPr>
          <p:cNvPr id="16" name="Shape 10"/>
          <p:cNvSpPr/>
          <p:nvPr/>
        </p:nvSpPr>
        <p:spPr>
          <a:xfrm>
            <a:off x="6309360" y="1298448"/>
            <a:ext cx="2542032" cy="1828800"/>
          </a:xfrm>
          <a:prstGeom prst="roundRect">
            <a:avLst>
              <a:gd name="adj" fmla="val 3000"/>
            </a:avLst>
          </a:prstGeom>
          <a:solidFill>
            <a:srgbClr val="F3F6FA"/>
          </a:solidFill>
          <a:ln/>
          <a:effectLst>
            <a:outerShdw sx="100000" sy="100000" kx="0" ky="0" algn="bl" rotWithShape="0" blurRad="88900" dist="25400" dir="2700000">
              <a:srgbClr val="000000">
                <a:alpha val="14000"/>
              </a:srgbClr>
            </a:outerShdw>
          </a:effectLst>
        </p:spPr>
      </p:sp>
      <p:sp>
        <p:nvSpPr>
          <p:cNvPr id="17" name="Shape 11"/>
          <p:cNvSpPr/>
          <p:nvPr/>
        </p:nvSpPr>
        <p:spPr>
          <a:xfrm>
            <a:off x="6492240" y="1463040"/>
            <a:ext cx="420624" cy="420624"/>
          </a:xfrm>
          <a:prstGeom prst="ellipse">
            <a:avLst/>
          </a:prstGeom>
          <a:solidFill>
            <a:srgbClr val="16263F"/>
          </a:solidFill>
          <a:ln/>
        </p:spPr>
      </p:sp>
      <p:pic>
        <p:nvPicPr>
          <p:cNvPr id="18" name="Image 4" descr="preencoded.png">    </p:cNvPr>
          <p:cNvPicPr>
            <a:picLocks noChangeAspect="1"/>
          </p:cNvPicPr>
          <p:nvPr/>
        </p:nvPicPr>
        <p:blipFill>
          <a:blip r:embed="rId5"/>
          <a:stretch>
            <a:fillRect/>
          </a:stretch>
        </p:blipFill>
        <p:spPr>
          <a:xfrm>
            <a:off x="6601602" y="1572402"/>
            <a:ext cx="201900" cy="201900"/>
          </a:xfrm>
          <a:prstGeom prst="rect">
            <a:avLst/>
          </a:prstGeom>
        </p:spPr>
      </p:pic>
      <p:sp>
        <p:nvSpPr>
          <p:cNvPr id="19" name="Text 12"/>
          <p:cNvSpPr/>
          <p:nvPr/>
        </p:nvSpPr>
        <p:spPr>
          <a:xfrm>
            <a:off x="7004304" y="1499616"/>
            <a:ext cx="1783080" cy="347472"/>
          </a:xfrm>
          <a:prstGeom prst="rect">
            <a:avLst/>
          </a:prstGeom>
          <a:noFill/>
          <a:ln/>
        </p:spPr>
        <p:txBody>
          <a:bodyPr wrap="square" lIns="0" tIns="0" rIns="0" bIns="0" rtlCol="0" anchor="ctr"/>
          <a:lstStyle/>
          <a:p>
            <a:pPr indent="0" marL="0">
              <a:buNone/>
            </a:pPr>
            <a:r>
              <a:rPr lang="en-US" sz="1300" b="1" dirty="0">
                <a:solidFill>
                  <a:srgbClr val="16263F"/>
                </a:solidFill>
                <a:latin typeface="Calibri" pitchFamily="34" charset="0"/>
                <a:ea typeface="Calibri" pitchFamily="34" charset="-122"/>
                <a:cs typeface="Calibri" pitchFamily="34" charset="-120"/>
              </a:rPr>
              <a:t>C · COMPOUND</a:t>
            </a:r>
            <a:endParaRPr lang="en-US" sz="1300" dirty="0"/>
          </a:p>
        </p:txBody>
      </p:sp>
      <p:sp>
        <p:nvSpPr>
          <p:cNvPr id="20" name="Text 13"/>
          <p:cNvSpPr/>
          <p:nvPr/>
        </p:nvSpPr>
        <p:spPr>
          <a:xfrm>
            <a:off x="6510528" y="1956816"/>
            <a:ext cx="2157984" cy="1097280"/>
          </a:xfrm>
          <a:prstGeom prst="rect">
            <a:avLst/>
          </a:prstGeom>
          <a:noFill/>
          <a:ln/>
        </p:spPr>
        <p:txBody>
          <a:bodyPr wrap="square" lIns="0" tIns="0" rIns="0" bIns="0" rtlCol="0" anchor="ctr"/>
          <a:lstStyle/>
          <a:p>
            <a:pPr indent="0" marL="0">
              <a:buNone/>
            </a:pPr>
            <a:r>
              <a:rPr lang="en-US" sz="1030" dirty="0">
                <a:solidFill>
                  <a:srgbClr val="1F2A38"/>
                </a:solidFill>
                <a:latin typeface="Calibri" pitchFamily="34" charset="0"/>
                <a:ea typeface="Calibri" pitchFamily="34" charset="-122"/>
                <a:cs typeface="Calibri" pitchFamily="34" charset="-120"/>
              </a:rPr>
              <a:t>Corrections captured as structured deltas from day one. Adapter training is data-gated — it begins only once enough validated deltas exist, behind the eval harness.</a:t>
            </a:r>
            <a:endParaRPr lang="en-US" sz="1030" dirty="0"/>
          </a:p>
        </p:txBody>
      </p:sp>
      <p:sp>
        <p:nvSpPr>
          <p:cNvPr id="21" name="Text 14"/>
          <p:cNvSpPr/>
          <p:nvPr/>
        </p:nvSpPr>
        <p:spPr>
          <a:xfrm>
            <a:off x="457200" y="3310128"/>
            <a:ext cx="8229600" cy="256032"/>
          </a:xfrm>
          <a:prstGeom prst="rect">
            <a:avLst/>
          </a:prstGeom>
          <a:noFill/>
          <a:ln/>
        </p:spPr>
        <p:txBody>
          <a:bodyPr wrap="square" lIns="0" tIns="0" rIns="0" bIns="0" rtlCol="0" anchor="ctr"/>
          <a:lstStyle/>
          <a:p>
            <a:pPr indent="0" marL="0">
              <a:buNone/>
            </a:pPr>
            <a:r>
              <a:rPr lang="en-US" sz="1250" b="1" dirty="0">
                <a:solidFill>
                  <a:srgbClr val="C78F0D"/>
                </a:solidFill>
                <a:latin typeface="Calibri" pitchFamily="34" charset="0"/>
                <a:ea typeface="Calibri" pitchFamily="34" charset="-122"/>
                <a:cs typeface="Calibri" pitchFamily="34" charset="-120"/>
              </a:rPr>
              <a:t>Non-negotiable guardrails</a:t>
            </a:r>
            <a:endParaRPr lang="en-US" sz="1250" dirty="0"/>
          </a:p>
        </p:txBody>
      </p:sp>
      <p:pic>
        <p:nvPicPr>
          <p:cNvPr id="22" name="Image 5" descr="preencoded.png">    </p:cNvPr>
          <p:cNvPicPr>
            <a:picLocks noChangeAspect="1"/>
          </p:cNvPicPr>
          <p:nvPr/>
        </p:nvPicPr>
        <p:blipFill>
          <a:blip r:embed="rId6"/>
          <a:stretch>
            <a:fillRect/>
          </a:stretch>
        </p:blipFill>
        <p:spPr>
          <a:xfrm>
            <a:off x="457200" y="3621024"/>
            <a:ext cx="274320" cy="274320"/>
          </a:xfrm>
          <a:prstGeom prst="rect">
            <a:avLst/>
          </a:prstGeom>
        </p:spPr>
      </p:pic>
      <p:sp>
        <p:nvSpPr>
          <p:cNvPr id="23" name="Text 15"/>
          <p:cNvSpPr/>
          <p:nvPr/>
        </p:nvSpPr>
        <p:spPr>
          <a:xfrm>
            <a:off x="841248" y="3566160"/>
            <a:ext cx="2212848" cy="914400"/>
          </a:xfrm>
          <a:prstGeom prst="rect">
            <a:avLst/>
          </a:prstGeom>
          <a:noFill/>
          <a:ln/>
        </p:spPr>
        <p:txBody>
          <a:bodyPr wrap="square" lIns="0" tIns="0" rIns="0" bIns="0" rtlCol="0" anchor="ctr"/>
          <a:lstStyle/>
          <a:p>
            <a:pPr indent="0" marL="0">
              <a:buNone/>
            </a:pPr>
            <a:r>
              <a:rPr lang="en-US" sz="1000" dirty="0">
                <a:solidFill>
                  <a:srgbClr val="1F2A38"/>
                </a:solidFill>
                <a:latin typeface="Calibri" pitchFamily="34" charset="0"/>
                <a:ea typeface="Calibri" pitchFamily="34" charset="-122"/>
                <a:cs typeface="Calibri" pitchFamily="34" charset="-120"/>
              </a:rPr>
              <a:t>Generation may only reference what exists in the graph — fabricated parts or rules are rejected pre-commit.</a:t>
            </a:r>
            <a:endParaRPr lang="en-US" sz="1000" dirty="0"/>
          </a:p>
        </p:txBody>
      </p:sp>
      <p:pic>
        <p:nvPicPr>
          <p:cNvPr id="24" name="Image 6" descr="preencoded.png">    </p:cNvPr>
          <p:cNvPicPr>
            <a:picLocks noChangeAspect="1"/>
          </p:cNvPicPr>
          <p:nvPr/>
        </p:nvPicPr>
        <p:blipFill>
          <a:blip r:embed="rId7"/>
          <a:stretch>
            <a:fillRect/>
          </a:stretch>
        </p:blipFill>
        <p:spPr>
          <a:xfrm>
            <a:off x="3383280" y="3621024"/>
            <a:ext cx="274320" cy="274320"/>
          </a:xfrm>
          <a:prstGeom prst="rect">
            <a:avLst/>
          </a:prstGeom>
        </p:spPr>
      </p:pic>
      <p:sp>
        <p:nvSpPr>
          <p:cNvPr id="25" name="Text 16"/>
          <p:cNvSpPr/>
          <p:nvPr/>
        </p:nvSpPr>
        <p:spPr>
          <a:xfrm>
            <a:off x="3767328" y="3566160"/>
            <a:ext cx="2212848" cy="914400"/>
          </a:xfrm>
          <a:prstGeom prst="rect">
            <a:avLst/>
          </a:prstGeom>
          <a:noFill/>
          <a:ln/>
        </p:spPr>
        <p:txBody>
          <a:bodyPr wrap="square" lIns="0" tIns="0" rIns="0" bIns="0" rtlCol="0" anchor="ctr"/>
          <a:lstStyle/>
          <a:p>
            <a:pPr indent="0" marL="0">
              <a:buNone/>
            </a:pPr>
            <a:r>
              <a:rPr lang="en-US" sz="1000" dirty="0">
                <a:solidFill>
                  <a:srgbClr val="1F2A38"/>
                </a:solidFill>
                <a:latin typeface="Calibri" pitchFamily="34" charset="0"/>
                <a:ea typeface="Calibri" pitchFamily="34" charset="-122"/>
                <a:cs typeface="Calibri" pitchFamily="34" charset="-120"/>
              </a:rPr>
              <a:t>Licensed humans approve anything code- or life-safety-bearing. AI proposes; people decide.</a:t>
            </a:r>
            <a:endParaRPr lang="en-US" sz="1000" dirty="0"/>
          </a:p>
        </p:txBody>
      </p:sp>
      <p:pic>
        <p:nvPicPr>
          <p:cNvPr id="26" name="Image 7" descr="preencoded.png">    </p:cNvPr>
          <p:cNvPicPr>
            <a:picLocks noChangeAspect="1"/>
          </p:cNvPicPr>
          <p:nvPr/>
        </p:nvPicPr>
        <p:blipFill>
          <a:blip r:embed="rId8"/>
          <a:stretch>
            <a:fillRect/>
          </a:stretch>
        </p:blipFill>
        <p:spPr>
          <a:xfrm>
            <a:off x="6309360" y="3621024"/>
            <a:ext cx="274320" cy="274320"/>
          </a:xfrm>
          <a:prstGeom prst="rect">
            <a:avLst/>
          </a:prstGeom>
        </p:spPr>
      </p:pic>
      <p:sp>
        <p:nvSpPr>
          <p:cNvPr id="27" name="Text 17"/>
          <p:cNvSpPr/>
          <p:nvPr/>
        </p:nvSpPr>
        <p:spPr>
          <a:xfrm>
            <a:off x="6693408" y="3566160"/>
            <a:ext cx="2212848" cy="914400"/>
          </a:xfrm>
          <a:prstGeom prst="rect">
            <a:avLst/>
          </a:prstGeom>
          <a:noFill/>
          <a:ln/>
        </p:spPr>
        <p:txBody>
          <a:bodyPr wrap="square" lIns="0" tIns="0" rIns="0" bIns="0" rtlCol="0" anchor="ctr"/>
          <a:lstStyle/>
          <a:p>
            <a:pPr indent="0" marL="0">
              <a:buNone/>
            </a:pPr>
            <a:r>
              <a:rPr lang="en-US" sz="1000" dirty="0">
                <a:solidFill>
                  <a:srgbClr val="1F2A38"/>
                </a:solidFill>
                <a:latin typeface="Calibri" pitchFamily="34" charset="0"/>
                <a:ea typeface="Calibri" pitchFamily="34" charset="-122"/>
                <a:cs typeface="Calibri" pitchFamily="34" charset="-120"/>
              </a:rPr>
              <a:t>No adapter promotes past a failing eval — golden sets from your standards gate every update.</a:t>
            </a:r>
            <a:endParaRPr lang="en-US" sz="1000" dirty="0"/>
          </a:p>
        </p:txBody>
      </p:sp>
      <p:sp>
        <p:nvSpPr>
          <p:cNvPr id="28" name="Text 18"/>
          <p:cNvSpPr/>
          <p:nvPr/>
        </p:nvSpPr>
        <p:spPr>
          <a:xfrm>
            <a:off x="457200" y="4617720"/>
            <a:ext cx="8229600" cy="274320"/>
          </a:xfrm>
          <a:prstGeom prst="rect">
            <a:avLst/>
          </a:prstGeom>
          <a:noFill/>
          <a:ln/>
        </p:spPr>
        <p:txBody>
          <a:bodyPr wrap="square" lIns="0" tIns="0" rIns="0" bIns="0" rtlCol="0" anchor="ctr"/>
          <a:lstStyle/>
          <a:p>
            <a:pPr indent="0" marL="0">
              <a:buNone/>
            </a:pPr>
            <a:r>
              <a:rPr lang="en-US" sz="1050" i="1" dirty="0">
                <a:solidFill>
                  <a:srgbClr val="5B6B7E"/>
                </a:solidFill>
                <a:latin typeface="Calibri" pitchFamily="34" charset="0"/>
                <a:ea typeface="Calibri" pitchFamily="34" charset="-122"/>
                <a:cs typeface="Calibri" pitchFamily="34" charset="-120"/>
              </a:rPr>
              <a:t>Proprietary data never leaves the tenant boundary — serving location (in-tenant cloud vs local GPUs) is an options-ADR.</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92608"/>
            <a:ext cx="8229600" cy="274320"/>
          </a:xfrm>
          <a:prstGeom prst="rect">
            <a:avLst/>
          </a:prstGeom>
          <a:noFill/>
          <a:ln/>
        </p:spPr>
        <p:txBody>
          <a:bodyPr wrap="square" lIns="0" tIns="0" rIns="0" bIns="0" rtlCol="0" anchor="ctr"/>
          <a:lstStyle/>
          <a:p>
            <a:pPr indent="0" marL="0">
              <a:buNone/>
            </a:pPr>
            <a:r>
              <a:rPr lang="en-US" sz="1050" b="1" spc="200" kern="0" dirty="0">
                <a:solidFill>
                  <a:srgbClr val="C78F0D"/>
                </a:solidFill>
                <a:latin typeface="Calibri" pitchFamily="34" charset="0"/>
                <a:ea typeface="Calibri" pitchFamily="34" charset="-122"/>
                <a:cs typeface="Calibri" pitchFamily="34" charset="-120"/>
              </a:rPr>
              <a:t>TRACK 1 · DEEP DIVE</a:t>
            </a:r>
            <a:endParaRPr lang="en-US" sz="1050" dirty="0"/>
          </a:p>
        </p:txBody>
      </p:sp>
      <p:sp>
        <p:nvSpPr>
          <p:cNvPr id="3" name="Text 1"/>
          <p:cNvSpPr/>
          <p:nvPr/>
        </p:nvSpPr>
        <p:spPr>
          <a:xfrm>
            <a:off x="457200" y="530352"/>
            <a:ext cx="8229600" cy="566928"/>
          </a:xfrm>
          <a:prstGeom prst="rect">
            <a:avLst/>
          </a:prstGeom>
          <a:noFill/>
          <a:ln/>
        </p:spPr>
        <p:txBody>
          <a:bodyPr wrap="square" lIns="0" tIns="0" rIns="0" bIns="0" rtlCol="0" anchor="ctr"/>
          <a:lstStyle/>
          <a:p>
            <a:pPr indent="0" marL="0">
              <a:buNone/>
            </a:pPr>
            <a:r>
              <a:rPr lang="en-US" sz="2800" b="1" dirty="0">
                <a:solidFill>
                  <a:srgbClr val="16263F"/>
                </a:solidFill>
                <a:latin typeface="Cambria" pitchFamily="34" charset="0"/>
                <a:ea typeface="Cambria" pitchFamily="34" charset="-122"/>
                <a:cs typeface="Cambria" pitchFamily="34" charset="-120"/>
              </a:rPr>
              <a:t>Plug-and-play is a contract, not a 3D problem</a:t>
            </a:r>
            <a:endParaRPr lang="en-US" sz="2800" dirty="0"/>
          </a:p>
        </p:txBody>
      </p:sp>
      <p:sp>
        <p:nvSpPr>
          <p:cNvPr id="4" name="Shape 2"/>
          <p:cNvSpPr/>
          <p:nvPr/>
        </p:nvSpPr>
        <p:spPr>
          <a:xfrm>
            <a:off x="640080" y="1298448"/>
            <a:ext cx="1627632" cy="603504"/>
          </a:xfrm>
          <a:prstGeom prst="roundRect">
            <a:avLst>
              <a:gd name="adj" fmla="val 12121"/>
            </a:avLst>
          </a:prstGeom>
          <a:solidFill>
            <a:srgbClr val="E8A816"/>
          </a:solidFill>
          <a:ln/>
          <a:effectLst>
            <a:outerShdw sx="100000" sy="100000" kx="0" ky="0" algn="bl" rotWithShape="0" blurRad="88900" dist="25400" dir="2700000">
              <a:srgbClr val="000000">
                <a:alpha val="14000"/>
              </a:srgbClr>
            </a:outerShdw>
          </a:effectLst>
        </p:spPr>
      </p:sp>
      <p:pic>
        <p:nvPicPr>
          <p:cNvPr id="5" name="Image 0" descr="preencoded.png">    </p:cNvPr>
          <p:cNvPicPr>
            <a:picLocks noChangeAspect="1"/>
          </p:cNvPicPr>
          <p:nvPr/>
        </p:nvPicPr>
        <p:blipFill>
          <a:blip r:embed="rId1"/>
          <a:stretch>
            <a:fillRect/>
          </a:stretch>
        </p:blipFill>
        <p:spPr>
          <a:xfrm>
            <a:off x="786384" y="1453896"/>
            <a:ext cx="292608" cy="292608"/>
          </a:xfrm>
          <a:prstGeom prst="rect">
            <a:avLst/>
          </a:prstGeom>
        </p:spPr>
      </p:pic>
      <p:sp>
        <p:nvSpPr>
          <p:cNvPr id="6" name="Text 3"/>
          <p:cNvSpPr/>
          <p:nvPr/>
        </p:nvSpPr>
        <p:spPr>
          <a:xfrm>
            <a:off x="1133856" y="1298448"/>
            <a:ext cx="1097280" cy="603504"/>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Moducule</a:t>
            </a:r>
            <a:endParaRPr lang="en-US" sz="1350" dirty="0"/>
          </a:p>
        </p:txBody>
      </p:sp>
      <p:pic>
        <p:nvPicPr>
          <p:cNvPr id="7" name="Image 1" descr="preencoded.png">    </p:cNvPr>
          <p:cNvPicPr>
            <a:picLocks noChangeAspect="1"/>
          </p:cNvPicPr>
          <p:nvPr/>
        </p:nvPicPr>
        <p:blipFill>
          <a:blip r:embed="rId2"/>
          <a:stretch>
            <a:fillRect/>
          </a:stretch>
        </p:blipFill>
        <p:spPr>
          <a:xfrm>
            <a:off x="2340864" y="1463040"/>
            <a:ext cx="274320" cy="274320"/>
          </a:xfrm>
          <a:prstGeom prst="rect">
            <a:avLst/>
          </a:prstGeom>
        </p:spPr>
      </p:pic>
      <p:sp>
        <p:nvSpPr>
          <p:cNvPr id="8" name="Shape 4"/>
          <p:cNvSpPr/>
          <p:nvPr/>
        </p:nvSpPr>
        <p:spPr>
          <a:xfrm>
            <a:off x="2743200" y="1298448"/>
            <a:ext cx="1627632" cy="603504"/>
          </a:xfrm>
          <a:prstGeom prst="roundRect">
            <a:avLst>
              <a:gd name="adj" fmla="val 12121"/>
            </a:avLst>
          </a:prstGeom>
          <a:solidFill>
            <a:srgbClr val="16263F"/>
          </a:solidFill>
          <a:ln/>
          <a:effectLst>
            <a:outerShdw sx="100000" sy="100000" kx="0" ky="0" algn="bl" rotWithShape="0" blurRad="88900" dist="25400" dir="2700000">
              <a:srgbClr val="000000">
                <a:alpha val="14000"/>
              </a:srgbClr>
            </a:outerShdw>
          </a:effectLst>
        </p:spPr>
      </p:sp>
      <p:pic>
        <p:nvPicPr>
          <p:cNvPr id="9" name="Image 2" descr="preencoded.png">    </p:cNvPr>
          <p:cNvPicPr>
            <a:picLocks noChangeAspect="1"/>
          </p:cNvPicPr>
          <p:nvPr/>
        </p:nvPicPr>
        <p:blipFill>
          <a:blip r:embed="rId3"/>
          <a:stretch>
            <a:fillRect/>
          </a:stretch>
        </p:blipFill>
        <p:spPr>
          <a:xfrm>
            <a:off x="2889504" y="1453896"/>
            <a:ext cx="292608" cy="292608"/>
          </a:xfrm>
          <a:prstGeom prst="rect">
            <a:avLst/>
          </a:prstGeom>
        </p:spPr>
      </p:pic>
      <p:sp>
        <p:nvSpPr>
          <p:cNvPr id="10" name="Text 5"/>
          <p:cNvSpPr/>
          <p:nvPr/>
        </p:nvSpPr>
        <p:spPr>
          <a:xfrm>
            <a:off x="3236976" y="1298448"/>
            <a:ext cx="1097280" cy="603504"/>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Module</a:t>
            </a:r>
            <a:endParaRPr lang="en-US" sz="1350" dirty="0"/>
          </a:p>
        </p:txBody>
      </p:sp>
      <p:pic>
        <p:nvPicPr>
          <p:cNvPr id="11" name="Image 3" descr="preencoded.png">    </p:cNvPr>
          <p:cNvPicPr>
            <a:picLocks noChangeAspect="1"/>
          </p:cNvPicPr>
          <p:nvPr/>
        </p:nvPicPr>
        <p:blipFill>
          <a:blip r:embed="rId4"/>
          <a:stretch>
            <a:fillRect/>
          </a:stretch>
        </p:blipFill>
        <p:spPr>
          <a:xfrm>
            <a:off x="4443984" y="1463040"/>
            <a:ext cx="274320" cy="274320"/>
          </a:xfrm>
          <a:prstGeom prst="rect">
            <a:avLst/>
          </a:prstGeom>
        </p:spPr>
      </p:pic>
      <p:sp>
        <p:nvSpPr>
          <p:cNvPr id="12" name="Shape 6"/>
          <p:cNvSpPr/>
          <p:nvPr/>
        </p:nvSpPr>
        <p:spPr>
          <a:xfrm>
            <a:off x="4846320" y="1298448"/>
            <a:ext cx="1627632" cy="603504"/>
          </a:xfrm>
          <a:prstGeom prst="roundRect">
            <a:avLst>
              <a:gd name="adj" fmla="val 12121"/>
            </a:avLst>
          </a:prstGeom>
          <a:solidFill>
            <a:srgbClr val="16263F"/>
          </a:solidFill>
          <a:ln/>
          <a:effectLst>
            <a:outerShdw sx="100000" sy="100000" kx="0" ky="0" algn="bl" rotWithShape="0" blurRad="88900" dist="25400" dir="2700000">
              <a:srgbClr val="000000">
                <a:alpha val="14000"/>
              </a:srgbClr>
            </a:outerShdw>
          </a:effectLst>
        </p:spPr>
      </p:sp>
      <p:pic>
        <p:nvPicPr>
          <p:cNvPr id="13" name="Image 4" descr="preencoded.png">    </p:cNvPr>
          <p:cNvPicPr>
            <a:picLocks noChangeAspect="1"/>
          </p:cNvPicPr>
          <p:nvPr/>
        </p:nvPicPr>
        <p:blipFill>
          <a:blip r:embed="rId5"/>
          <a:stretch>
            <a:fillRect/>
          </a:stretch>
        </p:blipFill>
        <p:spPr>
          <a:xfrm>
            <a:off x="4992624" y="1453896"/>
            <a:ext cx="292608" cy="292608"/>
          </a:xfrm>
          <a:prstGeom prst="rect">
            <a:avLst/>
          </a:prstGeom>
        </p:spPr>
      </p:pic>
      <p:sp>
        <p:nvSpPr>
          <p:cNvPr id="14" name="Text 7"/>
          <p:cNvSpPr/>
          <p:nvPr/>
        </p:nvSpPr>
        <p:spPr>
          <a:xfrm>
            <a:off x="5340096" y="1298448"/>
            <a:ext cx="1097280" cy="603504"/>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Room</a:t>
            </a:r>
            <a:endParaRPr lang="en-US" sz="1350" dirty="0"/>
          </a:p>
        </p:txBody>
      </p:sp>
      <p:pic>
        <p:nvPicPr>
          <p:cNvPr id="15" name="Image 5" descr="preencoded.png">    </p:cNvPr>
          <p:cNvPicPr>
            <a:picLocks noChangeAspect="1"/>
          </p:cNvPicPr>
          <p:nvPr/>
        </p:nvPicPr>
        <p:blipFill>
          <a:blip r:embed="rId6"/>
          <a:stretch>
            <a:fillRect/>
          </a:stretch>
        </p:blipFill>
        <p:spPr>
          <a:xfrm>
            <a:off x="6547104" y="1463040"/>
            <a:ext cx="274320" cy="274320"/>
          </a:xfrm>
          <a:prstGeom prst="rect">
            <a:avLst/>
          </a:prstGeom>
        </p:spPr>
      </p:pic>
      <p:sp>
        <p:nvSpPr>
          <p:cNvPr id="16" name="Shape 8"/>
          <p:cNvSpPr/>
          <p:nvPr/>
        </p:nvSpPr>
        <p:spPr>
          <a:xfrm>
            <a:off x="6949440" y="1298448"/>
            <a:ext cx="1627632" cy="603504"/>
          </a:xfrm>
          <a:prstGeom prst="roundRect">
            <a:avLst>
              <a:gd name="adj" fmla="val 12121"/>
            </a:avLst>
          </a:prstGeom>
          <a:solidFill>
            <a:srgbClr val="16263F"/>
          </a:solidFill>
          <a:ln/>
          <a:effectLst>
            <a:outerShdw sx="100000" sy="100000" kx="0" ky="0" algn="bl" rotWithShape="0" blurRad="88900" dist="25400" dir="2700000">
              <a:srgbClr val="000000">
                <a:alpha val="14000"/>
              </a:srgbClr>
            </a:outerShdw>
          </a:effectLst>
        </p:spPr>
      </p:sp>
      <p:pic>
        <p:nvPicPr>
          <p:cNvPr id="17" name="Image 6" descr="preencoded.png">    </p:cNvPr>
          <p:cNvPicPr>
            <a:picLocks noChangeAspect="1"/>
          </p:cNvPicPr>
          <p:nvPr/>
        </p:nvPicPr>
        <p:blipFill>
          <a:blip r:embed="rId7"/>
          <a:stretch>
            <a:fillRect/>
          </a:stretch>
        </p:blipFill>
        <p:spPr>
          <a:xfrm>
            <a:off x="7095744" y="1453896"/>
            <a:ext cx="292608" cy="292608"/>
          </a:xfrm>
          <a:prstGeom prst="rect">
            <a:avLst/>
          </a:prstGeom>
        </p:spPr>
      </p:pic>
      <p:sp>
        <p:nvSpPr>
          <p:cNvPr id="18" name="Text 9"/>
          <p:cNvSpPr/>
          <p:nvPr/>
        </p:nvSpPr>
        <p:spPr>
          <a:xfrm>
            <a:off x="7443216" y="1298448"/>
            <a:ext cx="1097280" cy="603504"/>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Building</a:t>
            </a:r>
            <a:endParaRPr lang="en-US" sz="1350" dirty="0"/>
          </a:p>
        </p:txBody>
      </p:sp>
      <p:sp>
        <p:nvSpPr>
          <p:cNvPr id="19" name="Text 10"/>
          <p:cNvSpPr/>
          <p:nvPr/>
        </p:nvSpPr>
        <p:spPr>
          <a:xfrm>
            <a:off x="640080" y="1993392"/>
            <a:ext cx="7863840" cy="274320"/>
          </a:xfrm>
          <a:prstGeom prst="rect">
            <a:avLst/>
          </a:prstGeom>
          <a:noFill/>
          <a:ln/>
        </p:spPr>
        <p:txBody>
          <a:bodyPr wrap="square" lIns="0" tIns="0" rIns="0" bIns="0" rtlCol="0" anchor="ctr"/>
          <a:lstStyle/>
          <a:p>
            <a:pPr algn="ctr" indent="0" marL="0">
              <a:buNone/>
            </a:pPr>
            <a:r>
              <a:rPr lang="en-US" sz="1200" i="1" dirty="0">
                <a:solidFill>
                  <a:srgbClr val="C78F0D"/>
                </a:solidFill>
                <a:latin typeface="Calibri" pitchFamily="34" charset="0"/>
                <a:ea typeface="Calibri" pitchFamily="34" charset="-122"/>
                <a:cs typeface="Calibri" pitchFamily="34" charset="-120"/>
              </a:rPr>
              <a:t>Constraints inherit upward at every level — it only snaps if it's legal.</a:t>
            </a:r>
            <a:endParaRPr lang="en-US" sz="1200" dirty="0"/>
          </a:p>
        </p:txBody>
      </p:sp>
      <p:sp>
        <p:nvSpPr>
          <p:cNvPr id="20" name="Shape 11"/>
          <p:cNvSpPr/>
          <p:nvPr/>
        </p:nvSpPr>
        <p:spPr>
          <a:xfrm>
            <a:off x="457200" y="2377440"/>
            <a:ext cx="2624328" cy="2286000"/>
          </a:xfrm>
          <a:prstGeom prst="roundRect">
            <a:avLst>
              <a:gd name="adj" fmla="val 2400"/>
            </a:avLst>
          </a:prstGeom>
          <a:solidFill>
            <a:srgbClr val="F3F6FA"/>
          </a:solidFill>
          <a:ln/>
          <a:effectLst>
            <a:outerShdw sx="100000" sy="100000" kx="0" ky="0" algn="bl" rotWithShape="0" blurRad="88900" dist="25400" dir="2700000">
              <a:srgbClr val="000000">
                <a:alpha val="14000"/>
              </a:srgbClr>
            </a:outerShdw>
          </a:effectLst>
        </p:spPr>
      </p:sp>
      <p:sp>
        <p:nvSpPr>
          <p:cNvPr id="21" name="Text 12"/>
          <p:cNvSpPr/>
          <p:nvPr/>
        </p:nvSpPr>
        <p:spPr>
          <a:xfrm>
            <a:off x="640080" y="2542032"/>
            <a:ext cx="2286000" cy="457200"/>
          </a:xfrm>
          <a:prstGeom prst="rect">
            <a:avLst/>
          </a:prstGeom>
          <a:noFill/>
          <a:ln/>
        </p:spPr>
        <p:txBody>
          <a:bodyPr wrap="square" lIns="0" tIns="0" rIns="0" bIns="0" rtlCol="0" anchor="ctr"/>
          <a:lstStyle/>
          <a:p>
            <a:pPr indent="0" marL="0">
              <a:buNone/>
            </a:pPr>
            <a:r>
              <a:rPr lang="en-US" sz="1300" b="1" dirty="0">
                <a:solidFill>
                  <a:srgbClr val="16263F"/>
                </a:solidFill>
                <a:latin typeface="Calibri" pitchFamily="34" charset="0"/>
                <a:ea typeface="Calibri" pitchFamily="34" charset="-122"/>
                <a:cs typeface="Calibri" pitchFamily="34" charset="-120"/>
              </a:rPr>
              <a:t>Moducule Definition Schema (MDS)</a:t>
            </a:r>
            <a:endParaRPr lang="en-US" sz="1300" dirty="0"/>
          </a:p>
        </p:txBody>
      </p:sp>
      <p:sp>
        <p:nvSpPr>
          <p:cNvPr id="22" name="Text 13"/>
          <p:cNvSpPr/>
          <p:nvPr/>
        </p:nvSpPr>
        <p:spPr>
          <a:xfrm>
            <a:off x="640080" y="3054096"/>
            <a:ext cx="2286000" cy="1481328"/>
          </a:xfrm>
          <a:prstGeom prst="rect">
            <a:avLst/>
          </a:prstGeom>
          <a:noFill/>
          <a:ln/>
        </p:spPr>
        <p:txBody>
          <a:bodyPr wrap="square" lIns="0" tIns="0" rIns="0" bIns="0" rtlCol="0" anchor="ctr"/>
          <a:lstStyle/>
          <a:p>
            <a:pPr indent="0" marL="0">
              <a:buNone/>
            </a:pPr>
            <a:r>
              <a:rPr lang="en-US" sz="1000" dirty="0">
                <a:solidFill>
                  <a:srgbClr val="1F2A38"/>
                </a:solidFill>
                <a:latin typeface="Calibri" pitchFamily="34" charset="0"/>
                <a:ea typeface="Calibri" pitchFamily="34" charset="-122"/>
                <a:cs typeface="Calibri" pitchFamily="34" charset="-120"/>
              </a:rPr>
              <a:t>A typed, versioned contract per block: identity + semver · geometry by reference (glTF / USD / IFC) · typed ports (electrical, med-gas, HVAC, data, structural) · parameters · constraints with standards references · lifecycle: draft → validated → certified.</a:t>
            </a:r>
            <a:endParaRPr lang="en-US" sz="1000" dirty="0"/>
          </a:p>
        </p:txBody>
      </p:sp>
      <p:sp>
        <p:nvSpPr>
          <p:cNvPr id="23" name="Shape 14"/>
          <p:cNvSpPr/>
          <p:nvPr/>
        </p:nvSpPr>
        <p:spPr>
          <a:xfrm>
            <a:off x="3264408" y="2377440"/>
            <a:ext cx="2624328" cy="2286000"/>
          </a:xfrm>
          <a:prstGeom prst="roundRect">
            <a:avLst>
              <a:gd name="adj" fmla="val 2400"/>
            </a:avLst>
          </a:prstGeom>
          <a:solidFill>
            <a:srgbClr val="F3F6FA"/>
          </a:solidFill>
          <a:ln/>
          <a:effectLst>
            <a:outerShdw sx="100000" sy="100000" kx="0" ky="0" algn="bl" rotWithShape="0" blurRad="88900" dist="25400" dir="2700000">
              <a:srgbClr val="000000">
                <a:alpha val="14000"/>
              </a:srgbClr>
            </a:outerShdw>
          </a:effectLst>
        </p:spPr>
      </p:sp>
      <p:sp>
        <p:nvSpPr>
          <p:cNvPr id="24" name="Text 15"/>
          <p:cNvSpPr/>
          <p:nvPr/>
        </p:nvSpPr>
        <p:spPr>
          <a:xfrm>
            <a:off x="3447288" y="2542032"/>
            <a:ext cx="2286000" cy="457200"/>
          </a:xfrm>
          <a:prstGeom prst="rect">
            <a:avLst/>
          </a:prstGeom>
          <a:noFill/>
          <a:ln/>
        </p:spPr>
        <p:txBody>
          <a:bodyPr wrap="square" lIns="0" tIns="0" rIns="0" bIns="0" rtlCol="0" anchor="ctr"/>
          <a:lstStyle/>
          <a:p>
            <a:pPr indent="0" marL="0">
              <a:buNone/>
            </a:pPr>
            <a:r>
              <a:rPr lang="en-US" sz="1300" b="1" dirty="0">
                <a:solidFill>
                  <a:srgbClr val="16263F"/>
                </a:solidFill>
                <a:latin typeface="Calibri" pitchFamily="34" charset="0"/>
                <a:ea typeface="Calibri" pitchFamily="34" charset="-122"/>
                <a:cs typeface="Calibri" pitchFamily="34" charset="-120"/>
              </a:rPr>
              <a:t>Composition validation</a:t>
            </a:r>
            <a:endParaRPr lang="en-US" sz="1300" dirty="0"/>
          </a:p>
        </p:txBody>
      </p:sp>
      <p:sp>
        <p:nvSpPr>
          <p:cNvPr id="25" name="Text 16"/>
          <p:cNvSpPr/>
          <p:nvPr/>
        </p:nvSpPr>
        <p:spPr>
          <a:xfrm>
            <a:off x="3447288" y="3054096"/>
            <a:ext cx="2286000" cy="1481328"/>
          </a:xfrm>
          <a:prstGeom prst="rect">
            <a:avLst/>
          </a:prstGeom>
          <a:noFill/>
          <a:ln/>
        </p:spPr>
        <p:txBody>
          <a:bodyPr wrap="square" lIns="0" tIns="0" rIns="0" bIns="0" rtlCol="0" anchor="ctr"/>
          <a:lstStyle/>
          <a:p>
            <a:pPr indent="0" marL="0">
              <a:buNone/>
            </a:pPr>
            <a:r>
              <a:rPr lang="en-US" sz="1000" dirty="0">
                <a:solidFill>
                  <a:srgbClr val="1F2A38"/>
                </a:solidFill>
                <a:latin typeface="Calibri" pitchFamily="34" charset="0"/>
                <a:ea typeface="Calibri" pitchFamily="34" charset="-122"/>
                <a:cs typeface="Calibri" pitchFamily="34" charset="-120"/>
              </a:rPr>
              <a:t>Module = Moducules with resolved ports. Room = Modules + spatial &amp; code constraints. Building = Rooms + circulation and MEP risers. Port compatibility, collision, and code checks run at composition time — not at review time.</a:t>
            </a:r>
            <a:endParaRPr lang="en-US" sz="1000" dirty="0"/>
          </a:p>
        </p:txBody>
      </p:sp>
      <p:sp>
        <p:nvSpPr>
          <p:cNvPr id="26" name="Shape 17"/>
          <p:cNvSpPr/>
          <p:nvPr/>
        </p:nvSpPr>
        <p:spPr>
          <a:xfrm>
            <a:off x="6071616" y="2377440"/>
            <a:ext cx="2624328" cy="2286000"/>
          </a:xfrm>
          <a:prstGeom prst="roundRect">
            <a:avLst>
              <a:gd name="adj" fmla="val 2400"/>
            </a:avLst>
          </a:prstGeom>
          <a:solidFill>
            <a:srgbClr val="F3F6FA"/>
          </a:solidFill>
          <a:ln/>
          <a:effectLst>
            <a:outerShdw sx="100000" sy="100000" kx="0" ky="0" algn="bl" rotWithShape="0" blurRad="88900" dist="25400" dir="2700000">
              <a:srgbClr val="000000">
                <a:alpha val="14000"/>
              </a:srgbClr>
            </a:outerShdw>
          </a:effectLst>
        </p:spPr>
      </p:sp>
      <p:sp>
        <p:nvSpPr>
          <p:cNvPr id="27" name="Text 18"/>
          <p:cNvSpPr/>
          <p:nvPr/>
        </p:nvSpPr>
        <p:spPr>
          <a:xfrm>
            <a:off x="6254496" y="2542032"/>
            <a:ext cx="2286000" cy="457200"/>
          </a:xfrm>
          <a:prstGeom prst="rect">
            <a:avLst/>
          </a:prstGeom>
          <a:noFill/>
          <a:ln/>
        </p:spPr>
        <p:txBody>
          <a:bodyPr wrap="square" lIns="0" tIns="0" rIns="0" bIns="0" rtlCol="0" anchor="ctr"/>
          <a:lstStyle/>
          <a:p>
            <a:pPr indent="0" marL="0">
              <a:buNone/>
            </a:pPr>
            <a:r>
              <a:rPr lang="en-US" sz="1300" b="1" dirty="0">
                <a:solidFill>
                  <a:srgbClr val="16263F"/>
                </a:solidFill>
                <a:latin typeface="Calibri" pitchFamily="34" charset="0"/>
                <a:ea typeface="Calibri" pitchFamily="34" charset="-122"/>
                <a:cs typeface="Calibri" pitchFamily="34" charset="-120"/>
              </a:rPr>
              <a:t>Certified registry</a:t>
            </a:r>
            <a:endParaRPr lang="en-US" sz="1300" dirty="0"/>
          </a:p>
        </p:txBody>
      </p:sp>
      <p:sp>
        <p:nvSpPr>
          <p:cNvPr id="28" name="Text 19"/>
          <p:cNvSpPr/>
          <p:nvPr/>
        </p:nvSpPr>
        <p:spPr>
          <a:xfrm>
            <a:off x="6254496" y="3054096"/>
            <a:ext cx="2286000" cy="1481328"/>
          </a:xfrm>
          <a:prstGeom prst="rect">
            <a:avLst/>
          </a:prstGeom>
          <a:noFill/>
          <a:ln/>
        </p:spPr>
        <p:txBody>
          <a:bodyPr wrap="square" lIns="0" tIns="0" rIns="0" bIns="0" rtlCol="0" anchor="ctr"/>
          <a:lstStyle/>
          <a:p>
            <a:pPr indent="0" marL="0">
              <a:buNone/>
            </a:pPr>
            <a:r>
              <a:rPr lang="en-US" sz="1000" dirty="0">
                <a:solidFill>
                  <a:srgbClr val="1F2A38"/>
                </a:solidFill>
                <a:latin typeface="Calibri" pitchFamily="34" charset="0"/>
                <a:ea typeface="Calibri" pitchFamily="34" charset="-122"/>
                <a:cs typeface="Calibri" pitchFamily="34" charset="-120"/>
              </a:rPr>
              <a:t>Versioned, dependency-resolved Moducule packages with provenance and deprecation — and a domain-expert certification gate before any block is usable in a regulated design. Reuse becomes enforceable, not aspirational.</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92608"/>
            <a:ext cx="8229600" cy="274320"/>
          </a:xfrm>
          <a:prstGeom prst="rect">
            <a:avLst/>
          </a:prstGeom>
          <a:noFill/>
          <a:ln/>
        </p:spPr>
        <p:txBody>
          <a:bodyPr wrap="square" lIns="0" tIns="0" rIns="0" bIns="0" rtlCol="0" anchor="ctr"/>
          <a:lstStyle/>
          <a:p>
            <a:pPr indent="0" marL="0">
              <a:buNone/>
            </a:pPr>
            <a:r>
              <a:rPr lang="en-US" sz="1050" b="1" spc="200" kern="0" dirty="0">
                <a:solidFill>
                  <a:srgbClr val="C78F0D"/>
                </a:solidFill>
                <a:latin typeface="Calibri" pitchFamily="34" charset="0"/>
                <a:ea typeface="Calibri" pitchFamily="34" charset="-122"/>
                <a:cs typeface="Calibri" pitchFamily="34" charset="-120"/>
              </a:rPr>
              <a:t>TRACK 1 · DEEP DIVE</a:t>
            </a:r>
            <a:endParaRPr lang="en-US" sz="1050" dirty="0"/>
          </a:p>
        </p:txBody>
      </p:sp>
      <p:sp>
        <p:nvSpPr>
          <p:cNvPr id="3" name="Text 1"/>
          <p:cNvSpPr/>
          <p:nvPr/>
        </p:nvSpPr>
        <p:spPr>
          <a:xfrm>
            <a:off x="457200" y="530352"/>
            <a:ext cx="8229600" cy="566928"/>
          </a:xfrm>
          <a:prstGeom prst="rect">
            <a:avLst/>
          </a:prstGeom>
          <a:noFill/>
          <a:ln/>
        </p:spPr>
        <p:txBody>
          <a:bodyPr wrap="square" lIns="0" tIns="0" rIns="0" bIns="0" rtlCol="0" anchor="ctr"/>
          <a:lstStyle/>
          <a:p>
            <a:pPr indent="0" marL="0">
              <a:buNone/>
            </a:pPr>
            <a:r>
              <a:rPr lang="en-US" sz="2800" b="1" dirty="0">
                <a:solidFill>
                  <a:srgbClr val="16263F"/>
                </a:solidFill>
                <a:latin typeface="Cambria" pitchFamily="34" charset="0"/>
                <a:ea typeface="Cambria" pitchFamily="34" charset="-122"/>
                <a:cs typeface="Cambria" pitchFamily="34" charset="-120"/>
              </a:rPr>
              <a:t>One source of truth — the Twin, on the right stores</a:t>
            </a:r>
            <a:endParaRPr lang="en-US" sz="2800" dirty="0"/>
          </a:p>
        </p:txBody>
      </p:sp>
      <p:sp>
        <p:nvSpPr>
          <p:cNvPr id="4" name="Shape 2"/>
          <p:cNvSpPr/>
          <p:nvPr/>
        </p:nvSpPr>
        <p:spPr>
          <a:xfrm>
            <a:off x="457200" y="1280160"/>
            <a:ext cx="4041648" cy="3035808"/>
          </a:xfrm>
          <a:prstGeom prst="roundRect">
            <a:avLst>
              <a:gd name="adj" fmla="val 1807"/>
            </a:avLst>
          </a:prstGeom>
          <a:solidFill>
            <a:srgbClr val="F3F6FA"/>
          </a:solidFill>
          <a:ln/>
          <a:effectLst>
            <a:outerShdw sx="100000" sy="100000" kx="0" ky="0" algn="bl" rotWithShape="0" blurRad="88900" dist="25400" dir="2700000">
              <a:srgbClr val="000000">
                <a:alpha val="14000"/>
              </a:srgbClr>
            </a:outerShdw>
          </a:effectLst>
        </p:spPr>
      </p:sp>
      <p:sp>
        <p:nvSpPr>
          <p:cNvPr id="5" name="Text 3"/>
          <p:cNvSpPr/>
          <p:nvPr/>
        </p:nvSpPr>
        <p:spPr>
          <a:xfrm>
            <a:off x="658368" y="1444752"/>
            <a:ext cx="3657600" cy="274320"/>
          </a:xfrm>
          <a:prstGeom prst="rect">
            <a:avLst/>
          </a:prstGeom>
          <a:noFill/>
          <a:ln/>
        </p:spPr>
        <p:txBody>
          <a:bodyPr wrap="square" lIns="0" tIns="0" rIns="0" bIns="0" rtlCol="0" anchor="ctr"/>
          <a:lstStyle/>
          <a:p>
            <a:pPr indent="0" marL="0">
              <a:buNone/>
            </a:pPr>
            <a:r>
              <a:rPr lang="en-US" sz="1350" b="1" dirty="0">
                <a:solidFill>
                  <a:srgbClr val="16263F"/>
                </a:solidFill>
                <a:latin typeface="Calibri" pitchFamily="34" charset="0"/>
                <a:ea typeface="Calibri" pitchFamily="34" charset="-122"/>
                <a:cs typeface="Calibri" pitchFamily="34" charset="-120"/>
              </a:rPr>
              <a:t>The Digital Twin, properly defined</a:t>
            </a:r>
            <a:endParaRPr lang="en-US" sz="1350" dirty="0"/>
          </a:p>
        </p:txBody>
      </p:sp>
      <p:sp>
        <p:nvSpPr>
          <p:cNvPr id="6" name="Shape 4"/>
          <p:cNvSpPr/>
          <p:nvPr/>
        </p:nvSpPr>
        <p:spPr>
          <a:xfrm>
            <a:off x="658368" y="1810512"/>
            <a:ext cx="384048" cy="384048"/>
          </a:xfrm>
          <a:prstGeom prst="ellipse">
            <a:avLst/>
          </a:prstGeom>
          <a:solidFill>
            <a:srgbClr val="16263F"/>
          </a:solidFill>
          <a:ln/>
        </p:spPr>
      </p:sp>
      <p:pic>
        <p:nvPicPr>
          <p:cNvPr id="7" name="Image 0" descr="preencoded.png">    </p:cNvPr>
          <p:cNvPicPr>
            <a:picLocks noChangeAspect="1"/>
          </p:cNvPicPr>
          <p:nvPr/>
        </p:nvPicPr>
        <p:blipFill>
          <a:blip r:embed="rId1"/>
          <a:stretch>
            <a:fillRect/>
          </a:stretch>
        </p:blipFill>
        <p:spPr>
          <a:xfrm>
            <a:off x="758220" y="1910364"/>
            <a:ext cx="184343" cy="184343"/>
          </a:xfrm>
          <a:prstGeom prst="rect">
            <a:avLst/>
          </a:prstGeom>
        </p:spPr>
      </p:pic>
      <p:sp>
        <p:nvSpPr>
          <p:cNvPr id="8" name="Text 5"/>
          <p:cNvSpPr/>
          <p:nvPr/>
        </p:nvSpPr>
        <p:spPr>
          <a:xfrm>
            <a:off x="1170432" y="1783080"/>
            <a:ext cx="3200400" cy="237744"/>
          </a:xfrm>
          <a:prstGeom prst="rect">
            <a:avLst/>
          </a:prstGeom>
          <a:noFill/>
          <a:ln/>
        </p:spPr>
        <p:txBody>
          <a:bodyPr wrap="square" lIns="0" tIns="0" rIns="0" bIns="0" rtlCol="0" anchor="ctr"/>
          <a:lstStyle/>
          <a:p>
            <a:pPr indent="0" marL="0">
              <a:buNone/>
            </a:pPr>
            <a:r>
              <a:rPr lang="en-US" sz="1150" b="1" dirty="0">
                <a:solidFill>
                  <a:srgbClr val="16263F"/>
                </a:solidFill>
                <a:latin typeface="Calibri" pitchFamily="34" charset="0"/>
                <a:ea typeface="Calibri" pitchFamily="34" charset="-122"/>
                <a:cs typeface="Calibri" pitchFamily="34" charset="-120"/>
              </a:rPr>
              <a:t>Type vs instance</a:t>
            </a:r>
            <a:endParaRPr lang="en-US" sz="1150" dirty="0"/>
          </a:p>
        </p:txBody>
      </p:sp>
      <p:sp>
        <p:nvSpPr>
          <p:cNvPr id="9" name="Text 6"/>
          <p:cNvSpPr/>
          <p:nvPr/>
        </p:nvSpPr>
        <p:spPr>
          <a:xfrm>
            <a:off x="1170432" y="2011680"/>
            <a:ext cx="3200400" cy="603504"/>
          </a:xfrm>
          <a:prstGeom prst="rect">
            <a:avLst/>
          </a:prstGeom>
          <a:noFill/>
          <a:ln/>
        </p:spPr>
        <p:txBody>
          <a:bodyPr wrap="square" lIns="0" tIns="0" rIns="0" bIns="0" rtlCol="0" anchor="ctr"/>
          <a:lstStyle/>
          <a:p>
            <a:pPr indent="0" marL="0">
              <a:buNone/>
            </a:pPr>
            <a:r>
              <a:rPr lang="en-US" sz="960" dirty="0">
                <a:solidFill>
                  <a:srgbClr val="1F2A38"/>
                </a:solidFill>
                <a:latin typeface="Calibri" pitchFamily="34" charset="0"/>
                <a:ea typeface="Calibri" pitchFamily="34" charset="-122"/>
                <a:cs typeface="Calibri" pitchFamily="34" charset="-120"/>
              </a:rPr>
              <a:t>The registry holds types; the Twin holds instances — identity, live state, history at every level: Moducule → Module → Room → Building.</a:t>
            </a:r>
            <a:endParaRPr lang="en-US" sz="960" dirty="0"/>
          </a:p>
        </p:txBody>
      </p:sp>
      <p:sp>
        <p:nvSpPr>
          <p:cNvPr id="10" name="Shape 7"/>
          <p:cNvSpPr/>
          <p:nvPr/>
        </p:nvSpPr>
        <p:spPr>
          <a:xfrm>
            <a:off x="658368" y="2651760"/>
            <a:ext cx="384048" cy="384048"/>
          </a:xfrm>
          <a:prstGeom prst="ellipse">
            <a:avLst/>
          </a:prstGeom>
          <a:solidFill>
            <a:srgbClr val="16263F"/>
          </a:solidFill>
          <a:ln/>
        </p:spPr>
      </p:sp>
      <p:pic>
        <p:nvPicPr>
          <p:cNvPr id="11" name="Image 1" descr="preencoded.png">    </p:cNvPr>
          <p:cNvPicPr>
            <a:picLocks noChangeAspect="1"/>
          </p:cNvPicPr>
          <p:nvPr/>
        </p:nvPicPr>
        <p:blipFill>
          <a:blip r:embed="rId2"/>
          <a:stretch>
            <a:fillRect/>
          </a:stretch>
        </p:blipFill>
        <p:spPr>
          <a:xfrm>
            <a:off x="758220" y="2751612"/>
            <a:ext cx="184343" cy="184343"/>
          </a:xfrm>
          <a:prstGeom prst="rect">
            <a:avLst/>
          </a:prstGeom>
        </p:spPr>
      </p:pic>
      <p:sp>
        <p:nvSpPr>
          <p:cNvPr id="12" name="Text 8"/>
          <p:cNvSpPr/>
          <p:nvPr/>
        </p:nvSpPr>
        <p:spPr>
          <a:xfrm>
            <a:off x="1170432" y="2624328"/>
            <a:ext cx="3200400" cy="237744"/>
          </a:xfrm>
          <a:prstGeom prst="rect">
            <a:avLst/>
          </a:prstGeom>
          <a:noFill/>
          <a:ln/>
        </p:spPr>
        <p:txBody>
          <a:bodyPr wrap="square" lIns="0" tIns="0" rIns="0" bIns="0" rtlCol="0" anchor="ctr"/>
          <a:lstStyle/>
          <a:p>
            <a:pPr indent="0" marL="0">
              <a:buNone/>
            </a:pPr>
            <a:r>
              <a:rPr lang="en-US" sz="1150" b="1" dirty="0">
                <a:solidFill>
                  <a:srgbClr val="16263F"/>
                </a:solidFill>
                <a:latin typeface="Calibri" pitchFamily="34" charset="0"/>
                <a:ea typeface="Calibri" pitchFamily="34" charset="-122"/>
                <a:cs typeface="Calibri" pitchFamily="34" charset="-120"/>
              </a:rPr>
              <a:t>Change journal first</a:t>
            </a:r>
            <a:endParaRPr lang="en-US" sz="1150" dirty="0"/>
          </a:p>
        </p:txBody>
      </p:sp>
      <p:sp>
        <p:nvSpPr>
          <p:cNvPr id="13" name="Text 9"/>
          <p:cNvSpPr/>
          <p:nvPr/>
        </p:nvSpPr>
        <p:spPr>
          <a:xfrm>
            <a:off x="1170432" y="2852928"/>
            <a:ext cx="3200400" cy="603504"/>
          </a:xfrm>
          <a:prstGeom prst="rect">
            <a:avLst/>
          </a:prstGeom>
          <a:noFill/>
          <a:ln/>
        </p:spPr>
        <p:txBody>
          <a:bodyPr wrap="square" lIns="0" tIns="0" rIns="0" bIns="0" rtlCol="0" anchor="ctr"/>
          <a:lstStyle/>
          <a:p>
            <a:pPr indent="0" marL="0">
              <a:buNone/>
            </a:pPr>
            <a:r>
              <a:rPr lang="en-US" sz="960" dirty="0">
                <a:solidFill>
                  <a:srgbClr val="1F2A38"/>
                </a:solidFill>
                <a:latin typeface="Calibri" pitchFamily="34" charset="0"/>
                <a:ea typeface="Calibri" pitchFamily="34" charset="-122"/>
                <a:cs typeface="Calibri" pitchFamily="34" charset="-120"/>
              </a:rPr>
              <a:t>Mutable current state + an append-only journal (outbox): audit, history, and flywheel deltas at 20% of the ceremony. Full event sourcing is the documented v2 path.</a:t>
            </a:r>
            <a:endParaRPr lang="en-US" sz="960" dirty="0"/>
          </a:p>
        </p:txBody>
      </p:sp>
      <p:sp>
        <p:nvSpPr>
          <p:cNvPr id="14" name="Shape 10"/>
          <p:cNvSpPr/>
          <p:nvPr/>
        </p:nvSpPr>
        <p:spPr>
          <a:xfrm>
            <a:off x="658368" y="3493008"/>
            <a:ext cx="384048" cy="384048"/>
          </a:xfrm>
          <a:prstGeom prst="ellipse">
            <a:avLst/>
          </a:prstGeom>
          <a:solidFill>
            <a:srgbClr val="16263F"/>
          </a:solidFill>
          <a:ln/>
        </p:spPr>
      </p:sp>
      <p:pic>
        <p:nvPicPr>
          <p:cNvPr id="15" name="Image 2" descr="preencoded.png">    </p:cNvPr>
          <p:cNvPicPr>
            <a:picLocks noChangeAspect="1"/>
          </p:cNvPicPr>
          <p:nvPr/>
        </p:nvPicPr>
        <p:blipFill>
          <a:blip r:embed="rId3"/>
          <a:stretch>
            <a:fillRect/>
          </a:stretch>
        </p:blipFill>
        <p:spPr>
          <a:xfrm>
            <a:off x="758220" y="3592860"/>
            <a:ext cx="184343" cy="184343"/>
          </a:xfrm>
          <a:prstGeom prst="rect">
            <a:avLst/>
          </a:prstGeom>
        </p:spPr>
      </p:pic>
      <p:sp>
        <p:nvSpPr>
          <p:cNvPr id="16" name="Text 11"/>
          <p:cNvSpPr/>
          <p:nvPr/>
        </p:nvSpPr>
        <p:spPr>
          <a:xfrm>
            <a:off x="1170432" y="3465576"/>
            <a:ext cx="3200400" cy="237744"/>
          </a:xfrm>
          <a:prstGeom prst="rect">
            <a:avLst/>
          </a:prstGeom>
          <a:noFill/>
          <a:ln/>
        </p:spPr>
        <p:txBody>
          <a:bodyPr wrap="square" lIns="0" tIns="0" rIns="0" bIns="0" rtlCol="0" anchor="ctr"/>
          <a:lstStyle/>
          <a:p>
            <a:pPr indent="0" marL="0">
              <a:buNone/>
            </a:pPr>
            <a:r>
              <a:rPr lang="en-US" sz="1150" b="1" dirty="0">
                <a:solidFill>
                  <a:srgbClr val="16263F"/>
                </a:solidFill>
                <a:latin typeface="Calibri" pitchFamily="34" charset="0"/>
                <a:ea typeface="Calibri" pitchFamily="34" charset="-122"/>
                <a:cs typeface="Calibri" pitchFamily="34" charset="-120"/>
              </a:rPr>
              <a:t>One API surface</a:t>
            </a:r>
            <a:endParaRPr lang="en-US" sz="1150" dirty="0"/>
          </a:p>
        </p:txBody>
      </p:sp>
      <p:sp>
        <p:nvSpPr>
          <p:cNvPr id="17" name="Text 12"/>
          <p:cNvSpPr/>
          <p:nvPr/>
        </p:nvSpPr>
        <p:spPr>
          <a:xfrm>
            <a:off x="1170432" y="3694176"/>
            <a:ext cx="3200400" cy="603504"/>
          </a:xfrm>
          <a:prstGeom prst="rect">
            <a:avLst/>
          </a:prstGeom>
          <a:noFill/>
          <a:ln/>
        </p:spPr>
        <p:txBody>
          <a:bodyPr wrap="square" lIns="0" tIns="0" rIns="0" bIns="0" rtlCol="0" anchor="ctr"/>
          <a:lstStyle/>
          <a:p>
            <a:pPr indent="0" marL="0">
              <a:buNone/>
            </a:pPr>
            <a:r>
              <a:rPr lang="en-US" sz="960" dirty="0">
                <a:solidFill>
                  <a:srgbClr val="1F2A38"/>
                </a:solidFill>
                <a:latin typeface="Calibri" pitchFamily="34" charset="0"/>
                <a:ea typeface="Calibri" pitchFamily="34" charset="-122"/>
                <a:cs typeface="Calibri" pitchFamily="34" charset="-120"/>
              </a:rPr>
              <a:t>The Twin API (GraphQL — already your stack) is the only state surface. Unity and web are views; no client owns truth.</a:t>
            </a:r>
            <a:endParaRPr lang="en-US" sz="960" dirty="0"/>
          </a:p>
        </p:txBody>
      </p:sp>
      <p:sp>
        <p:nvSpPr>
          <p:cNvPr id="18" name="Shape 13"/>
          <p:cNvSpPr/>
          <p:nvPr/>
        </p:nvSpPr>
        <p:spPr>
          <a:xfrm>
            <a:off x="4645152" y="1280160"/>
            <a:ext cx="4041648" cy="3035808"/>
          </a:xfrm>
          <a:prstGeom prst="roundRect">
            <a:avLst>
              <a:gd name="adj" fmla="val 1807"/>
            </a:avLst>
          </a:prstGeom>
          <a:solidFill>
            <a:srgbClr val="FFFFFF"/>
          </a:solidFill>
          <a:ln w="12700">
            <a:solidFill>
              <a:srgbClr val="DFE6EE"/>
            </a:solidFill>
            <a:prstDash val="solid"/>
          </a:ln>
          <a:effectLst>
            <a:outerShdw sx="100000" sy="100000" kx="0" ky="0" algn="bl" rotWithShape="0" blurRad="88900" dist="25400" dir="2700000">
              <a:srgbClr val="000000">
                <a:alpha val="14000"/>
              </a:srgbClr>
            </a:outerShdw>
          </a:effectLst>
        </p:spPr>
      </p:sp>
      <p:sp>
        <p:nvSpPr>
          <p:cNvPr id="19" name="Text 14"/>
          <p:cNvSpPr/>
          <p:nvPr/>
        </p:nvSpPr>
        <p:spPr>
          <a:xfrm>
            <a:off x="4846320" y="1444752"/>
            <a:ext cx="3657600" cy="274320"/>
          </a:xfrm>
          <a:prstGeom prst="rect">
            <a:avLst/>
          </a:prstGeom>
          <a:noFill/>
          <a:ln/>
        </p:spPr>
        <p:txBody>
          <a:bodyPr wrap="square" lIns="0" tIns="0" rIns="0" bIns="0" rtlCol="0" anchor="ctr"/>
          <a:lstStyle/>
          <a:p>
            <a:pPr indent="0" marL="0">
              <a:buNone/>
            </a:pPr>
            <a:r>
              <a:rPr lang="en-US" sz="1350" b="1" dirty="0">
                <a:solidFill>
                  <a:srgbClr val="16263F"/>
                </a:solidFill>
                <a:latin typeface="Calibri" pitchFamily="34" charset="0"/>
                <a:ea typeface="Calibri" pitchFamily="34" charset="-122"/>
                <a:cs typeface="Calibri" pitchFamily="34" charset="-120"/>
              </a:rPr>
              <a:t>Persistence by workload — never by fashion</a:t>
            </a:r>
            <a:endParaRPr lang="en-US" sz="1350" dirty="0"/>
          </a:p>
        </p:txBody>
      </p:sp>
      <p:pic>
        <p:nvPicPr>
          <p:cNvPr id="20" name="Image 3" descr="preencoded.png">    </p:cNvPr>
          <p:cNvPicPr>
            <a:picLocks noChangeAspect="1"/>
          </p:cNvPicPr>
          <p:nvPr/>
        </p:nvPicPr>
        <p:blipFill>
          <a:blip r:embed="rId4"/>
          <a:stretch>
            <a:fillRect/>
          </a:stretch>
        </p:blipFill>
        <p:spPr>
          <a:xfrm>
            <a:off x="4864608" y="1828800"/>
            <a:ext cx="274320" cy="274320"/>
          </a:xfrm>
          <a:prstGeom prst="rect">
            <a:avLst/>
          </a:prstGeom>
        </p:spPr>
      </p:pic>
      <p:sp>
        <p:nvSpPr>
          <p:cNvPr id="21" name="Text 15"/>
          <p:cNvSpPr/>
          <p:nvPr/>
        </p:nvSpPr>
        <p:spPr>
          <a:xfrm>
            <a:off x="5266944" y="1773936"/>
            <a:ext cx="3291840" cy="475488"/>
          </a:xfrm>
          <a:prstGeom prst="rect">
            <a:avLst/>
          </a:prstGeom>
          <a:noFill/>
          <a:ln/>
        </p:spPr>
        <p:txBody>
          <a:bodyPr wrap="square" lIns="0" tIns="0" rIns="0" bIns="0" rtlCol="0" anchor="ctr"/>
          <a:lstStyle/>
          <a:p>
            <a:pPr indent="0" marL="0">
              <a:buNone/>
            </a:pPr>
            <a:r>
              <a:rPr lang="en-US" sz="960" dirty="0">
                <a:solidFill>
                  <a:srgbClr val="1F2A38"/>
                </a:solidFill>
                <a:latin typeface="Calibri" pitchFamily="34" charset="0"/>
                <a:ea typeface="Calibri" pitchFamily="34" charset="-122"/>
                <a:cs typeface="Calibri" pitchFamily="34" charset="-120"/>
              </a:rPr>
              <a:t>Postgres — transactional core. Finishes the migration your team already started, behind query-parity gates.</a:t>
            </a:r>
            <a:endParaRPr lang="en-US" sz="960" dirty="0"/>
          </a:p>
        </p:txBody>
      </p:sp>
      <p:pic>
        <p:nvPicPr>
          <p:cNvPr id="22" name="Image 4" descr="preencoded.png">    </p:cNvPr>
          <p:cNvPicPr>
            <a:picLocks noChangeAspect="1"/>
          </p:cNvPicPr>
          <p:nvPr/>
        </p:nvPicPr>
        <p:blipFill>
          <a:blip r:embed="rId5"/>
          <a:stretch>
            <a:fillRect/>
          </a:stretch>
        </p:blipFill>
        <p:spPr>
          <a:xfrm>
            <a:off x="4864608" y="2331720"/>
            <a:ext cx="274320" cy="274320"/>
          </a:xfrm>
          <a:prstGeom prst="rect">
            <a:avLst/>
          </a:prstGeom>
        </p:spPr>
      </p:pic>
      <p:sp>
        <p:nvSpPr>
          <p:cNvPr id="23" name="Text 16"/>
          <p:cNvSpPr/>
          <p:nvPr/>
        </p:nvSpPr>
        <p:spPr>
          <a:xfrm>
            <a:off x="5266944" y="2276856"/>
            <a:ext cx="3291840" cy="475488"/>
          </a:xfrm>
          <a:prstGeom prst="rect">
            <a:avLst/>
          </a:prstGeom>
          <a:noFill/>
          <a:ln/>
        </p:spPr>
        <p:txBody>
          <a:bodyPr wrap="square" lIns="0" tIns="0" rIns="0" bIns="0" rtlCol="0" anchor="ctr"/>
          <a:lstStyle/>
          <a:p>
            <a:pPr indent="0" marL="0">
              <a:buNone/>
            </a:pPr>
            <a:r>
              <a:rPr lang="en-US" sz="960" dirty="0">
                <a:solidFill>
                  <a:srgbClr val="1F2A38"/>
                </a:solidFill>
                <a:latin typeface="Calibri" pitchFamily="34" charset="0"/>
                <a:ea typeface="Calibri" pitchFamily="34" charset="-122"/>
                <a:cs typeface="Calibri" pitchFamily="34" charset="-120"/>
              </a:rPr>
              <a:t>Graph — composition, ontology, GraphRAG. Start inside Postgres (AGE + pgvector); graduate only past ADR thresholds.</a:t>
            </a:r>
            <a:endParaRPr lang="en-US" sz="960" dirty="0"/>
          </a:p>
        </p:txBody>
      </p:sp>
      <p:pic>
        <p:nvPicPr>
          <p:cNvPr id="24" name="Image 5" descr="preencoded.png">    </p:cNvPr>
          <p:cNvPicPr>
            <a:picLocks noChangeAspect="1"/>
          </p:cNvPicPr>
          <p:nvPr/>
        </p:nvPicPr>
        <p:blipFill>
          <a:blip r:embed="rId6"/>
          <a:stretch>
            <a:fillRect/>
          </a:stretch>
        </p:blipFill>
        <p:spPr>
          <a:xfrm>
            <a:off x="4864608" y="2834640"/>
            <a:ext cx="274320" cy="274320"/>
          </a:xfrm>
          <a:prstGeom prst="rect">
            <a:avLst/>
          </a:prstGeom>
        </p:spPr>
      </p:pic>
      <p:sp>
        <p:nvSpPr>
          <p:cNvPr id="25" name="Text 17"/>
          <p:cNvSpPr/>
          <p:nvPr/>
        </p:nvSpPr>
        <p:spPr>
          <a:xfrm>
            <a:off x="5266944" y="2779776"/>
            <a:ext cx="3291840" cy="475488"/>
          </a:xfrm>
          <a:prstGeom prst="rect">
            <a:avLst/>
          </a:prstGeom>
          <a:noFill/>
          <a:ln/>
        </p:spPr>
        <p:txBody>
          <a:bodyPr wrap="square" lIns="0" tIns="0" rIns="0" bIns="0" rtlCol="0" anchor="ctr"/>
          <a:lstStyle/>
          <a:p>
            <a:pPr indent="0" marL="0">
              <a:buNone/>
            </a:pPr>
            <a:r>
              <a:rPr lang="en-US" sz="960" dirty="0">
                <a:solidFill>
                  <a:srgbClr val="1F2A38"/>
                </a:solidFill>
                <a:latin typeface="Calibri" pitchFamily="34" charset="0"/>
                <a:ea typeface="Calibri" pitchFamily="34" charset="-122"/>
                <a:cs typeface="Calibri" pitchFamily="34" charset="-120"/>
              </a:rPr>
              <a:t>Object store — geometry &amp; BIM artifacts by reference, never embedded in app state.</a:t>
            </a:r>
            <a:endParaRPr lang="en-US" sz="960" dirty="0"/>
          </a:p>
        </p:txBody>
      </p:sp>
      <p:pic>
        <p:nvPicPr>
          <p:cNvPr id="26" name="Image 6" descr="preencoded.png">    </p:cNvPr>
          <p:cNvPicPr>
            <a:picLocks noChangeAspect="1"/>
          </p:cNvPicPr>
          <p:nvPr/>
        </p:nvPicPr>
        <p:blipFill>
          <a:blip r:embed="rId7"/>
          <a:stretch>
            <a:fillRect/>
          </a:stretch>
        </p:blipFill>
        <p:spPr>
          <a:xfrm>
            <a:off x="4864608" y="3337560"/>
            <a:ext cx="274320" cy="274320"/>
          </a:xfrm>
          <a:prstGeom prst="rect">
            <a:avLst/>
          </a:prstGeom>
        </p:spPr>
      </p:pic>
      <p:sp>
        <p:nvSpPr>
          <p:cNvPr id="27" name="Text 18"/>
          <p:cNvSpPr/>
          <p:nvPr/>
        </p:nvSpPr>
        <p:spPr>
          <a:xfrm>
            <a:off x="5266944" y="3282696"/>
            <a:ext cx="3291840" cy="475488"/>
          </a:xfrm>
          <a:prstGeom prst="rect">
            <a:avLst/>
          </a:prstGeom>
          <a:noFill/>
          <a:ln/>
        </p:spPr>
        <p:txBody>
          <a:bodyPr wrap="square" lIns="0" tIns="0" rIns="0" bIns="0" rtlCol="0" anchor="ctr"/>
          <a:lstStyle/>
          <a:p>
            <a:pPr indent="0" marL="0">
              <a:buNone/>
            </a:pPr>
            <a:r>
              <a:rPr lang="en-US" sz="960" dirty="0">
                <a:solidFill>
                  <a:srgbClr val="1F2A38"/>
                </a:solidFill>
                <a:latin typeface="Calibri" pitchFamily="34" charset="0"/>
                <a:ea typeface="Calibri" pitchFamily="34" charset="-122"/>
                <a:cs typeface="Calibri" pitchFamily="34" charset="-120"/>
              </a:rPr>
              <a:t>Time-series — operational telemetry, added when the ops loop lands.</a:t>
            </a:r>
            <a:endParaRPr lang="en-US" sz="960" dirty="0"/>
          </a:p>
        </p:txBody>
      </p:sp>
      <p:pic>
        <p:nvPicPr>
          <p:cNvPr id="28" name="Image 7" descr="preencoded.png">    </p:cNvPr>
          <p:cNvPicPr>
            <a:picLocks noChangeAspect="1"/>
          </p:cNvPicPr>
          <p:nvPr/>
        </p:nvPicPr>
        <p:blipFill>
          <a:blip r:embed="rId8"/>
          <a:stretch>
            <a:fillRect/>
          </a:stretch>
        </p:blipFill>
        <p:spPr>
          <a:xfrm>
            <a:off x="4864608" y="3840480"/>
            <a:ext cx="274320" cy="274320"/>
          </a:xfrm>
          <a:prstGeom prst="rect">
            <a:avLst/>
          </a:prstGeom>
        </p:spPr>
      </p:pic>
      <p:sp>
        <p:nvSpPr>
          <p:cNvPr id="29" name="Text 19"/>
          <p:cNvSpPr/>
          <p:nvPr/>
        </p:nvSpPr>
        <p:spPr>
          <a:xfrm>
            <a:off x="5266944" y="3785616"/>
            <a:ext cx="3291840" cy="475488"/>
          </a:xfrm>
          <a:prstGeom prst="rect">
            <a:avLst/>
          </a:prstGeom>
          <a:noFill/>
          <a:ln/>
        </p:spPr>
        <p:txBody>
          <a:bodyPr wrap="square" lIns="0" tIns="0" rIns="0" bIns="0" rtlCol="0" anchor="ctr"/>
          <a:lstStyle/>
          <a:p>
            <a:pPr indent="0" marL="0">
              <a:buNone/>
            </a:pPr>
            <a:r>
              <a:rPr lang="en-US" sz="960" dirty="0">
                <a:solidFill>
                  <a:srgbClr val="1F2A38"/>
                </a:solidFill>
                <a:latin typeface="Calibri" pitchFamily="34" charset="0"/>
                <a:ea typeface="Calibri" pitchFamily="34" charset="-122"/>
                <a:cs typeface="Calibri" pitchFamily="34" charset="-120"/>
              </a:rPr>
              <a:t>Databricks / Delta — analytics &amp; ML plane, fed by CDC. No dual writes, no big-bang migration.</a:t>
            </a:r>
            <a:endParaRPr lang="en-US" sz="960" dirty="0"/>
          </a:p>
        </p:txBody>
      </p:sp>
      <p:sp>
        <p:nvSpPr>
          <p:cNvPr id="30" name="Text 20"/>
          <p:cNvSpPr/>
          <p:nvPr/>
        </p:nvSpPr>
        <p:spPr>
          <a:xfrm>
            <a:off x="457200" y="4498848"/>
            <a:ext cx="8229600" cy="274320"/>
          </a:xfrm>
          <a:prstGeom prst="rect">
            <a:avLst/>
          </a:prstGeom>
          <a:noFill/>
          <a:ln/>
        </p:spPr>
        <p:txBody>
          <a:bodyPr wrap="square" lIns="0" tIns="0" rIns="0" bIns="0" rtlCol="0" anchor="ctr"/>
          <a:lstStyle/>
          <a:p>
            <a:pPr indent="0" marL="0">
              <a:buNone/>
            </a:pPr>
            <a:r>
              <a:rPr lang="en-US" sz="1100" i="1" dirty="0">
                <a:solidFill>
                  <a:srgbClr val="5B6B7E"/>
                </a:solidFill>
                <a:latin typeface="Calibri" pitchFamily="34" charset="0"/>
                <a:ea typeface="Calibri" pitchFamily="34" charset="-122"/>
                <a:cs typeface="Calibri" pitchFamily="34" charset="-120"/>
              </a:rPr>
              <a:t>Strangler execution: every new capability reads and writes through the Twin API; legacy tables retire domain by domain.</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92608"/>
            <a:ext cx="8229600" cy="274320"/>
          </a:xfrm>
          <a:prstGeom prst="rect">
            <a:avLst/>
          </a:prstGeom>
          <a:noFill/>
          <a:ln/>
        </p:spPr>
        <p:txBody>
          <a:bodyPr wrap="square" lIns="0" tIns="0" rIns="0" bIns="0" rtlCol="0" anchor="ctr"/>
          <a:lstStyle/>
          <a:p>
            <a:pPr indent="0" marL="0">
              <a:buNone/>
            </a:pPr>
            <a:r>
              <a:rPr lang="en-US" sz="1050" b="1" spc="200" kern="0" dirty="0">
                <a:solidFill>
                  <a:srgbClr val="C78F0D"/>
                </a:solidFill>
                <a:latin typeface="Calibri" pitchFamily="34" charset="0"/>
                <a:ea typeface="Calibri" pitchFamily="34" charset="-122"/>
                <a:cs typeface="Calibri" pitchFamily="34" charset="-120"/>
              </a:rPr>
              <a:t>TRACK 1 · DEEP DIVE</a:t>
            </a:r>
            <a:endParaRPr lang="en-US" sz="1050" dirty="0"/>
          </a:p>
        </p:txBody>
      </p:sp>
      <p:sp>
        <p:nvSpPr>
          <p:cNvPr id="3" name="Text 1"/>
          <p:cNvSpPr/>
          <p:nvPr/>
        </p:nvSpPr>
        <p:spPr>
          <a:xfrm>
            <a:off x="457200" y="530352"/>
            <a:ext cx="8229600" cy="566928"/>
          </a:xfrm>
          <a:prstGeom prst="rect">
            <a:avLst/>
          </a:prstGeom>
          <a:noFill/>
          <a:ln/>
        </p:spPr>
        <p:txBody>
          <a:bodyPr wrap="square" lIns="0" tIns="0" rIns="0" bIns="0" rtlCol="0" anchor="ctr"/>
          <a:lstStyle/>
          <a:p>
            <a:pPr indent="0" marL="0">
              <a:buNone/>
            </a:pPr>
            <a:r>
              <a:rPr lang="en-US" sz="2800" b="1" dirty="0">
                <a:solidFill>
                  <a:srgbClr val="16263F"/>
                </a:solidFill>
                <a:latin typeface="Cambria" pitchFamily="34" charset="0"/>
                <a:ea typeface="Cambria" pitchFamily="34" charset="-122"/>
                <a:cs typeface="Cambria" pitchFamily="34" charset="-120"/>
              </a:rPr>
              <a:t>Unity: from suspicion to a managed decision</a:t>
            </a:r>
            <a:endParaRPr lang="en-US" sz="2800" dirty="0"/>
          </a:p>
        </p:txBody>
      </p:sp>
      <p:sp>
        <p:nvSpPr>
          <p:cNvPr id="4" name="Shape 2"/>
          <p:cNvSpPr/>
          <p:nvPr/>
        </p:nvSpPr>
        <p:spPr>
          <a:xfrm>
            <a:off x="457200" y="1280160"/>
            <a:ext cx="4041648" cy="3108960"/>
          </a:xfrm>
          <a:prstGeom prst="roundRect">
            <a:avLst>
              <a:gd name="adj" fmla="val 1765"/>
            </a:avLst>
          </a:prstGeom>
          <a:solidFill>
            <a:srgbClr val="F3F6FA"/>
          </a:solidFill>
          <a:ln/>
          <a:effectLst>
            <a:outerShdw sx="100000" sy="100000" kx="0" ky="0" algn="bl" rotWithShape="0" blurRad="88900" dist="25400" dir="2700000">
              <a:srgbClr val="000000">
                <a:alpha val="14000"/>
              </a:srgbClr>
            </a:outerShdw>
          </a:effectLst>
        </p:spPr>
      </p:sp>
      <p:sp>
        <p:nvSpPr>
          <p:cNvPr id="5" name="Shape 3"/>
          <p:cNvSpPr/>
          <p:nvPr/>
        </p:nvSpPr>
        <p:spPr>
          <a:xfrm>
            <a:off x="658368" y="1444752"/>
            <a:ext cx="420624" cy="420624"/>
          </a:xfrm>
          <a:prstGeom prst="ellipse">
            <a:avLst/>
          </a:prstGeom>
          <a:solidFill>
            <a:srgbClr val="16263F"/>
          </a:solidFill>
          <a:ln/>
        </p:spPr>
      </p:sp>
      <p:pic>
        <p:nvPicPr>
          <p:cNvPr id="6" name="Image 0" descr="preencoded.png">    </p:cNvPr>
          <p:cNvPicPr>
            <a:picLocks noChangeAspect="1"/>
          </p:cNvPicPr>
          <p:nvPr/>
        </p:nvPicPr>
        <p:blipFill>
          <a:blip r:embed="rId1"/>
          <a:stretch>
            <a:fillRect/>
          </a:stretch>
        </p:blipFill>
        <p:spPr>
          <a:xfrm>
            <a:off x="767730" y="1554114"/>
            <a:ext cx="201900" cy="201900"/>
          </a:xfrm>
          <a:prstGeom prst="rect">
            <a:avLst/>
          </a:prstGeom>
        </p:spPr>
      </p:pic>
      <p:sp>
        <p:nvSpPr>
          <p:cNvPr id="7" name="Text 4"/>
          <p:cNvSpPr/>
          <p:nvPr/>
        </p:nvSpPr>
        <p:spPr>
          <a:xfrm>
            <a:off x="1188720" y="1481328"/>
            <a:ext cx="3108960" cy="365760"/>
          </a:xfrm>
          <a:prstGeom prst="rect">
            <a:avLst/>
          </a:prstGeom>
          <a:noFill/>
          <a:ln/>
        </p:spPr>
        <p:txBody>
          <a:bodyPr wrap="square" lIns="0" tIns="0" rIns="0" bIns="0" rtlCol="0" anchor="ctr"/>
          <a:lstStyle/>
          <a:p>
            <a:pPr indent="0" marL="0">
              <a:buNone/>
            </a:pPr>
            <a:r>
              <a:rPr lang="en-US" sz="1350" b="1" dirty="0">
                <a:solidFill>
                  <a:srgbClr val="16263F"/>
                </a:solidFill>
                <a:latin typeface="Calibri" pitchFamily="34" charset="0"/>
                <a:ea typeface="Calibri" pitchFamily="34" charset="-122"/>
                <a:cs typeface="Calibri" pitchFamily="34" charset="-120"/>
              </a:rPr>
              <a:t>Re-scope — don't rip out</a:t>
            </a:r>
            <a:endParaRPr lang="en-US" sz="1350" dirty="0"/>
          </a:p>
        </p:txBody>
      </p:sp>
      <p:sp>
        <p:nvSpPr>
          <p:cNvPr id="8" name="Text 5"/>
          <p:cNvSpPr/>
          <p:nvPr/>
        </p:nvSpPr>
        <p:spPr>
          <a:xfrm>
            <a:off x="676656" y="2011680"/>
            <a:ext cx="3611880" cy="2240280"/>
          </a:xfrm>
          <a:prstGeom prst="rect">
            <a:avLst/>
          </a:prstGeom>
          <a:noFill/>
          <a:ln/>
        </p:spPr>
        <p:txBody>
          <a:bodyPr wrap="square" lIns="0" tIns="0" rIns="0" bIns="0" rtlCol="0" anchor="ctr"/>
          <a:lstStyle/>
          <a:p>
            <a:pPr indent="0" marL="0">
              <a:buNone/>
            </a:pPr>
            <a:r>
              <a:rPr lang="en-US" sz="1080" dirty="0">
                <a:solidFill>
                  <a:srgbClr val="1F2A38"/>
                </a:solidFill>
                <a:latin typeface="Calibri" pitchFamily="34" charset="0"/>
                <a:ea typeface="Calibri" pitchFamily="34" charset="-122"/>
                <a:cs typeface="Calibri" pitchFamily="34" charset="-120"/>
              </a:rPr>
              <a:t>Unity keeps what it's best at: high-fidelity authoring, 3D composition, and XR design reviews — skills already in the pod.</a:t>
            </a:r>
            <a:endParaRPr lang="en-US" sz="1080" dirty="0"/>
          </a:p>
          <a:p>
            <a:pPr indent="0" marL="0">
              <a:buNone/>
            </a:pPr>
            <a:endParaRPr lang="en-US" sz="1080" dirty="0"/>
          </a:p>
          <a:p>
            <a:pPr indent="0" marL="0">
              <a:buNone/>
            </a:pPr>
            <a:r>
              <a:rPr lang="en-US" sz="1080" dirty="0">
                <a:solidFill>
                  <a:srgbClr val="1F2A38"/>
                </a:solidFill>
                <a:latin typeface="Calibri" pitchFamily="34" charset="0"/>
                <a:ea typeface="Calibri" pitchFamily="34" charset="-122"/>
                <a:cs typeface="Calibri" pitchFamily="34" charset="-120"/>
              </a:rPr>
              <a:t>All state, rules, and business logic move behind the Twin API. Unity becomes a thin, swappable view over a versioned payload contract.</a:t>
            </a:r>
            <a:endParaRPr lang="en-US" sz="1080" dirty="0"/>
          </a:p>
          <a:p>
            <a:pPr indent="0" marL="0">
              <a:buNone/>
            </a:pPr>
            <a:endParaRPr lang="en-US" sz="1080" dirty="0"/>
          </a:p>
          <a:p>
            <a:pPr indent="0" marL="0">
              <a:buNone/>
            </a:pPr>
            <a:r>
              <a:rPr lang="en-US" sz="1080" dirty="0">
                <a:solidFill>
                  <a:srgbClr val="1F2A38"/>
                </a:solidFill>
                <a:latin typeface="Calibri" pitchFamily="34" charset="0"/>
                <a:ea typeface="Calibri" pitchFamily="34" charset="-122"/>
                <a:cs typeface="Calibri" pitchFamily="34" charset="-120"/>
              </a:rPr>
              <a:t>A lightweight web track (Angular + glTF viewer, same API) serves the ~80% of users who view, assign, and approve — not author.</a:t>
            </a:r>
            <a:endParaRPr lang="en-US" sz="1080" dirty="0"/>
          </a:p>
        </p:txBody>
      </p:sp>
      <p:sp>
        <p:nvSpPr>
          <p:cNvPr id="9" name="Shape 6"/>
          <p:cNvSpPr/>
          <p:nvPr/>
        </p:nvSpPr>
        <p:spPr>
          <a:xfrm>
            <a:off x="4645152" y="1280160"/>
            <a:ext cx="4041648" cy="3108960"/>
          </a:xfrm>
          <a:prstGeom prst="roundRect">
            <a:avLst>
              <a:gd name="adj" fmla="val 1765"/>
            </a:avLst>
          </a:prstGeom>
          <a:solidFill>
            <a:srgbClr val="FBF2DC"/>
          </a:solidFill>
          <a:ln/>
          <a:effectLst>
            <a:outerShdw sx="100000" sy="100000" kx="0" ky="0" algn="bl" rotWithShape="0" blurRad="88900" dist="25400" dir="2700000">
              <a:srgbClr val="000000">
                <a:alpha val="14000"/>
              </a:srgbClr>
            </a:outerShdw>
          </a:effectLst>
        </p:spPr>
      </p:sp>
      <p:sp>
        <p:nvSpPr>
          <p:cNvPr id="10" name="Shape 7"/>
          <p:cNvSpPr/>
          <p:nvPr/>
        </p:nvSpPr>
        <p:spPr>
          <a:xfrm>
            <a:off x="4846320" y="1444752"/>
            <a:ext cx="420624" cy="420624"/>
          </a:xfrm>
          <a:prstGeom prst="ellipse">
            <a:avLst/>
          </a:prstGeom>
          <a:solidFill>
            <a:srgbClr val="E8A816"/>
          </a:solidFill>
          <a:ln/>
        </p:spPr>
      </p:sp>
      <p:pic>
        <p:nvPicPr>
          <p:cNvPr id="11" name="Image 1" descr="preencoded.png">    </p:cNvPr>
          <p:cNvPicPr>
            <a:picLocks noChangeAspect="1"/>
          </p:cNvPicPr>
          <p:nvPr/>
        </p:nvPicPr>
        <p:blipFill>
          <a:blip r:embed="rId2"/>
          <a:stretch>
            <a:fillRect/>
          </a:stretch>
        </p:blipFill>
        <p:spPr>
          <a:xfrm>
            <a:off x="4955682" y="1554114"/>
            <a:ext cx="201900" cy="201900"/>
          </a:xfrm>
          <a:prstGeom prst="rect">
            <a:avLst/>
          </a:prstGeom>
        </p:spPr>
      </p:pic>
      <p:sp>
        <p:nvSpPr>
          <p:cNvPr id="12" name="Text 8"/>
          <p:cNvSpPr/>
          <p:nvPr/>
        </p:nvSpPr>
        <p:spPr>
          <a:xfrm>
            <a:off x="5376672" y="1481328"/>
            <a:ext cx="3108960" cy="365760"/>
          </a:xfrm>
          <a:prstGeom prst="rect">
            <a:avLst/>
          </a:prstGeom>
          <a:noFill/>
          <a:ln/>
        </p:spPr>
        <p:txBody>
          <a:bodyPr wrap="square" lIns="0" tIns="0" rIns="0" bIns="0" rtlCol="0" anchor="ctr"/>
          <a:lstStyle/>
          <a:p>
            <a:pPr indent="0" marL="0">
              <a:buNone/>
            </a:pPr>
            <a:r>
              <a:rPr lang="en-US" sz="1350" b="1" dirty="0">
                <a:solidFill>
                  <a:srgbClr val="16263F"/>
                </a:solidFill>
                <a:latin typeface="Calibri" pitchFamily="34" charset="0"/>
                <a:ea typeface="Calibri" pitchFamily="34" charset="-122"/>
                <a:cs typeface="Calibri" pitchFamily="34" charset="-120"/>
              </a:rPr>
              <a:t>A 2-week spike → an ADR</a:t>
            </a:r>
            <a:endParaRPr lang="en-US" sz="1350" dirty="0"/>
          </a:p>
        </p:txBody>
      </p:sp>
      <p:sp>
        <p:nvSpPr>
          <p:cNvPr id="13" name="Text 9"/>
          <p:cNvSpPr/>
          <p:nvPr/>
        </p:nvSpPr>
        <p:spPr>
          <a:xfrm>
            <a:off x="4864608" y="2011680"/>
            <a:ext cx="3611880" cy="1645920"/>
          </a:xfrm>
          <a:prstGeom prst="rect">
            <a:avLst/>
          </a:prstGeom>
          <a:noFill/>
          <a:ln/>
        </p:spPr>
        <p:txBody>
          <a:bodyPr wrap="square" lIns="0" tIns="0" rIns="0" bIns="0" rtlCol="0" anchor="ctr"/>
          <a:lstStyle/>
          <a:p>
            <a:pPr marL="342900" indent="-342900">
              <a:spcAft>
                <a:spcPts val="500"/>
              </a:spcAft>
              <a:buSzPct val="100000"/>
              <a:buChar char="•"/>
            </a:pPr>
            <a:r>
              <a:rPr lang="en-US" sz="1080" dirty="0">
                <a:solidFill>
                  <a:srgbClr val="1F2A38"/>
                </a:solidFill>
                <a:latin typeface="Calibri" pitchFamily="34" charset="0"/>
                <a:ea typeface="Calibri" pitchFamily="34" charset="-122"/>
                <a:cs typeface="Calibri" pitchFamily="34" charset="-120"/>
              </a:rPr>
              <a:t>Hospital-scale scene against an agreed poly / draw-call budget</a:t>
            </a:r>
            <a:endParaRPr lang="en-US" sz="1080" dirty="0"/>
          </a:p>
          <a:p>
            <a:pPr marL="342900" indent="-342900">
              <a:spcAft>
                <a:spcPts val="500"/>
              </a:spcAft>
              <a:buSzPct val="100000"/>
              <a:buChar char="•"/>
            </a:pPr>
            <a:r>
              <a:rPr lang="en-US" sz="1080" dirty="0">
                <a:solidFill>
                  <a:srgbClr val="1F2A38"/>
                </a:solidFill>
                <a:latin typeface="Calibri" pitchFamily="34" charset="0"/>
                <a:ea typeface="Calibri" pitchFamily="34" charset="-122"/>
                <a:cs typeface="Calibri" pitchFamily="34" charset="-120"/>
              </a:rPr>
              <a:t>Cold-load time and memory ceilings</a:t>
            </a:r>
            <a:endParaRPr lang="en-US" sz="1080" dirty="0"/>
          </a:p>
          <a:p>
            <a:pPr marL="342900" indent="-342900">
              <a:spcAft>
                <a:spcPts val="500"/>
              </a:spcAft>
              <a:buSzPct val="100000"/>
              <a:buChar char="•"/>
            </a:pPr>
            <a:r>
              <a:rPr lang="en-US" sz="1080" dirty="0">
                <a:solidFill>
                  <a:srgbClr val="1F2A38"/>
                </a:solidFill>
                <a:latin typeface="Calibri" pitchFamily="34" charset="0"/>
                <a:ea typeface="Calibri" pitchFamily="34" charset="-122"/>
                <a:cs typeface="Calibri" pitchFamily="34" charset="-120"/>
              </a:rPr>
              <a:t>Concurrent-edit synchronization</a:t>
            </a:r>
            <a:endParaRPr lang="en-US" sz="1080" dirty="0"/>
          </a:p>
          <a:p>
            <a:pPr marL="342900" indent="-342900">
              <a:spcAft>
                <a:spcPts val="500"/>
              </a:spcAft>
              <a:buSzPct val="100000"/>
              <a:buChar char="•"/>
            </a:pPr>
            <a:r>
              <a:rPr lang="en-US" sz="1080" dirty="0">
                <a:solidFill>
                  <a:srgbClr val="1F2A38"/>
                </a:solidFill>
                <a:latin typeface="Calibri" pitchFamily="34" charset="0"/>
                <a:ea typeface="Calibri" pitchFamily="34" charset="-122"/>
                <a:cs typeface="Calibri" pitchFamily="34" charset="-120"/>
              </a:rPr>
              <a:t>WebGL / streaming viability for browser access</a:t>
            </a:r>
            <a:endParaRPr lang="en-US" sz="1080" dirty="0"/>
          </a:p>
          <a:p>
            <a:pPr marL="342900" indent="-342900">
              <a:spcAft>
                <a:spcPts val="500"/>
              </a:spcAft>
              <a:buSzPct val="100000"/>
              <a:buChar char="•"/>
            </a:pPr>
            <a:r>
              <a:rPr lang="en-US" sz="1080" dirty="0">
                <a:solidFill>
                  <a:srgbClr val="1F2A38"/>
                </a:solidFill>
                <a:latin typeface="Calibri" pitchFamily="34" charset="0"/>
                <a:ea typeface="Calibri" pitchFamily="34" charset="-122"/>
                <a:cs typeface="Calibri" pitchFamily="34" charset="-120"/>
              </a:rPr>
              <a:t>License cost per seat; UE5 assessed via paper evaluation — not built in the timebox</a:t>
            </a:r>
            <a:endParaRPr lang="en-US" sz="1080" dirty="0"/>
          </a:p>
        </p:txBody>
      </p:sp>
      <p:sp>
        <p:nvSpPr>
          <p:cNvPr id="14" name="Text 10"/>
          <p:cNvSpPr/>
          <p:nvPr/>
        </p:nvSpPr>
        <p:spPr>
          <a:xfrm>
            <a:off x="4864608" y="3803904"/>
            <a:ext cx="3611880" cy="457200"/>
          </a:xfrm>
          <a:prstGeom prst="rect">
            <a:avLst/>
          </a:prstGeom>
          <a:noFill/>
          <a:ln/>
        </p:spPr>
        <p:txBody>
          <a:bodyPr wrap="square" lIns="0" tIns="0" rIns="0" bIns="0" rtlCol="0" anchor="ctr"/>
          <a:lstStyle/>
          <a:p>
            <a:pPr indent="0" marL="0">
              <a:buNone/>
            </a:pPr>
            <a:r>
              <a:rPr lang="en-US" sz="1080" b="1" i="1" dirty="0">
                <a:solidFill>
                  <a:srgbClr val="C78F0D"/>
                </a:solidFill>
                <a:latin typeface="Calibri" pitchFamily="34" charset="0"/>
                <a:ea typeface="Calibri" pitchFamily="34" charset="-122"/>
                <a:cs typeface="Calibri" pitchFamily="34" charset="-120"/>
              </a:rPr>
              <a:t>Hypotheses become evidence. The decision is recorded — with a revisit date.</a:t>
            </a:r>
            <a:endParaRPr lang="en-US" sz="1080" dirty="0"/>
          </a:p>
        </p:txBody>
      </p:sp>
      <p:sp>
        <p:nvSpPr>
          <p:cNvPr id="15" name="Text 11"/>
          <p:cNvSpPr/>
          <p:nvPr/>
        </p:nvSpPr>
        <p:spPr>
          <a:xfrm>
            <a:off x="457200" y="4553712"/>
            <a:ext cx="8229600" cy="274320"/>
          </a:xfrm>
          <a:prstGeom prst="rect">
            <a:avLst/>
          </a:prstGeom>
          <a:noFill/>
          <a:ln/>
        </p:spPr>
        <p:txBody>
          <a:bodyPr wrap="square" lIns="0" tIns="0" rIns="0" bIns="0" rtlCol="0" anchor="ctr"/>
          <a:lstStyle/>
          <a:p>
            <a:pPr indent="0" marL="0">
              <a:buNone/>
            </a:pPr>
            <a:r>
              <a:rPr lang="en-US" sz="1150" i="1" dirty="0">
                <a:solidFill>
                  <a:srgbClr val="5B6B7E"/>
                </a:solidFill>
                <a:latin typeface="Calibri" pitchFamily="34" charset="0"/>
                <a:ea typeface="Calibri" pitchFamily="34" charset="-122"/>
                <a:cs typeface="Calibri" pitchFamily="34" charset="-120"/>
              </a:rPr>
              <a:t>The Unity question stops being a bet and becomes a gate we both sign.</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92608"/>
            <a:ext cx="8229600" cy="274320"/>
          </a:xfrm>
          <a:prstGeom prst="rect">
            <a:avLst/>
          </a:prstGeom>
          <a:noFill/>
          <a:ln/>
        </p:spPr>
        <p:txBody>
          <a:bodyPr wrap="square" lIns="0" tIns="0" rIns="0" bIns="0" rtlCol="0" anchor="ctr"/>
          <a:lstStyle/>
          <a:p>
            <a:pPr indent="0" marL="0">
              <a:buNone/>
            </a:pPr>
            <a:r>
              <a:rPr lang="en-US" sz="1050" b="1" spc="200" kern="0" dirty="0">
                <a:solidFill>
                  <a:srgbClr val="C78F0D"/>
                </a:solidFill>
                <a:latin typeface="Calibri" pitchFamily="34" charset="0"/>
                <a:ea typeface="Calibri" pitchFamily="34" charset="-122"/>
                <a:cs typeface="Calibri" pitchFamily="34" charset="-120"/>
              </a:rPr>
              <a:t>TRACK 2 · EXECUTION DISCIPLINES</a:t>
            </a:r>
            <a:endParaRPr lang="en-US" sz="1050" dirty="0"/>
          </a:p>
        </p:txBody>
      </p:sp>
      <p:sp>
        <p:nvSpPr>
          <p:cNvPr id="3" name="Text 1"/>
          <p:cNvSpPr/>
          <p:nvPr/>
        </p:nvSpPr>
        <p:spPr>
          <a:xfrm>
            <a:off x="457200" y="530352"/>
            <a:ext cx="8229600" cy="566928"/>
          </a:xfrm>
          <a:prstGeom prst="rect">
            <a:avLst/>
          </a:prstGeom>
          <a:noFill/>
          <a:ln/>
        </p:spPr>
        <p:txBody>
          <a:bodyPr wrap="square" lIns="0" tIns="0" rIns="0" bIns="0" rtlCol="0" anchor="ctr"/>
          <a:lstStyle/>
          <a:p>
            <a:pPr indent="0" marL="0">
              <a:buNone/>
            </a:pPr>
            <a:r>
              <a:rPr lang="en-US" sz="2800" b="1" dirty="0">
                <a:solidFill>
                  <a:srgbClr val="16263F"/>
                </a:solidFill>
                <a:latin typeface="Cambria" pitchFamily="34" charset="0"/>
                <a:ea typeface="Cambria" pitchFamily="34" charset="-122"/>
                <a:cs typeface="Cambria" pitchFamily="34" charset="-120"/>
              </a:rPr>
              <a:t>Your proposal, instantiated with hard gates</a:t>
            </a:r>
            <a:endParaRPr lang="en-US" sz="2800" dirty="0"/>
          </a:p>
        </p:txBody>
      </p:sp>
      <p:sp>
        <p:nvSpPr>
          <p:cNvPr id="4" name="Shape 2"/>
          <p:cNvSpPr/>
          <p:nvPr/>
        </p:nvSpPr>
        <p:spPr>
          <a:xfrm>
            <a:off x="457200" y="1298448"/>
            <a:ext cx="2624328" cy="1554480"/>
          </a:xfrm>
          <a:prstGeom prst="roundRect">
            <a:avLst>
              <a:gd name="adj" fmla="val 3529"/>
            </a:avLst>
          </a:prstGeom>
          <a:solidFill>
            <a:srgbClr val="F3F6FA"/>
          </a:solidFill>
          <a:ln/>
          <a:effectLst>
            <a:outerShdw sx="100000" sy="100000" kx="0" ky="0" algn="bl" rotWithShape="0" blurRad="88900" dist="25400" dir="2700000">
              <a:srgbClr val="000000">
                <a:alpha val="14000"/>
              </a:srgbClr>
            </a:outerShdw>
          </a:effectLst>
        </p:spPr>
      </p:sp>
      <p:sp>
        <p:nvSpPr>
          <p:cNvPr id="5" name="Shape 3"/>
          <p:cNvSpPr/>
          <p:nvPr/>
        </p:nvSpPr>
        <p:spPr>
          <a:xfrm>
            <a:off x="621792" y="1444752"/>
            <a:ext cx="384048" cy="384048"/>
          </a:xfrm>
          <a:prstGeom prst="ellipse">
            <a:avLst/>
          </a:prstGeom>
          <a:solidFill>
            <a:srgbClr val="16263F"/>
          </a:solidFill>
          <a:ln/>
        </p:spPr>
      </p:sp>
      <p:pic>
        <p:nvPicPr>
          <p:cNvPr id="6" name="Image 0" descr="preencoded.png">    </p:cNvPr>
          <p:cNvPicPr>
            <a:picLocks noChangeAspect="1"/>
          </p:cNvPicPr>
          <p:nvPr/>
        </p:nvPicPr>
        <p:blipFill>
          <a:blip r:embed="rId1"/>
          <a:stretch>
            <a:fillRect/>
          </a:stretch>
        </p:blipFill>
        <p:spPr>
          <a:xfrm>
            <a:off x="721644" y="1544604"/>
            <a:ext cx="184343" cy="184343"/>
          </a:xfrm>
          <a:prstGeom prst="rect">
            <a:avLst/>
          </a:prstGeom>
        </p:spPr>
      </p:pic>
      <p:sp>
        <p:nvSpPr>
          <p:cNvPr id="7" name="Text 4"/>
          <p:cNvSpPr/>
          <p:nvPr/>
        </p:nvSpPr>
        <p:spPr>
          <a:xfrm>
            <a:off x="1097280" y="1463040"/>
            <a:ext cx="1874520" cy="365760"/>
          </a:xfrm>
          <a:prstGeom prst="rect">
            <a:avLst/>
          </a:prstGeom>
          <a:noFill/>
          <a:ln/>
        </p:spPr>
        <p:txBody>
          <a:bodyPr wrap="square" lIns="0" tIns="0" rIns="0" bIns="0" rtlCol="0" anchor="ctr"/>
          <a:lstStyle/>
          <a:p>
            <a:pPr indent="0" marL="0">
              <a:buNone/>
            </a:pPr>
            <a:r>
              <a:rPr lang="en-US" sz="1150" b="1" dirty="0">
                <a:solidFill>
                  <a:srgbClr val="16263F"/>
                </a:solidFill>
                <a:latin typeface="Calibri" pitchFamily="34" charset="0"/>
                <a:ea typeface="Calibri" pitchFamily="34" charset="-122"/>
                <a:cs typeface="Calibri" pitchFamily="34" charset="-120"/>
              </a:rPr>
              <a:t>Ownership &amp; decisions</a:t>
            </a:r>
            <a:endParaRPr lang="en-US" sz="1150" dirty="0"/>
          </a:p>
        </p:txBody>
      </p:sp>
      <p:sp>
        <p:nvSpPr>
          <p:cNvPr id="8" name="Text 5"/>
          <p:cNvSpPr/>
          <p:nvPr/>
        </p:nvSpPr>
        <p:spPr>
          <a:xfrm>
            <a:off x="640080" y="1901952"/>
            <a:ext cx="2286000" cy="896112"/>
          </a:xfrm>
          <a:prstGeom prst="rect">
            <a:avLst/>
          </a:prstGeom>
          <a:noFill/>
          <a:ln/>
        </p:spPr>
        <p:txBody>
          <a:bodyPr wrap="square" lIns="0" tIns="0" rIns="0" bIns="0" rtlCol="0" anchor="ctr"/>
          <a:lstStyle/>
          <a:p>
            <a:pPr indent="0" marL="0">
              <a:buNone/>
            </a:pPr>
            <a:r>
              <a:rPr lang="en-US" sz="930" dirty="0">
                <a:solidFill>
                  <a:srgbClr val="1F2A38"/>
                </a:solidFill>
                <a:latin typeface="Calibri" pitchFamily="34" charset="0"/>
                <a:ea typeface="Calibri" pitchFamily="34" charset="-122"/>
                <a:cs typeface="Calibri" pitchFamily="34" charset="-120"/>
              </a:rPr>
              <a:t>One single-threaded technical owner; every architecture change lands as an ADR you sign. Decisions leave a record, not a meeting.</a:t>
            </a:r>
            <a:endParaRPr lang="en-US" sz="930" dirty="0"/>
          </a:p>
        </p:txBody>
      </p:sp>
      <p:sp>
        <p:nvSpPr>
          <p:cNvPr id="9" name="Shape 6"/>
          <p:cNvSpPr/>
          <p:nvPr/>
        </p:nvSpPr>
        <p:spPr>
          <a:xfrm>
            <a:off x="3264408" y="1298448"/>
            <a:ext cx="2624328" cy="1554480"/>
          </a:xfrm>
          <a:prstGeom prst="roundRect">
            <a:avLst>
              <a:gd name="adj" fmla="val 3529"/>
            </a:avLst>
          </a:prstGeom>
          <a:solidFill>
            <a:srgbClr val="F3F6FA"/>
          </a:solidFill>
          <a:ln/>
          <a:effectLst>
            <a:outerShdw sx="100000" sy="100000" kx="0" ky="0" algn="bl" rotWithShape="0" blurRad="88900" dist="25400" dir="2700000">
              <a:srgbClr val="000000">
                <a:alpha val="14000"/>
              </a:srgbClr>
            </a:outerShdw>
          </a:effectLst>
        </p:spPr>
      </p:sp>
      <p:sp>
        <p:nvSpPr>
          <p:cNvPr id="10" name="Shape 7"/>
          <p:cNvSpPr/>
          <p:nvPr/>
        </p:nvSpPr>
        <p:spPr>
          <a:xfrm>
            <a:off x="3429000" y="1444752"/>
            <a:ext cx="384048" cy="384048"/>
          </a:xfrm>
          <a:prstGeom prst="ellipse">
            <a:avLst/>
          </a:prstGeom>
          <a:solidFill>
            <a:srgbClr val="16263F"/>
          </a:solidFill>
          <a:ln/>
        </p:spPr>
      </p:sp>
      <p:pic>
        <p:nvPicPr>
          <p:cNvPr id="11" name="Image 1" descr="preencoded.png">    </p:cNvPr>
          <p:cNvPicPr>
            <a:picLocks noChangeAspect="1"/>
          </p:cNvPicPr>
          <p:nvPr/>
        </p:nvPicPr>
        <p:blipFill>
          <a:blip r:embed="rId2"/>
          <a:stretch>
            <a:fillRect/>
          </a:stretch>
        </p:blipFill>
        <p:spPr>
          <a:xfrm>
            <a:off x="3528852" y="1544604"/>
            <a:ext cx="184343" cy="184343"/>
          </a:xfrm>
          <a:prstGeom prst="rect">
            <a:avLst/>
          </a:prstGeom>
        </p:spPr>
      </p:pic>
      <p:sp>
        <p:nvSpPr>
          <p:cNvPr id="12" name="Text 8"/>
          <p:cNvSpPr/>
          <p:nvPr/>
        </p:nvSpPr>
        <p:spPr>
          <a:xfrm>
            <a:off x="3904488" y="1463040"/>
            <a:ext cx="1874520" cy="365760"/>
          </a:xfrm>
          <a:prstGeom prst="rect">
            <a:avLst/>
          </a:prstGeom>
          <a:noFill/>
          <a:ln/>
        </p:spPr>
        <p:txBody>
          <a:bodyPr wrap="square" lIns="0" tIns="0" rIns="0" bIns="0" rtlCol="0" anchor="ctr"/>
          <a:lstStyle/>
          <a:p>
            <a:pPr indent="0" marL="0">
              <a:buNone/>
            </a:pPr>
            <a:r>
              <a:rPr lang="en-US" sz="1150" b="1" dirty="0">
                <a:solidFill>
                  <a:srgbClr val="16263F"/>
                </a:solidFill>
                <a:latin typeface="Calibri" pitchFamily="34" charset="0"/>
                <a:ea typeface="Calibri" pitchFamily="34" charset="-122"/>
                <a:cs typeface="Calibri" pitchFamily="34" charset="-120"/>
              </a:rPr>
              <a:t>One backlog, one cadence</a:t>
            </a:r>
            <a:endParaRPr lang="en-US" sz="1150" dirty="0"/>
          </a:p>
        </p:txBody>
      </p:sp>
      <p:sp>
        <p:nvSpPr>
          <p:cNvPr id="13" name="Text 9"/>
          <p:cNvSpPr/>
          <p:nvPr/>
        </p:nvSpPr>
        <p:spPr>
          <a:xfrm>
            <a:off x="3447288" y="1901952"/>
            <a:ext cx="2286000" cy="896112"/>
          </a:xfrm>
          <a:prstGeom prst="rect">
            <a:avLst/>
          </a:prstGeom>
          <a:noFill/>
          <a:ln/>
        </p:spPr>
        <p:txBody>
          <a:bodyPr wrap="square" lIns="0" tIns="0" rIns="0" bIns="0" rtlCol="0" anchor="ctr"/>
          <a:lstStyle/>
          <a:p>
            <a:pPr indent="0" marL="0">
              <a:buNone/>
            </a:pPr>
            <a:r>
              <a:rPr lang="en-US" sz="930" dirty="0">
                <a:solidFill>
                  <a:srgbClr val="1F2A38"/>
                </a:solidFill>
                <a:latin typeface="Calibri" pitchFamily="34" charset="0"/>
                <a:ea typeface="Calibri" pitchFamily="34" charset="-122"/>
                <a:cs typeface="Calibri" pitchFamily="34" charset="-120"/>
              </a:rPr>
              <a:t>Azure Boards becomes the only backlog; 2-week sprints inside 6-week release trains; the spreadsheet tracker retires in week one.</a:t>
            </a:r>
            <a:endParaRPr lang="en-US" sz="930" dirty="0"/>
          </a:p>
        </p:txBody>
      </p:sp>
      <p:sp>
        <p:nvSpPr>
          <p:cNvPr id="14" name="Shape 10"/>
          <p:cNvSpPr/>
          <p:nvPr/>
        </p:nvSpPr>
        <p:spPr>
          <a:xfrm>
            <a:off x="6071616" y="1298448"/>
            <a:ext cx="2624328" cy="1554480"/>
          </a:xfrm>
          <a:prstGeom prst="roundRect">
            <a:avLst>
              <a:gd name="adj" fmla="val 3529"/>
            </a:avLst>
          </a:prstGeom>
          <a:solidFill>
            <a:srgbClr val="F3F6FA"/>
          </a:solidFill>
          <a:ln/>
          <a:effectLst>
            <a:outerShdw sx="100000" sy="100000" kx="0" ky="0" algn="bl" rotWithShape="0" blurRad="88900" dist="25400" dir="2700000">
              <a:srgbClr val="000000">
                <a:alpha val="14000"/>
              </a:srgbClr>
            </a:outerShdw>
          </a:effectLst>
        </p:spPr>
      </p:sp>
      <p:sp>
        <p:nvSpPr>
          <p:cNvPr id="15" name="Shape 11"/>
          <p:cNvSpPr/>
          <p:nvPr/>
        </p:nvSpPr>
        <p:spPr>
          <a:xfrm>
            <a:off x="6236208" y="1444752"/>
            <a:ext cx="384048" cy="384048"/>
          </a:xfrm>
          <a:prstGeom prst="ellipse">
            <a:avLst/>
          </a:prstGeom>
          <a:solidFill>
            <a:srgbClr val="16263F"/>
          </a:solidFill>
          <a:ln/>
        </p:spPr>
      </p:sp>
      <p:pic>
        <p:nvPicPr>
          <p:cNvPr id="16" name="Image 2" descr="preencoded.png">    </p:cNvPr>
          <p:cNvPicPr>
            <a:picLocks noChangeAspect="1"/>
          </p:cNvPicPr>
          <p:nvPr/>
        </p:nvPicPr>
        <p:blipFill>
          <a:blip r:embed="rId3"/>
          <a:stretch>
            <a:fillRect/>
          </a:stretch>
        </p:blipFill>
        <p:spPr>
          <a:xfrm>
            <a:off x="6336060" y="1544604"/>
            <a:ext cx="184343" cy="184343"/>
          </a:xfrm>
          <a:prstGeom prst="rect">
            <a:avLst/>
          </a:prstGeom>
        </p:spPr>
      </p:pic>
      <p:sp>
        <p:nvSpPr>
          <p:cNvPr id="17" name="Text 12"/>
          <p:cNvSpPr/>
          <p:nvPr/>
        </p:nvSpPr>
        <p:spPr>
          <a:xfrm>
            <a:off x="6711696" y="1463040"/>
            <a:ext cx="1874520" cy="365760"/>
          </a:xfrm>
          <a:prstGeom prst="rect">
            <a:avLst/>
          </a:prstGeom>
          <a:noFill/>
          <a:ln/>
        </p:spPr>
        <p:txBody>
          <a:bodyPr wrap="square" lIns="0" tIns="0" rIns="0" bIns="0" rtlCol="0" anchor="ctr"/>
          <a:lstStyle/>
          <a:p>
            <a:pPr indent="0" marL="0">
              <a:buNone/>
            </a:pPr>
            <a:r>
              <a:rPr lang="en-US" sz="1150" b="1" dirty="0">
                <a:solidFill>
                  <a:srgbClr val="16263F"/>
                </a:solidFill>
                <a:latin typeface="Calibri" pitchFamily="34" charset="0"/>
                <a:ea typeface="Calibri" pitchFamily="34" charset="-122"/>
                <a:cs typeface="Calibri" pitchFamily="34" charset="-120"/>
              </a:rPr>
              <a:t>Spec → BDD → ATDD</a:t>
            </a:r>
            <a:endParaRPr lang="en-US" sz="1150" dirty="0"/>
          </a:p>
        </p:txBody>
      </p:sp>
      <p:sp>
        <p:nvSpPr>
          <p:cNvPr id="18" name="Text 13"/>
          <p:cNvSpPr/>
          <p:nvPr/>
        </p:nvSpPr>
        <p:spPr>
          <a:xfrm>
            <a:off x="6254496" y="1901952"/>
            <a:ext cx="2286000" cy="896112"/>
          </a:xfrm>
          <a:prstGeom prst="rect">
            <a:avLst/>
          </a:prstGeom>
          <a:noFill/>
          <a:ln/>
        </p:spPr>
        <p:txBody>
          <a:bodyPr wrap="square" lIns="0" tIns="0" rIns="0" bIns="0" rtlCol="0" anchor="ctr"/>
          <a:lstStyle/>
          <a:p>
            <a:pPr indent="0" marL="0">
              <a:buNone/>
            </a:pPr>
            <a:r>
              <a:rPr lang="en-US" sz="930" dirty="0">
                <a:solidFill>
                  <a:srgbClr val="1F2A38"/>
                </a:solidFill>
                <a:latin typeface="Calibri" pitchFamily="34" charset="0"/>
                <a:ea typeface="Calibri" pitchFamily="34" charset="-122"/>
                <a:cs typeface="Calibri" pitchFamily="34" charset="-120"/>
              </a:rPr>
              <a:t>Executable acceptance criteria before development; story ↔ test ↔ release traceability — extending the automation framework you already own.</a:t>
            </a:r>
            <a:endParaRPr lang="en-US" sz="930" dirty="0"/>
          </a:p>
        </p:txBody>
      </p:sp>
      <p:sp>
        <p:nvSpPr>
          <p:cNvPr id="19" name="Shape 14"/>
          <p:cNvSpPr/>
          <p:nvPr/>
        </p:nvSpPr>
        <p:spPr>
          <a:xfrm>
            <a:off x="457200" y="2999232"/>
            <a:ext cx="2624328" cy="1554480"/>
          </a:xfrm>
          <a:prstGeom prst="roundRect">
            <a:avLst>
              <a:gd name="adj" fmla="val 3529"/>
            </a:avLst>
          </a:prstGeom>
          <a:solidFill>
            <a:srgbClr val="F3F6FA"/>
          </a:solidFill>
          <a:ln/>
          <a:effectLst>
            <a:outerShdw sx="100000" sy="100000" kx="0" ky="0" algn="bl" rotWithShape="0" blurRad="88900" dist="25400" dir="2700000">
              <a:srgbClr val="000000">
                <a:alpha val="14000"/>
              </a:srgbClr>
            </a:outerShdw>
          </a:effectLst>
        </p:spPr>
      </p:sp>
      <p:sp>
        <p:nvSpPr>
          <p:cNvPr id="20" name="Shape 15"/>
          <p:cNvSpPr/>
          <p:nvPr/>
        </p:nvSpPr>
        <p:spPr>
          <a:xfrm>
            <a:off x="621792" y="3145536"/>
            <a:ext cx="384048" cy="384048"/>
          </a:xfrm>
          <a:prstGeom prst="ellipse">
            <a:avLst/>
          </a:prstGeom>
          <a:solidFill>
            <a:srgbClr val="16263F"/>
          </a:solidFill>
          <a:ln/>
        </p:spPr>
      </p:sp>
      <p:pic>
        <p:nvPicPr>
          <p:cNvPr id="21" name="Image 3" descr="preencoded.png">    </p:cNvPr>
          <p:cNvPicPr>
            <a:picLocks noChangeAspect="1"/>
          </p:cNvPicPr>
          <p:nvPr/>
        </p:nvPicPr>
        <p:blipFill>
          <a:blip r:embed="rId4"/>
          <a:stretch>
            <a:fillRect/>
          </a:stretch>
        </p:blipFill>
        <p:spPr>
          <a:xfrm>
            <a:off x="721644" y="3245388"/>
            <a:ext cx="184343" cy="184343"/>
          </a:xfrm>
          <a:prstGeom prst="rect">
            <a:avLst/>
          </a:prstGeom>
        </p:spPr>
      </p:pic>
      <p:sp>
        <p:nvSpPr>
          <p:cNvPr id="22" name="Text 16"/>
          <p:cNvSpPr/>
          <p:nvPr/>
        </p:nvSpPr>
        <p:spPr>
          <a:xfrm>
            <a:off x="1097280" y="3163824"/>
            <a:ext cx="1874520" cy="365760"/>
          </a:xfrm>
          <a:prstGeom prst="rect">
            <a:avLst/>
          </a:prstGeom>
          <a:noFill/>
          <a:ln/>
        </p:spPr>
        <p:txBody>
          <a:bodyPr wrap="square" lIns="0" tIns="0" rIns="0" bIns="0" rtlCol="0" anchor="ctr"/>
          <a:lstStyle/>
          <a:p>
            <a:pPr indent="0" marL="0">
              <a:buNone/>
            </a:pPr>
            <a:r>
              <a:rPr lang="en-US" sz="1150" b="1" dirty="0">
                <a:solidFill>
                  <a:srgbClr val="16263F"/>
                </a:solidFill>
                <a:latin typeface="Calibri" pitchFamily="34" charset="0"/>
                <a:ea typeface="Calibri" pitchFamily="34" charset="-122"/>
                <a:cs typeface="Calibri" pitchFamily="34" charset="-120"/>
              </a:rPr>
              <a:t>AI-SDLC with guardrails</a:t>
            </a:r>
            <a:endParaRPr lang="en-US" sz="1150" dirty="0"/>
          </a:p>
        </p:txBody>
      </p:sp>
      <p:sp>
        <p:nvSpPr>
          <p:cNvPr id="23" name="Text 17"/>
          <p:cNvSpPr/>
          <p:nvPr/>
        </p:nvSpPr>
        <p:spPr>
          <a:xfrm>
            <a:off x="640080" y="3602736"/>
            <a:ext cx="2286000" cy="896112"/>
          </a:xfrm>
          <a:prstGeom prst="rect">
            <a:avLst/>
          </a:prstGeom>
          <a:noFill/>
          <a:ln/>
        </p:spPr>
        <p:txBody>
          <a:bodyPr wrap="square" lIns="0" tIns="0" rIns="0" bIns="0" rtlCol="0" anchor="ctr"/>
          <a:lstStyle/>
          <a:p>
            <a:pPr indent="0" marL="0">
              <a:buNone/>
            </a:pPr>
            <a:r>
              <a:rPr lang="en-US" sz="930" dirty="0">
                <a:solidFill>
                  <a:srgbClr val="1F2A38"/>
                </a:solidFill>
                <a:latin typeface="Calibri" pitchFamily="34" charset="0"/>
                <a:ea typeface="Calibri" pitchFamily="34" charset="-122"/>
                <a:cs typeface="Calibri" pitchFamily="34" charset="-120"/>
              </a:rPr>
              <a:t>Planning, review, and test agents work as drafts; merge authority stays human-only; proprietary data flows only through approved private endpoints.</a:t>
            </a:r>
            <a:endParaRPr lang="en-US" sz="930" dirty="0"/>
          </a:p>
        </p:txBody>
      </p:sp>
      <p:sp>
        <p:nvSpPr>
          <p:cNvPr id="24" name="Shape 18"/>
          <p:cNvSpPr/>
          <p:nvPr/>
        </p:nvSpPr>
        <p:spPr>
          <a:xfrm>
            <a:off x="3264408" y="2999232"/>
            <a:ext cx="2624328" cy="1554480"/>
          </a:xfrm>
          <a:prstGeom prst="roundRect">
            <a:avLst>
              <a:gd name="adj" fmla="val 3529"/>
            </a:avLst>
          </a:prstGeom>
          <a:solidFill>
            <a:srgbClr val="F3F6FA"/>
          </a:solidFill>
          <a:ln/>
          <a:effectLst>
            <a:outerShdw sx="100000" sy="100000" kx="0" ky="0" algn="bl" rotWithShape="0" blurRad="88900" dist="25400" dir="2700000">
              <a:srgbClr val="000000">
                <a:alpha val="14000"/>
              </a:srgbClr>
            </a:outerShdw>
          </a:effectLst>
        </p:spPr>
      </p:sp>
      <p:sp>
        <p:nvSpPr>
          <p:cNvPr id="25" name="Shape 19"/>
          <p:cNvSpPr/>
          <p:nvPr/>
        </p:nvSpPr>
        <p:spPr>
          <a:xfrm>
            <a:off x="3429000" y="3145536"/>
            <a:ext cx="384048" cy="384048"/>
          </a:xfrm>
          <a:prstGeom prst="ellipse">
            <a:avLst/>
          </a:prstGeom>
          <a:solidFill>
            <a:srgbClr val="16263F"/>
          </a:solidFill>
          <a:ln/>
        </p:spPr>
      </p:sp>
      <p:pic>
        <p:nvPicPr>
          <p:cNvPr id="26" name="Image 4" descr="preencoded.png">    </p:cNvPr>
          <p:cNvPicPr>
            <a:picLocks noChangeAspect="1"/>
          </p:cNvPicPr>
          <p:nvPr/>
        </p:nvPicPr>
        <p:blipFill>
          <a:blip r:embed="rId5"/>
          <a:stretch>
            <a:fillRect/>
          </a:stretch>
        </p:blipFill>
        <p:spPr>
          <a:xfrm>
            <a:off x="3528852" y="3245388"/>
            <a:ext cx="184343" cy="184343"/>
          </a:xfrm>
          <a:prstGeom prst="rect">
            <a:avLst/>
          </a:prstGeom>
        </p:spPr>
      </p:pic>
      <p:sp>
        <p:nvSpPr>
          <p:cNvPr id="27" name="Text 20"/>
          <p:cNvSpPr/>
          <p:nvPr/>
        </p:nvSpPr>
        <p:spPr>
          <a:xfrm>
            <a:off x="3904488" y="3163824"/>
            <a:ext cx="1874520" cy="365760"/>
          </a:xfrm>
          <a:prstGeom prst="rect">
            <a:avLst/>
          </a:prstGeom>
          <a:noFill/>
          <a:ln/>
        </p:spPr>
        <p:txBody>
          <a:bodyPr wrap="square" lIns="0" tIns="0" rIns="0" bIns="0" rtlCol="0" anchor="ctr"/>
          <a:lstStyle/>
          <a:p>
            <a:pPr indent="0" marL="0">
              <a:buNone/>
            </a:pPr>
            <a:r>
              <a:rPr lang="en-US" sz="1150" b="1" dirty="0">
                <a:solidFill>
                  <a:srgbClr val="16263F"/>
                </a:solidFill>
                <a:latin typeface="Calibri" pitchFamily="34" charset="0"/>
                <a:ea typeface="Calibri" pitchFamily="34" charset="-122"/>
                <a:cs typeface="Calibri" pitchFamily="34" charset="-120"/>
              </a:rPr>
              <a:t>CI/CD &amp; feature flags</a:t>
            </a:r>
            <a:endParaRPr lang="en-US" sz="1150" dirty="0"/>
          </a:p>
        </p:txBody>
      </p:sp>
      <p:sp>
        <p:nvSpPr>
          <p:cNvPr id="28" name="Text 21"/>
          <p:cNvSpPr/>
          <p:nvPr/>
        </p:nvSpPr>
        <p:spPr>
          <a:xfrm>
            <a:off x="3447288" y="3602736"/>
            <a:ext cx="2286000" cy="896112"/>
          </a:xfrm>
          <a:prstGeom prst="rect">
            <a:avLst/>
          </a:prstGeom>
          <a:noFill/>
          <a:ln/>
        </p:spPr>
        <p:txBody>
          <a:bodyPr wrap="square" lIns="0" tIns="0" rIns="0" bIns="0" rtlCol="0" anchor="ctr"/>
          <a:lstStyle/>
          <a:p>
            <a:pPr indent="0" marL="0">
              <a:buNone/>
            </a:pPr>
            <a:r>
              <a:rPr lang="en-US" sz="930" dirty="0">
                <a:solidFill>
                  <a:srgbClr val="1F2A38"/>
                </a:solidFill>
                <a:latin typeface="Calibri" pitchFamily="34" charset="0"/>
                <a:ea typeface="Calibri" pitchFamily="34" charset="-122"/>
                <a:cs typeface="Calibri" pitchFamily="34" charset="-120"/>
              </a:rPr>
              <a:t>Trunk-based delivery, Unity build automation with in-pipeline smoke tests, ephemeral review environments. Deploy ≠ release.</a:t>
            </a:r>
            <a:endParaRPr lang="en-US" sz="930" dirty="0"/>
          </a:p>
        </p:txBody>
      </p:sp>
      <p:sp>
        <p:nvSpPr>
          <p:cNvPr id="29" name="Shape 22"/>
          <p:cNvSpPr/>
          <p:nvPr/>
        </p:nvSpPr>
        <p:spPr>
          <a:xfrm>
            <a:off x="6071616" y="2999232"/>
            <a:ext cx="2624328" cy="1554480"/>
          </a:xfrm>
          <a:prstGeom prst="roundRect">
            <a:avLst>
              <a:gd name="adj" fmla="val 3529"/>
            </a:avLst>
          </a:prstGeom>
          <a:solidFill>
            <a:srgbClr val="F3F6FA"/>
          </a:solidFill>
          <a:ln/>
          <a:effectLst>
            <a:outerShdw sx="100000" sy="100000" kx="0" ky="0" algn="bl" rotWithShape="0" blurRad="88900" dist="25400" dir="2700000">
              <a:srgbClr val="000000">
                <a:alpha val="14000"/>
              </a:srgbClr>
            </a:outerShdw>
          </a:effectLst>
        </p:spPr>
      </p:sp>
      <p:sp>
        <p:nvSpPr>
          <p:cNvPr id="30" name="Shape 23"/>
          <p:cNvSpPr/>
          <p:nvPr/>
        </p:nvSpPr>
        <p:spPr>
          <a:xfrm>
            <a:off x="6236208" y="3145536"/>
            <a:ext cx="384048" cy="384048"/>
          </a:xfrm>
          <a:prstGeom prst="ellipse">
            <a:avLst/>
          </a:prstGeom>
          <a:solidFill>
            <a:srgbClr val="16263F"/>
          </a:solidFill>
          <a:ln/>
        </p:spPr>
      </p:sp>
      <p:pic>
        <p:nvPicPr>
          <p:cNvPr id="31" name="Image 5" descr="preencoded.png">    </p:cNvPr>
          <p:cNvPicPr>
            <a:picLocks noChangeAspect="1"/>
          </p:cNvPicPr>
          <p:nvPr/>
        </p:nvPicPr>
        <p:blipFill>
          <a:blip r:embed="rId6"/>
          <a:stretch>
            <a:fillRect/>
          </a:stretch>
        </p:blipFill>
        <p:spPr>
          <a:xfrm>
            <a:off x="6336060" y="3245388"/>
            <a:ext cx="184343" cy="184343"/>
          </a:xfrm>
          <a:prstGeom prst="rect">
            <a:avLst/>
          </a:prstGeom>
        </p:spPr>
      </p:pic>
      <p:sp>
        <p:nvSpPr>
          <p:cNvPr id="32" name="Text 24"/>
          <p:cNvSpPr/>
          <p:nvPr/>
        </p:nvSpPr>
        <p:spPr>
          <a:xfrm>
            <a:off x="6711696" y="3163824"/>
            <a:ext cx="1874520" cy="365760"/>
          </a:xfrm>
          <a:prstGeom prst="rect">
            <a:avLst/>
          </a:prstGeom>
          <a:noFill/>
          <a:ln/>
        </p:spPr>
        <p:txBody>
          <a:bodyPr wrap="square" lIns="0" tIns="0" rIns="0" bIns="0" rtlCol="0" anchor="ctr"/>
          <a:lstStyle/>
          <a:p>
            <a:pPr indent="0" marL="0">
              <a:buNone/>
            </a:pPr>
            <a:r>
              <a:rPr lang="en-US" sz="1150" b="1" dirty="0">
                <a:solidFill>
                  <a:srgbClr val="16263F"/>
                </a:solidFill>
                <a:latin typeface="Calibri" pitchFamily="34" charset="0"/>
                <a:ea typeface="Calibri" pitchFamily="34" charset="-122"/>
                <a:cs typeface="Calibri" pitchFamily="34" charset="-120"/>
              </a:rPr>
              <a:t>Phased pod transition</a:t>
            </a:r>
            <a:endParaRPr lang="en-US" sz="1150" dirty="0"/>
          </a:p>
        </p:txBody>
      </p:sp>
      <p:sp>
        <p:nvSpPr>
          <p:cNvPr id="33" name="Text 25"/>
          <p:cNvSpPr/>
          <p:nvPr/>
        </p:nvSpPr>
        <p:spPr>
          <a:xfrm>
            <a:off x="6254496" y="3602736"/>
            <a:ext cx="2286000" cy="896112"/>
          </a:xfrm>
          <a:prstGeom prst="rect">
            <a:avLst/>
          </a:prstGeom>
          <a:noFill/>
          <a:ln/>
        </p:spPr>
        <p:txBody>
          <a:bodyPr wrap="square" lIns="0" tIns="0" rIns="0" bIns="0" rtlCol="0" anchor="ctr"/>
          <a:lstStyle/>
          <a:p>
            <a:pPr indent="0" marL="0">
              <a:buNone/>
            </a:pPr>
            <a:r>
              <a:rPr lang="en-US" sz="930" dirty="0">
                <a:solidFill>
                  <a:srgbClr val="1F2A38"/>
                </a:solidFill>
                <a:latin typeface="Calibri" pitchFamily="34" charset="0"/>
                <a:ea typeface="Calibri" pitchFamily="34" charset="-122"/>
                <a:cs typeface="Calibri" pitchFamily="34" charset="-120"/>
              </a:rPr>
              <a:t>Option 2: pilot with the Context &amp; Twin Services pod — eight weeks, exit criteria per phase, the 5-risk register reviewed weekly.</a:t>
            </a:r>
            <a:endParaRPr lang="en-US" sz="93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92608"/>
            <a:ext cx="8229600" cy="274320"/>
          </a:xfrm>
          <a:prstGeom prst="rect">
            <a:avLst/>
          </a:prstGeom>
          <a:noFill/>
          <a:ln/>
        </p:spPr>
        <p:txBody>
          <a:bodyPr wrap="square" lIns="0" tIns="0" rIns="0" bIns="0" rtlCol="0" anchor="ctr"/>
          <a:lstStyle/>
          <a:p>
            <a:pPr indent="0" marL="0">
              <a:buNone/>
            </a:pPr>
            <a:r>
              <a:rPr lang="en-US" sz="1050" b="1" spc="200" kern="0" dirty="0">
                <a:solidFill>
                  <a:srgbClr val="C78F0D"/>
                </a:solidFill>
                <a:latin typeface="Calibri" pitchFamily="34" charset="0"/>
                <a:ea typeface="Calibri" pitchFamily="34" charset="-122"/>
                <a:cs typeface="Calibri" pitchFamily="34" charset="-120"/>
              </a:rPr>
              <a:t>ACCOUNTABILITY</a:t>
            </a:r>
            <a:endParaRPr lang="en-US" sz="1050" dirty="0"/>
          </a:p>
        </p:txBody>
      </p:sp>
      <p:sp>
        <p:nvSpPr>
          <p:cNvPr id="3" name="Text 1"/>
          <p:cNvSpPr/>
          <p:nvPr/>
        </p:nvSpPr>
        <p:spPr>
          <a:xfrm>
            <a:off x="457200" y="530352"/>
            <a:ext cx="8229600" cy="566928"/>
          </a:xfrm>
          <a:prstGeom prst="rect">
            <a:avLst/>
          </a:prstGeom>
          <a:noFill/>
          <a:ln/>
        </p:spPr>
        <p:txBody>
          <a:bodyPr wrap="square" lIns="0" tIns="0" rIns="0" bIns="0" rtlCol="0" anchor="ctr"/>
          <a:lstStyle/>
          <a:p>
            <a:pPr indent="0" marL="0">
              <a:buNone/>
            </a:pPr>
            <a:r>
              <a:rPr lang="en-US" sz="2800" b="1" dirty="0">
                <a:solidFill>
                  <a:srgbClr val="16263F"/>
                </a:solidFill>
                <a:latin typeface="Cambria" pitchFamily="34" charset="0"/>
                <a:ea typeface="Cambria" pitchFamily="34" charset="-122"/>
                <a:cs typeface="Cambria" pitchFamily="34" charset="-120"/>
              </a:rPr>
              <a:t>Hold me to a public scorecard</a:t>
            </a:r>
            <a:endParaRPr lang="en-US" sz="2800" dirty="0"/>
          </a:p>
        </p:txBody>
      </p:sp>
      <p:sp>
        <p:nvSpPr>
          <p:cNvPr id="4" name="Text 2"/>
          <p:cNvSpPr/>
          <p:nvPr/>
        </p:nvSpPr>
        <p:spPr>
          <a:xfrm>
            <a:off x="457200" y="1225296"/>
            <a:ext cx="3840480" cy="274320"/>
          </a:xfrm>
          <a:prstGeom prst="rect">
            <a:avLst/>
          </a:prstGeom>
          <a:noFill/>
          <a:ln/>
        </p:spPr>
        <p:txBody>
          <a:bodyPr wrap="square" lIns="0" tIns="0" rIns="0" bIns="0" rtlCol="0" anchor="ctr"/>
          <a:lstStyle/>
          <a:p>
            <a:pPr indent="0" marL="0">
              <a:buNone/>
            </a:pPr>
            <a:r>
              <a:rPr lang="en-US" sz="1300" b="1" dirty="0">
                <a:solidFill>
                  <a:srgbClr val="16263F"/>
                </a:solidFill>
                <a:latin typeface="Calibri" pitchFamily="34" charset="0"/>
                <a:ea typeface="Calibri" pitchFamily="34" charset="-122"/>
                <a:cs typeface="Calibri" pitchFamily="34" charset="-120"/>
              </a:rPr>
              <a:t>Against the proposal's own promises</a:t>
            </a:r>
            <a:endParaRPr lang="en-US" sz="1300" dirty="0"/>
          </a:p>
        </p:txBody>
      </p:sp>
      <p:sp>
        <p:nvSpPr>
          <p:cNvPr id="5" name="Shape 3"/>
          <p:cNvSpPr/>
          <p:nvPr/>
        </p:nvSpPr>
        <p:spPr>
          <a:xfrm>
            <a:off x="457200" y="1591056"/>
            <a:ext cx="3840480" cy="841248"/>
          </a:xfrm>
          <a:prstGeom prst="roundRect">
            <a:avLst>
              <a:gd name="adj" fmla="val 6522"/>
            </a:avLst>
          </a:prstGeom>
          <a:solidFill>
            <a:srgbClr val="16263F"/>
          </a:solidFill>
          <a:ln/>
          <a:effectLst>
            <a:outerShdw sx="100000" sy="100000" kx="0" ky="0" algn="bl" rotWithShape="0" blurRad="88900" dist="25400" dir="2700000">
              <a:srgbClr val="000000">
                <a:alpha val="14000"/>
              </a:srgbClr>
            </a:outerShdw>
          </a:effectLst>
        </p:spPr>
      </p:sp>
      <p:sp>
        <p:nvSpPr>
          <p:cNvPr id="6" name="Text 4"/>
          <p:cNvSpPr/>
          <p:nvPr/>
        </p:nvSpPr>
        <p:spPr>
          <a:xfrm>
            <a:off x="658368" y="1664208"/>
            <a:ext cx="1554480" cy="694944"/>
          </a:xfrm>
          <a:prstGeom prst="rect">
            <a:avLst/>
          </a:prstGeom>
          <a:noFill/>
          <a:ln/>
        </p:spPr>
        <p:txBody>
          <a:bodyPr wrap="square" lIns="0" tIns="0" rIns="0" bIns="0" rtlCol="0" anchor="ctr"/>
          <a:lstStyle/>
          <a:p>
            <a:pPr indent="0" marL="0">
              <a:buNone/>
            </a:pPr>
            <a:r>
              <a:rPr lang="en-US" sz="2600" b="1" dirty="0">
                <a:solidFill>
                  <a:srgbClr val="E8A816"/>
                </a:solidFill>
                <a:latin typeface="Cambria" pitchFamily="34" charset="0"/>
                <a:ea typeface="Cambria" pitchFamily="34" charset="-122"/>
                <a:cs typeface="Cambria" pitchFamily="34" charset="-120"/>
              </a:rPr>
              <a:t>2-wk</a:t>
            </a:r>
            <a:endParaRPr lang="en-US" sz="2600" dirty="0"/>
          </a:p>
        </p:txBody>
      </p:sp>
      <p:sp>
        <p:nvSpPr>
          <p:cNvPr id="7" name="Text 5"/>
          <p:cNvSpPr/>
          <p:nvPr/>
        </p:nvSpPr>
        <p:spPr>
          <a:xfrm>
            <a:off x="2286000" y="1664208"/>
            <a:ext cx="1874520" cy="694944"/>
          </a:xfrm>
          <a:prstGeom prst="rect">
            <a:avLst/>
          </a:prstGeom>
          <a:noFill/>
          <a:ln/>
        </p:spPr>
        <p:txBody>
          <a:bodyPr wrap="square" lIns="0" tIns="0" rIns="0" bIns="0" rtlCol="0" anchor="ctr"/>
          <a:lstStyle/>
          <a:p>
            <a:pPr indent="0" marL="0">
              <a:buNone/>
            </a:pPr>
            <a:r>
              <a:rPr lang="en-US" sz="1250" dirty="0">
                <a:solidFill>
                  <a:srgbClr val="C9D6E8"/>
                </a:solidFill>
                <a:latin typeface="Calibri" pitchFamily="34" charset="0"/>
                <a:ea typeface="Calibri" pitchFamily="34" charset="-122"/>
                <a:cs typeface="Calibri" pitchFamily="34" charset="-120"/>
              </a:rPr>
              <a:t>release cycles</a:t>
            </a:r>
            <a:endParaRPr lang="en-US" sz="1250" dirty="0"/>
          </a:p>
        </p:txBody>
      </p:sp>
      <p:sp>
        <p:nvSpPr>
          <p:cNvPr id="8" name="Shape 6"/>
          <p:cNvSpPr/>
          <p:nvPr/>
        </p:nvSpPr>
        <p:spPr>
          <a:xfrm>
            <a:off x="457200" y="2560320"/>
            <a:ext cx="3840480" cy="841248"/>
          </a:xfrm>
          <a:prstGeom prst="roundRect">
            <a:avLst>
              <a:gd name="adj" fmla="val 6522"/>
            </a:avLst>
          </a:prstGeom>
          <a:solidFill>
            <a:srgbClr val="16263F"/>
          </a:solidFill>
          <a:ln/>
          <a:effectLst>
            <a:outerShdw sx="100000" sy="100000" kx="0" ky="0" algn="bl" rotWithShape="0" blurRad="88900" dist="25400" dir="2700000">
              <a:srgbClr val="000000">
                <a:alpha val="14000"/>
              </a:srgbClr>
            </a:outerShdw>
          </a:effectLst>
        </p:spPr>
      </p:sp>
      <p:sp>
        <p:nvSpPr>
          <p:cNvPr id="9" name="Text 7"/>
          <p:cNvSpPr/>
          <p:nvPr/>
        </p:nvSpPr>
        <p:spPr>
          <a:xfrm>
            <a:off x="658368" y="2633472"/>
            <a:ext cx="1554480" cy="694944"/>
          </a:xfrm>
          <a:prstGeom prst="rect">
            <a:avLst/>
          </a:prstGeom>
          <a:noFill/>
          <a:ln/>
        </p:spPr>
        <p:txBody>
          <a:bodyPr wrap="square" lIns="0" tIns="0" rIns="0" bIns="0" rtlCol="0" anchor="ctr"/>
          <a:lstStyle/>
          <a:p>
            <a:pPr indent="0" marL="0">
              <a:buNone/>
            </a:pPr>
            <a:r>
              <a:rPr lang="en-US" sz="2600" b="1" dirty="0">
                <a:solidFill>
                  <a:srgbClr val="E8A816"/>
                </a:solidFill>
                <a:latin typeface="Cambria" pitchFamily="34" charset="0"/>
                <a:ea typeface="Cambria" pitchFamily="34" charset="-122"/>
                <a:cs typeface="Cambria" pitchFamily="34" charset="-120"/>
              </a:rPr>
              <a:t>+40–60%</a:t>
            </a:r>
            <a:endParaRPr lang="en-US" sz="2600" dirty="0"/>
          </a:p>
        </p:txBody>
      </p:sp>
      <p:sp>
        <p:nvSpPr>
          <p:cNvPr id="10" name="Text 8"/>
          <p:cNvSpPr/>
          <p:nvPr/>
        </p:nvSpPr>
        <p:spPr>
          <a:xfrm>
            <a:off x="2286000" y="2633472"/>
            <a:ext cx="1874520" cy="694944"/>
          </a:xfrm>
          <a:prstGeom prst="rect">
            <a:avLst/>
          </a:prstGeom>
          <a:noFill/>
          <a:ln/>
        </p:spPr>
        <p:txBody>
          <a:bodyPr wrap="square" lIns="0" tIns="0" rIns="0" bIns="0" rtlCol="0" anchor="ctr"/>
          <a:lstStyle/>
          <a:p>
            <a:pPr indent="0" marL="0">
              <a:buNone/>
            </a:pPr>
            <a:r>
              <a:rPr lang="en-US" sz="1250" dirty="0">
                <a:solidFill>
                  <a:srgbClr val="C9D6E8"/>
                </a:solidFill>
                <a:latin typeface="Calibri" pitchFamily="34" charset="0"/>
                <a:ea typeface="Calibri" pitchFamily="34" charset="-122"/>
                <a:cs typeface="Calibri" pitchFamily="34" charset="-120"/>
              </a:rPr>
              <a:t>feature throughput</a:t>
            </a:r>
            <a:endParaRPr lang="en-US" sz="1250" dirty="0"/>
          </a:p>
        </p:txBody>
      </p:sp>
      <p:sp>
        <p:nvSpPr>
          <p:cNvPr id="11" name="Shape 9"/>
          <p:cNvSpPr/>
          <p:nvPr/>
        </p:nvSpPr>
        <p:spPr>
          <a:xfrm>
            <a:off x="457200" y="3529584"/>
            <a:ext cx="3840480" cy="841248"/>
          </a:xfrm>
          <a:prstGeom prst="roundRect">
            <a:avLst>
              <a:gd name="adj" fmla="val 6522"/>
            </a:avLst>
          </a:prstGeom>
          <a:solidFill>
            <a:srgbClr val="16263F"/>
          </a:solidFill>
          <a:ln/>
          <a:effectLst>
            <a:outerShdw sx="100000" sy="100000" kx="0" ky="0" algn="bl" rotWithShape="0" blurRad="88900" dist="25400" dir="2700000">
              <a:srgbClr val="000000">
                <a:alpha val="14000"/>
              </a:srgbClr>
            </a:outerShdw>
          </a:effectLst>
        </p:spPr>
      </p:sp>
      <p:sp>
        <p:nvSpPr>
          <p:cNvPr id="12" name="Text 10"/>
          <p:cNvSpPr/>
          <p:nvPr/>
        </p:nvSpPr>
        <p:spPr>
          <a:xfrm>
            <a:off x="658368" y="3602736"/>
            <a:ext cx="1554480" cy="694944"/>
          </a:xfrm>
          <a:prstGeom prst="rect">
            <a:avLst/>
          </a:prstGeom>
          <a:noFill/>
          <a:ln/>
        </p:spPr>
        <p:txBody>
          <a:bodyPr wrap="square" lIns="0" tIns="0" rIns="0" bIns="0" rtlCol="0" anchor="ctr"/>
          <a:lstStyle/>
          <a:p>
            <a:pPr indent="0" marL="0">
              <a:buNone/>
            </a:pPr>
            <a:r>
              <a:rPr lang="en-US" sz="2600" b="1" dirty="0">
                <a:solidFill>
                  <a:srgbClr val="E8A816"/>
                </a:solidFill>
                <a:latin typeface="Cambria" pitchFamily="34" charset="0"/>
                <a:ea typeface="Cambria" pitchFamily="34" charset="-122"/>
                <a:cs typeface="Cambria" pitchFamily="34" charset="-120"/>
              </a:rPr>
              <a:t>2–3×</a:t>
            </a:r>
            <a:endParaRPr lang="en-US" sz="2600" dirty="0"/>
          </a:p>
        </p:txBody>
      </p:sp>
      <p:sp>
        <p:nvSpPr>
          <p:cNvPr id="13" name="Text 11"/>
          <p:cNvSpPr/>
          <p:nvPr/>
        </p:nvSpPr>
        <p:spPr>
          <a:xfrm>
            <a:off x="2286000" y="3602736"/>
            <a:ext cx="1874520" cy="694944"/>
          </a:xfrm>
          <a:prstGeom prst="rect">
            <a:avLst/>
          </a:prstGeom>
          <a:noFill/>
          <a:ln/>
        </p:spPr>
        <p:txBody>
          <a:bodyPr wrap="square" lIns="0" tIns="0" rIns="0" bIns="0" rtlCol="0" anchor="ctr"/>
          <a:lstStyle/>
          <a:p>
            <a:pPr indent="0" marL="0">
              <a:buNone/>
            </a:pPr>
            <a:r>
              <a:rPr lang="en-US" sz="1250" dirty="0">
                <a:solidFill>
                  <a:srgbClr val="C9D6E8"/>
                </a:solidFill>
                <a:latin typeface="Calibri" pitchFamily="34" charset="0"/>
                <a:ea typeface="Calibri" pitchFamily="34" charset="-122"/>
                <a:cs typeface="Calibri" pitchFamily="34" charset="-120"/>
              </a:rPr>
              <a:t>time to market</a:t>
            </a:r>
            <a:endParaRPr lang="en-US" sz="1250" dirty="0"/>
          </a:p>
        </p:txBody>
      </p:sp>
      <p:sp>
        <p:nvSpPr>
          <p:cNvPr id="14" name="Text 12"/>
          <p:cNvSpPr/>
          <p:nvPr/>
        </p:nvSpPr>
        <p:spPr>
          <a:xfrm>
            <a:off x="457200" y="4535424"/>
            <a:ext cx="3931920" cy="274320"/>
          </a:xfrm>
          <a:prstGeom prst="rect">
            <a:avLst/>
          </a:prstGeom>
          <a:noFill/>
          <a:ln/>
        </p:spPr>
        <p:txBody>
          <a:bodyPr wrap="square" lIns="0" tIns="0" rIns="0" bIns="0" rtlCol="0" anchor="ctr"/>
          <a:lstStyle/>
          <a:p>
            <a:pPr indent="0" marL="0">
              <a:buNone/>
            </a:pPr>
            <a:r>
              <a:rPr lang="en-US" sz="1050" i="1" dirty="0">
                <a:solidFill>
                  <a:srgbClr val="5B6B7E"/>
                </a:solidFill>
                <a:latin typeface="Calibri" pitchFamily="34" charset="0"/>
                <a:ea typeface="Calibri" pitchFamily="34" charset="-122"/>
                <a:cs typeface="Calibri" pitchFamily="34" charset="-120"/>
              </a:rPr>
              <a:t>Claims become accountable targets — reviewed every train.</a:t>
            </a:r>
            <a:endParaRPr lang="en-US" sz="105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617720" y="1591056"/>
          <a:ext cx="4069080" cy="914400"/>
        </p:xfrm>
        <a:graphic>
          <a:graphicData uri="http://schemas.openxmlformats.org/drawingml/2006/table">
            <a:tbl>
              <a:tblPr/>
              <a:tblGrid>
                <a:gridCol w="1143000"/>
                <a:gridCol w="2926080"/>
              </a:tblGrid>
              <a:tr h="566928">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Scorecard line</a:t>
                      </a:r>
                      <a:endParaRPr lang="en-US" sz="1050" dirty="0">
                        <a:latin typeface="Calibri" charset="0"/>
                        <a:ea typeface="Calibri" charset="0"/>
                        <a:cs typeface="Calibri" charset="0"/>
                      </a:endParaRPr>
                    </a:p>
                  </a:txBody>
                  <a:tcPr marL="54864" marR="54864" marT="54864" marB="54864" anchor="ctr">
                    <a:lnL w="6350" cap="flat" cmpd="sng" algn="ctr">
                      <a:solidFill>
                        <a:srgbClr val="DFE6EE"/>
                      </a:solidFill>
                      <a:prstDash val="solid"/>
                      <a:round/>
                      <a:headEnd type="none" w="med" len="med"/>
                      <a:tailEnd type="none" w="med" len="med"/>
                    </a:lnL>
                    <a:lnR w="6350" cap="flat" cmpd="sng" algn="ctr">
                      <a:solidFill>
                        <a:srgbClr val="DFE6EE"/>
                      </a:solidFill>
                      <a:prstDash val="solid"/>
                      <a:round/>
                      <a:headEnd type="none" w="med" len="med"/>
                      <a:tailEnd type="none" w="med" len="med"/>
                    </a:lnR>
                    <a:lnT w="6350" cap="flat" cmpd="sng" algn="ctr">
                      <a:solidFill>
                        <a:srgbClr val="DFE6EE"/>
                      </a:solidFill>
                      <a:prstDash val="solid"/>
                      <a:round/>
                      <a:headEnd type="none" w="med" len="med"/>
                      <a:tailEnd type="none" w="med" len="med"/>
                    </a:lnT>
                    <a:lnB w="6350" cap="flat" cmpd="sng" algn="ctr">
                      <a:solidFill>
                        <a:srgbClr val="DFE6EE"/>
                      </a:solidFill>
                      <a:prstDash val="solid"/>
                      <a:round/>
                      <a:headEnd type="none" w="med" len="med"/>
                      <a:tailEnd type="none" w="med" len="med"/>
                    </a:lnB>
                    <a:solidFill>
                      <a:srgbClr val="16263F"/>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What it tracks</a:t>
                      </a:r>
                      <a:endParaRPr lang="en-US" sz="1050" dirty="0">
                        <a:latin typeface="Calibri" charset="0"/>
                        <a:ea typeface="Calibri" charset="0"/>
                        <a:cs typeface="Calibri" charset="0"/>
                      </a:endParaRPr>
                    </a:p>
                  </a:txBody>
                  <a:tcPr marL="54864" marR="54864" marT="54864" marB="54864" anchor="ctr">
                    <a:lnL w="6350" cap="flat" cmpd="sng" algn="ctr">
                      <a:solidFill>
                        <a:srgbClr val="DFE6EE"/>
                      </a:solidFill>
                      <a:prstDash val="solid"/>
                      <a:round/>
                      <a:headEnd type="none" w="med" len="med"/>
                      <a:tailEnd type="none" w="med" len="med"/>
                    </a:lnL>
                    <a:lnR w="6350" cap="flat" cmpd="sng" algn="ctr">
                      <a:solidFill>
                        <a:srgbClr val="DFE6EE"/>
                      </a:solidFill>
                      <a:prstDash val="solid"/>
                      <a:round/>
                      <a:headEnd type="none" w="med" len="med"/>
                      <a:tailEnd type="none" w="med" len="med"/>
                    </a:lnR>
                    <a:lnT w="6350" cap="flat" cmpd="sng" algn="ctr">
                      <a:solidFill>
                        <a:srgbClr val="DFE6EE"/>
                      </a:solidFill>
                      <a:prstDash val="solid"/>
                      <a:round/>
                      <a:headEnd type="none" w="med" len="med"/>
                      <a:tailEnd type="none" w="med" len="med"/>
                    </a:lnT>
                    <a:lnB w="6350" cap="flat" cmpd="sng" algn="ctr">
                      <a:solidFill>
                        <a:srgbClr val="DFE6EE"/>
                      </a:solidFill>
                      <a:prstDash val="solid"/>
                      <a:round/>
                      <a:headEnd type="none" w="med" len="med"/>
                      <a:tailEnd type="none" w="med" len="med"/>
                    </a:lnB>
                    <a:solidFill>
                      <a:srgbClr val="16263F"/>
                    </a:solidFill>
                  </a:tcPr>
                </a:tc>
              </a:tr>
              <a:tr h="566928">
                <a:tc>
                  <a:txBody>
                    <a:bodyPr/>
                    <a:lstStyle/>
                    <a:p>
                      <a:pPr indent="0" marL="0">
                        <a:buNone/>
                      </a:pPr>
                      <a:r>
                        <a:rPr lang="en-US" sz="1030" b="1" dirty="0">
                          <a:solidFill>
                            <a:srgbClr val="16263F"/>
                          </a:solidFill>
                          <a:latin typeface="Calibri" pitchFamily="34" charset="0"/>
                          <a:ea typeface="Calibri" pitchFamily="34" charset="-122"/>
                          <a:cs typeface="Calibri" pitchFamily="34" charset="-120"/>
                        </a:rPr>
                        <a:t>North Star</a:t>
                      </a:r>
                      <a:endParaRPr lang="en-US" sz="1030" dirty="0">
                        <a:latin typeface="Calibri" charset="0"/>
                        <a:ea typeface="Calibri" charset="0"/>
                        <a:cs typeface="Calibri" charset="0"/>
                      </a:endParaRPr>
                    </a:p>
                  </a:txBody>
                  <a:tcPr marL="54864" marR="54864" marT="54864" marB="54864" anchor="ctr">
                    <a:lnL w="6350" cap="flat" cmpd="sng" algn="ctr">
                      <a:solidFill>
                        <a:srgbClr val="DFE6EE"/>
                      </a:solidFill>
                      <a:prstDash val="solid"/>
                      <a:round/>
                      <a:headEnd type="none" w="med" len="med"/>
                      <a:tailEnd type="none" w="med" len="med"/>
                    </a:lnL>
                    <a:lnR w="6350" cap="flat" cmpd="sng" algn="ctr">
                      <a:solidFill>
                        <a:srgbClr val="DFE6EE"/>
                      </a:solidFill>
                      <a:prstDash val="solid"/>
                      <a:round/>
                      <a:headEnd type="none" w="med" len="med"/>
                      <a:tailEnd type="none" w="med" len="med"/>
                    </a:lnR>
                    <a:lnT w="6350" cap="flat" cmpd="sng" algn="ctr">
                      <a:solidFill>
                        <a:srgbClr val="DFE6EE"/>
                      </a:solidFill>
                      <a:prstDash val="solid"/>
                      <a:round/>
                      <a:headEnd type="none" w="med" len="med"/>
                      <a:tailEnd type="none" w="med" len="med"/>
                    </a:lnT>
                    <a:lnB w="6350" cap="flat" cmpd="sng" algn="ctr">
                      <a:solidFill>
                        <a:srgbClr val="DFE6EE"/>
                      </a:solidFill>
                      <a:prstDash val="solid"/>
                      <a:round/>
                      <a:headEnd type="none" w="med" len="med"/>
                      <a:tailEnd type="none" w="med" len="med"/>
                    </a:lnB>
                    <a:solidFill>
                      <a:srgbClr val="FFFFFF"/>
                    </a:solidFill>
                  </a:tcPr>
                </a:tc>
                <a:tc>
                  <a:txBody>
                    <a:bodyPr/>
                    <a:lstStyle/>
                    <a:p>
                      <a:pPr indent="0" marL="0">
                        <a:buNone/>
                      </a:pPr>
                      <a:r>
                        <a:rPr lang="en-US" sz="1030" dirty="0">
                          <a:solidFill>
                            <a:srgbClr val="1F2A38"/>
                          </a:solidFill>
                          <a:latin typeface="Calibri" pitchFamily="34" charset="0"/>
                          <a:ea typeface="Calibri" pitchFamily="34" charset="-122"/>
                          <a:cs typeface="Calibri" pitchFamily="34" charset="-120"/>
                        </a:rPr>
                        <a:t>Time-to-Compliant-Design — trend per release train</a:t>
                      </a:r>
                      <a:endParaRPr lang="en-US" sz="1030" dirty="0">
                        <a:latin typeface="Calibri" charset="0"/>
                        <a:ea typeface="Calibri" charset="0"/>
                        <a:cs typeface="Calibri" charset="0"/>
                      </a:endParaRPr>
                    </a:p>
                  </a:txBody>
                  <a:tcPr marL="54864" marR="54864" marT="54864" marB="54864" anchor="ctr">
                    <a:lnL w="6350" cap="flat" cmpd="sng" algn="ctr">
                      <a:solidFill>
                        <a:srgbClr val="DFE6EE"/>
                      </a:solidFill>
                      <a:prstDash val="solid"/>
                      <a:round/>
                      <a:headEnd type="none" w="med" len="med"/>
                      <a:tailEnd type="none" w="med" len="med"/>
                    </a:lnL>
                    <a:lnR w="6350" cap="flat" cmpd="sng" algn="ctr">
                      <a:solidFill>
                        <a:srgbClr val="DFE6EE"/>
                      </a:solidFill>
                      <a:prstDash val="solid"/>
                      <a:round/>
                      <a:headEnd type="none" w="med" len="med"/>
                      <a:tailEnd type="none" w="med" len="med"/>
                    </a:lnR>
                    <a:lnT w="6350" cap="flat" cmpd="sng" algn="ctr">
                      <a:solidFill>
                        <a:srgbClr val="DFE6EE"/>
                      </a:solidFill>
                      <a:prstDash val="solid"/>
                      <a:round/>
                      <a:headEnd type="none" w="med" len="med"/>
                      <a:tailEnd type="none" w="med" len="med"/>
                    </a:lnT>
                    <a:lnB w="6350" cap="flat" cmpd="sng" algn="ctr">
                      <a:solidFill>
                        <a:srgbClr val="DFE6EE"/>
                      </a:solidFill>
                      <a:prstDash val="solid"/>
                      <a:round/>
                      <a:headEnd type="none" w="med" len="med"/>
                      <a:tailEnd type="none" w="med" len="med"/>
                    </a:lnB>
                    <a:solidFill>
                      <a:srgbClr val="FFFFFF"/>
                    </a:solidFill>
                  </a:tcPr>
                </a:tc>
              </a:tr>
              <a:tr h="566928">
                <a:tc>
                  <a:txBody>
                    <a:bodyPr/>
                    <a:lstStyle/>
                    <a:p>
                      <a:pPr indent="0" marL="0">
                        <a:buNone/>
                      </a:pPr>
                      <a:r>
                        <a:rPr lang="en-US" sz="1030" b="1" dirty="0">
                          <a:solidFill>
                            <a:srgbClr val="16263F"/>
                          </a:solidFill>
                          <a:latin typeface="Calibri" pitchFamily="34" charset="0"/>
                          <a:ea typeface="Calibri" pitchFamily="34" charset="-122"/>
                          <a:cs typeface="Calibri" pitchFamily="34" charset="-120"/>
                        </a:rPr>
                        <a:t>Delivery</a:t>
                      </a:r>
                      <a:endParaRPr lang="en-US" sz="1030" dirty="0">
                        <a:latin typeface="Calibri" charset="0"/>
                        <a:ea typeface="Calibri" charset="0"/>
                        <a:cs typeface="Calibri" charset="0"/>
                      </a:endParaRPr>
                    </a:p>
                  </a:txBody>
                  <a:tcPr marL="54864" marR="54864" marT="54864" marB="54864" anchor="ctr">
                    <a:lnL w="6350" cap="flat" cmpd="sng" algn="ctr">
                      <a:solidFill>
                        <a:srgbClr val="DFE6EE"/>
                      </a:solidFill>
                      <a:prstDash val="solid"/>
                      <a:round/>
                      <a:headEnd type="none" w="med" len="med"/>
                      <a:tailEnd type="none" w="med" len="med"/>
                    </a:lnL>
                    <a:lnR w="6350" cap="flat" cmpd="sng" algn="ctr">
                      <a:solidFill>
                        <a:srgbClr val="DFE6EE"/>
                      </a:solidFill>
                      <a:prstDash val="solid"/>
                      <a:round/>
                      <a:headEnd type="none" w="med" len="med"/>
                      <a:tailEnd type="none" w="med" len="med"/>
                    </a:lnR>
                    <a:lnT w="6350" cap="flat" cmpd="sng" algn="ctr">
                      <a:solidFill>
                        <a:srgbClr val="DFE6EE"/>
                      </a:solidFill>
                      <a:prstDash val="solid"/>
                      <a:round/>
                      <a:headEnd type="none" w="med" len="med"/>
                      <a:tailEnd type="none" w="med" len="med"/>
                    </a:lnT>
                    <a:lnB w="6350" cap="flat" cmpd="sng" algn="ctr">
                      <a:solidFill>
                        <a:srgbClr val="DFE6EE"/>
                      </a:solidFill>
                      <a:prstDash val="solid"/>
                      <a:round/>
                      <a:headEnd type="none" w="med" len="med"/>
                      <a:tailEnd type="none" w="med" len="med"/>
                    </a:lnB>
                    <a:solidFill>
                      <a:srgbClr val="F3F6FA"/>
                    </a:solidFill>
                  </a:tcPr>
                </a:tc>
                <a:tc>
                  <a:txBody>
                    <a:bodyPr/>
                    <a:lstStyle/>
                    <a:p>
                      <a:pPr indent="0" marL="0">
                        <a:buNone/>
                      </a:pPr>
                      <a:r>
                        <a:rPr lang="en-US" sz="1030" dirty="0">
                          <a:solidFill>
                            <a:srgbClr val="1F2A38"/>
                          </a:solidFill>
                          <a:latin typeface="Calibri" pitchFamily="34" charset="0"/>
                          <a:ea typeface="Calibri" pitchFamily="34" charset="-122"/>
                          <a:cs typeface="Calibri" pitchFamily="34" charset="-120"/>
                        </a:rPr>
                        <a:t>DORA four · train commitment hit-rate · defect escape rate</a:t>
                      </a:r>
                      <a:endParaRPr lang="en-US" sz="1030" dirty="0">
                        <a:latin typeface="Calibri" charset="0"/>
                        <a:ea typeface="Calibri" charset="0"/>
                        <a:cs typeface="Calibri" charset="0"/>
                      </a:endParaRPr>
                    </a:p>
                  </a:txBody>
                  <a:tcPr marL="54864" marR="54864" marT="54864" marB="54864" anchor="ctr">
                    <a:lnL w="6350" cap="flat" cmpd="sng" algn="ctr">
                      <a:solidFill>
                        <a:srgbClr val="DFE6EE"/>
                      </a:solidFill>
                      <a:prstDash val="solid"/>
                      <a:round/>
                      <a:headEnd type="none" w="med" len="med"/>
                      <a:tailEnd type="none" w="med" len="med"/>
                    </a:lnL>
                    <a:lnR w="6350" cap="flat" cmpd="sng" algn="ctr">
                      <a:solidFill>
                        <a:srgbClr val="DFE6EE"/>
                      </a:solidFill>
                      <a:prstDash val="solid"/>
                      <a:round/>
                      <a:headEnd type="none" w="med" len="med"/>
                      <a:tailEnd type="none" w="med" len="med"/>
                    </a:lnR>
                    <a:lnT w="6350" cap="flat" cmpd="sng" algn="ctr">
                      <a:solidFill>
                        <a:srgbClr val="DFE6EE"/>
                      </a:solidFill>
                      <a:prstDash val="solid"/>
                      <a:round/>
                      <a:headEnd type="none" w="med" len="med"/>
                      <a:tailEnd type="none" w="med" len="med"/>
                    </a:lnT>
                    <a:lnB w="6350" cap="flat" cmpd="sng" algn="ctr">
                      <a:solidFill>
                        <a:srgbClr val="DFE6EE"/>
                      </a:solidFill>
                      <a:prstDash val="solid"/>
                      <a:round/>
                      <a:headEnd type="none" w="med" len="med"/>
                      <a:tailEnd type="none" w="med" len="med"/>
                    </a:lnB>
                    <a:solidFill>
                      <a:srgbClr val="F3F6FA"/>
                    </a:solidFill>
                  </a:tcPr>
                </a:tc>
              </a:tr>
              <a:tr h="566928">
                <a:tc>
                  <a:txBody>
                    <a:bodyPr/>
                    <a:lstStyle/>
                    <a:p>
                      <a:pPr indent="0" marL="0">
                        <a:buNone/>
                      </a:pPr>
                      <a:r>
                        <a:rPr lang="en-US" sz="1030" b="1" dirty="0">
                          <a:solidFill>
                            <a:srgbClr val="16263F"/>
                          </a:solidFill>
                          <a:latin typeface="Calibri" pitchFamily="34" charset="0"/>
                          <a:ea typeface="Calibri" pitchFamily="34" charset="-122"/>
                          <a:cs typeface="Calibri" pitchFamily="34" charset="-120"/>
                        </a:rPr>
                        <a:t>Product</a:t>
                      </a:r>
                      <a:endParaRPr lang="en-US" sz="1030" dirty="0">
                        <a:latin typeface="Calibri" charset="0"/>
                        <a:ea typeface="Calibri" charset="0"/>
                        <a:cs typeface="Calibri" charset="0"/>
                      </a:endParaRPr>
                    </a:p>
                  </a:txBody>
                  <a:tcPr marL="54864" marR="54864" marT="54864" marB="54864" anchor="ctr">
                    <a:lnL w="6350" cap="flat" cmpd="sng" algn="ctr">
                      <a:solidFill>
                        <a:srgbClr val="DFE6EE"/>
                      </a:solidFill>
                      <a:prstDash val="solid"/>
                      <a:round/>
                      <a:headEnd type="none" w="med" len="med"/>
                      <a:tailEnd type="none" w="med" len="med"/>
                    </a:lnL>
                    <a:lnR w="6350" cap="flat" cmpd="sng" algn="ctr">
                      <a:solidFill>
                        <a:srgbClr val="DFE6EE"/>
                      </a:solidFill>
                      <a:prstDash val="solid"/>
                      <a:round/>
                      <a:headEnd type="none" w="med" len="med"/>
                      <a:tailEnd type="none" w="med" len="med"/>
                    </a:lnR>
                    <a:lnT w="6350" cap="flat" cmpd="sng" algn="ctr">
                      <a:solidFill>
                        <a:srgbClr val="DFE6EE"/>
                      </a:solidFill>
                      <a:prstDash val="solid"/>
                      <a:round/>
                      <a:headEnd type="none" w="med" len="med"/>
                      <a:tailEnd type="none" w="med" len="med"/>
                    </a:lnT>
                    <a:lnB w="6350" cap="flat" cmpd="sng" algn="ctr">
                      <a:solidFill>
                        <a:srgbClr val="DFE6EE"/>
                      </a:solidFill>
                      <a:prstDash val="solid"/>
                      <a:round/>
                      <a:headEnd type="none" w="med" len="med"/>
                      <a:tailEnd type="none" w="med" len="med"/>
                    </a:lnB>
                    <a:solidFill>
                      <a:srgbClr val="FFFFFF"/>
                    </a:solidFill>
                  </a:tcPr>
                </a:tc>
                <a:tc>
                  <a:txBody>
                    <a:bodyPr/>
                    <a:lstStyle/>
                    <a:p>
                      <a:pPr indent="0" marL="0">
                        <a:buNone/>
                      </a:pPr>
                      <a:r>
                        <a:rPr lang="en-US" sz="1030" dirty="0">
                          <a:solidFill>
                            <a:srgbClr val="1F2A38"/>
                          </a:solidFill>
                          <a:latin typeface="Calibri" pitchFamily="34" charset="0"/>
                          <a:ea typeface="Calibri" pitchFamily="34" charset="-122"/>
                          <a:cs typeface="Calibri" pitchFamily="34" charset="-120"/>
                        </a:rPr>
                        <a:t>Moducule reuse % · validation pass rate · AI acceptance % · eval accuracy</a:t>
                      </a:r>
                      <a:endParaRPr lang="en-US" sz="1030" dirty="0">
                        <a:latin typeface="Calibri" charset="0"/>
                        <a:ea typeface="Calibri" charset="0"/>
                        <a:cs typeface="Calibri" charset="0"/>
                      </a:endParaRPr>
                    </a:p>
                  </a:txBody>
                  <a:tcPr marL="54864" marR="54864" marT="54864" marB="54864" anchor="ctr">
                    <a:lnL w="6350" cap="flat" cmpd="sng" algn="ctr">
                      <a:solidFill>
                        <a:srgbClr val="DFE6EE"/>
                      </a:solidFill>
                      <a:prstDash val="solid"/>
                      <a:round/>
                      <a:headEnd type="none" w="med" len="med"/>
                      <a:tailEnd type="none" w="med" len="med"/>
                    </a:lnL>
                    <a:lnR w="6350" cap="flat" cmpd="sng" algn="ctr">
                      <a:solidFill>
                        <a:srgbClr val="DFE6EE"/>
                      </a:solidFill>
                      <a:prstDash val="solid"/>
                      <a:round/>
                      <a:headEnd type="none" w="med" len="med"/>
                      <a:tailEnd type="none" w="med" len="med"/>
                    </a:lnR>
                    <a:lnT w="6350" cap="flat" cmpd="sng" algn="ctr">
                      <a:solidFill>
                        <a:srgbClr val="DFE6EE"/>
                      </a:solidFill>
                      <a:prstDash val="solid"/>
                      <a:round/>
                      <a:headEnd type="none" w="med" len="med"/>
                      <a:tailEnd type="none" w="med" len="med"/>
                    </a:lnT>
                    <a:lnB w="6350" cap="flat" cmpd="sng" algn="ctr">
                      <a:solidFill>
                        <a:srgbClr val="DFE6EE"/>
                      </a:solidFill>
                      <a:prstDash val="solid"/>
                      <a:round/>
                      <a:headEnd type="none" w="med" len="med"/>
                      <a:tailEnd type="none" w="med" len="med"/>
                    </a:lnB>
                    <a:solidFill>
                      <a:srgbClr val="FFFFFF"/>
                    </a:solidFill>
                  </a:tcPr>
                </a:tc>
              </a:tr>
              <a:tr h="566928">
                <a:tc>
                  <a:txBody>
                    <a:bodyPr/>
                    <a:lstStyle/>
                    <a:p>
                      <a:pPr indent="0" marL="0">
                        <a:buNone/>
                      </a:pPr>
                      <a:r>
                        <a:rPr lang="en-US" sz="1030" b="1" dirty="0">
                          <a:solidFill>
                            <a:srgbClr val="16263F"/>
                          </a:solidFill>
                          <a:latin typeface="Calibri" pitchFamily="34" charset="0"/>
                          <a:ea typeface="Calibri" pitchFamily="34" charset="-122"/>
                          <a:cs typeface="Calibri" pitchFamily="34" charset="-120"/>
                        </a:rPr>
                        <a:t>Transition</a:t>
                      </a:r>
                      <a:endParaRPr lang="en-US" sz="1030" dirty="0">
                        <a:latin typeface="Calibri" charset="0"/>
                        <a:ea typeface="Calibri" charset="0"/>
                        <a:cs typeface="Calibri" charset="0"/>
                      </a:endParaRPr>
                    </a:p>
                  </a:txBody>
                  <a:tcPr marL="54864" marR="54864" marT="54864" marB="54864" anchor="ctr">
                    <a:lnL w="6350" cap="flat" cmpd="sng" algn="ctr">
                      <a:solidFill>
                        <a:srgbClr val="DFE6EE"/>
                      </a:solidFill>
                      <a:prstDash val="solid"/>
                      <a:round/>
                      <a:headEnd type="none" w="med" len="med"/>
                      <a:tailEnd type="none" w="med" len="med"/>
                    </a:lnL>
                    <a:lnR w="6350" cap="flat" cmpd="sng" algn="ctr">
                      <a:solidFill>
                        <a:srgbClr val="DFE6EE"/>
                      </a:solidFill>
                      <a:prstDash val="solid"/>
                      <a:round/>
                      <a:headEnd type="none" w="med" len="med"/>
                      <a:tailEnd type="none" w="med" len="med"/>
                    </a:lnR>
                    <a:lnT w="6350" cap="flat" cmpd="sng" algn="ctr">
                      <a:solidFill>
                        <a:srgbClr val="DFE6EE"/>
                      </a:solidFill>
                      <a:prstDash val="solid"/>
                      <a:round/>
                      <a:headEnd type="none" w="med" len="med"/>
                      <a:tailEnd type="none" w="med" len="med"/>
                    </a:lnT>
                    <a:lnB w="6350" cap="flat" cmpd="sng" algn="ctr">
                      <a:solidFill>
                        <a:srgbClr val="DFE6EE"/>
                      </a:solidFill>
                      <a:prstDash val="solid"/>
                      <a:round/>
                      <a:headEnd type="none" w="med" len="med"/>
                      <a:tailEnd type="none" w="med" len="med"/>
                    </a:lnB>
                    <a:solidFill>
                      <a:srgbClr val="F3F6FA"/>
                    </a:solidFill>
                  </a:tcPr>
                </a:tc>
                <a:tc>
                  <a:txBody>
                    <a:bodyPr/>
                    <a:lstStyle/>
                    <a:p>
                      <a:pPr indent="0" marL="0">
                        <a:buNone/>
                      </a:pPr>
                      <a:r>
                        <a:rPr lang="en-US" sz="1030" dirty="0">
                          <a:solidFill>
                            <a:srgbClr val="1F2A38"/>
                          </a:solidFill>
                          <a:latin typeface="Calibri" pitchFamily="34" charset="0"/>
                          <a:ea typeface="Calibri" pitchFamily="34" charset="-122"/>
                          <a:cs typeface="Calibri" pitchFamily="34" charset="-120"/>
                        </a:rPr>
                        <a:t>Phase exits on time · KT coverage · velocity continuity through cutover</a:t>
                      </a:r>
                      <a:endParaRPr lang="en-US" sz="1030" dirty="0">
                        <a:latin typeface="Calibri" charset="0"/>
                        <a:ea typeface="Calibri" charset="0"/>
                        <a:cs typeface="Calibri" charset="0"/>
                      </a:endParaRPr>
                    </a:p>
                  </a:txBody>
                  <a:tcPr marL="54864" marR="54864" marT="54864" marB="54864" anchor="ctr">
                    <a:lnL w="6350" cap="flat" cmpd="sng" algn="ctr">
                      <a:solidFill>
                        <a:srgbClr val="DFE6EE"/>
                      </a:solidFill>
                      <a:prstDash val="solid"/>
                      <a:round/>
                      <a:headEnd type="none" w="med" len="med"/>
                      <a:tailEnd type="none" w="med" len="med"/>
                    </a:lnL>
                    <a:lnR w="6350" cap="flat" cmpd="sng" algn="ctr">
                      <a:solidFill>
                        <a:srgbClr val="DFE6EE"/>
                      </a:solidFill>
                      <a:prstDash val="solid"/>
                      <a:round/>
                      <a:headEnd type="none" w="med" len="med"/>
                      <a:tailEnd type="none" w="med" len="med"/>
                    </a:lnR>
                    <a:lnT w="6350" cap="flat" cmpd="sng" algn="ctr">
                      <a:solidFill>
                        <a:srgbClr val="DFE6EE"/>
                      </a:solidFill>
                      <a:prstDash val="solid"/>
                      <a:round/>
                      <a:headEnd type="none" w="med" len="med"/>
                      <a:tailEnd type="none" w="med" len="med"/>
                    </a:lnT>
                    <a:lnB w="6350" cap="flat" cmpd="sng" algn="ctr">
                      <a:solidFill>
                        <a:srgbClr val="DFE6EE"/>
                      </a:solidFill>
                      <a:prstDash val="solid"/>
                      <a:round/>
                      <a:headEnd type="none" w="med" len="med"/>
                      <a:tailEnd type="none" w="med" len="med"/>
                    </a:lnB>
                    <a:solidFill>
                      <a:srgbClr val="F3F6FA"/>
                    </a:solidFill>
                  </a:tcPr>
                </a:tc>
              </a:tr>
            </a:tbl>
          </a:graphicData>
        </a:graphic>
      </p:graphicFrame>
      <p:sp>
        <p:nvSpPr>
          <p:cNvPr id="16" name="Text 13"/>
          <p:cNvSpPr/>
          <p:nvPr/>
        </p:nvSpPr>
        <p:spPr>
          <a:xfrm>
            <a:off x="4617720" y="4535424"/>
            <a:ext cx="4069080" cy="274320"/>
          </a:xfrm>
          <a:prstGeom prst="rect">
            <a:avLst/>
          </a:prstGeom>
          <a:noFill/>
          <a:ln/>
        </p:spPr>
        <p:txBody>
          <a:bodyPr wrap="square" lIns="0" tIns="0" rIns="0" bIns="0" rtlCol="0" anchor="ctr"/>
          <a:lstStyle/>
          <a:p>
            <a:pPr indent="0" marL="0">
              <a:buNone/>
            </a:pPr>
            <a:r>
              <a:rPr lang="en-US" sz="1050" i="1" dirty="0">
                <a:solidFill>
                  <a:srgbClr val="5B6B7E"/>
                </a:solidFill>
                <a:latin typeface="Calibri" pitchFamily="34" charset="0"/>
                <a:ea typeface="Calibri" pitchFamily="34" charset="-122"/>
                <a:cs typeface="Calibri" pitchFamily="34" charset="-120"/>
              </a:rPr>
              <a:t>Published every governance cycle. No scorecard, no meeting.</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92608"/>
            <a:ext cx="8229600" cy="274320"/>
          </a:xfrm>
          <a:prstGeom prst="rect">
            <a:avLst/>
          </a:prstGeom>
          <a:noFill/>
          <a:ln/>
        </p:spPr>
        <p:txBody>
          <a:bodyPr wrap="square" lIns="0" tIns="0" rIns="0" bIns="0" rtlCol="0" anchor="ctr"/>
          <a:lstStyle/>
          <a:p>
            <a:pPr indent="0" marL="0">
              <a:buNone/>
            </a:pPr>
            <a:r>
              <a:rPr lang="en-US" sz="1050" b="1" spc="200" kern="0" dirty="0">
                <a:solidFill>
                  <a:srgbClr val="C78F0D"/>
                </a:solidFill>
                <a:latin typeface="Calibri" pitchFamily="34" charset="0"/>
                <a:ea typeface="Calibri" pitchFamily="34" charset="-122"/>
                <a:cs typeface="Calibri" pitchFamily="34" charset="-120"/>
              </a:rPr>
              <a:t>THE DECISION · CLIENT STRATEGY</a:t>
            </a:r>
            <a:endParaRPr lang="en-US" sz="1050" dirty="0"/>
          </a:p>
        </p:txBody>
      </p:sp>
      <p:sp>
        <p:nvSpPr>
          <p:cNvPr id="3" name="Text 1"/>
          <p:cNvSpPr/>
          <p:nvPr/>
        </p:nvSpPr>
        <p:spPr>
          <a:xfrm>
            <a:off x="457200" y="530352"/>
            <a:ext cx="8229600" cy="566928"/>
          </a:xfrm>
          <a:prstGeom prst="rect">
            <a:avLst/>
          </a:prstGeom>
          <a:noFill/>
          <a:ln/>
        </p:spPr>
        <p:txBody>
          <a:bodyPr wrap="square" lIns="0" tIns="0" rIns="0" bIns="0" rtlCol="0" anchor="ctr"/>
          <a:lstStyle/>
          <a:p>
            <a:pPr indent="0" marL="0">
              <a:buNone/>
            </a:pPr>
            <a:r>
              <a:rPr lang="en-US" sz="2800" b="1" dirty="0">
                <a:solidFill>
                  <a:srgbClr val="16263F"/>
                </a:solidFill>
                <a:latin typeface="Cambria" pitchFamily="34" charset="0"/>
                <a:ea typeface="Cambria" pitchFamily="34" charset="-122"/>
                <a:cs typeface="Cambria" pitchFamily="34" charset="-120"/>
              </a:rPr>
              <a:t>Three roads, one spine</a:t>
            </a:r>
            <a:endParaRPr lang="en-US" sz="2800" dirty="0"/>
          </a:p>
        </p:txBody>
      </p:sp>
      <p:sp>
        <p:nvSpPr>
          <p:cNvPr id="4" name="Text 2"/>
          <p:cNvSpPr/>
          <p:nvPr/>
        </p:nvSpPr>
        <p:spPr>
          <a:xfrm>
            <a:off x="457200" y="1152144"/>
            <a:ext cx="8229600" cy="274320"/>
          </a:xfrm>
          <a:prstGeom prst="rect">
            <a:avLst/>
          </a:prstGeom>
          <a:noFill/>
          <a:ln/>
        </p:spPr>
        <p:txBody>
          <a:bodyPr wrap="square" lIns="0" tIns="0" rIns="0" bIns="0" rtlCol="0" anchor="ctr"/>
          <a:lstStyle/>
          <a:p>
            <a:pPr indent="0" marL="0">
              <a:buNone/>
            </a:pPr>
            <a:r>
              <a:rPr lang="en-US" sz="1150" dirty="0">
                <a:solidFill>
                  <a:srgbClr val="5B6B7E"/>
                </a:solidFill>
                <a:latin typeface="Calibri" pitchFamily="34" charset="0"/>
                <a:ea typeface="Calibri" pitchFamily="34" charset="-122"/>
                <a:cs typeface="Calibri" pitchFamily="34" charset="-120"/>
              </a:rPr>
              <a:t>The spine — registry, composition graph, validation, event log — is non-negotiable in every option. </a:t>
            </a:r>
            <a:pPr indent="0" marL="0">
              <a:buNone/>
            </a:pPr>
            <a:r>
              <a:rPr lang="en-US" sz="1150" b="1" dirty="0">
                <a:solidFill>
                  <a:srgbClr val="16263F"/>
                </a:solidFill>
                <a:latin typeface="Calibri" pitchFamily="34" charset="0"/>
                <a:ea typeface="Calibri" pitchFamily="34" charset="-122"/>
                <a:cs typeface="Calibri" pitchFamily="34" charset="-120"/>
              </a:rPr>
              <a:t>The roads differ only on when we pay the client-truth bill.</a:t>
            </a:r>
            <a:endParaRPr lang="en-US" sz="1150" dirty="0"/>
          </a:p>
        </p:txBody>
      </p:sp>
      <p:sp>
        <p:nvSpPr>
          <p:cNvPr id="5" name="Shape 3"/>
          <p:cNvSpPr/>
          <p:nvPr/>
        </p:nvSpPr>
        <p:spPr>
          <a:xfrm>
            <a:off x="457200" y="1517904"/>
            <a:ext cx="2624328" cy="2395728"/>
          </a:xfrm>
          <a:prstGeom prst="roundRect">
            <a:avLst>
              <a:gd name="adj" fmla="val 2290"/>
            </a:avLst>
          </a:prstGeom>
          <a:solidFill>
            <a:srgbClr val="F3F6FA"/>
          </a:solidFill>
          <a:ln/>
          <a:effectLst>
            <a:outerShdw sx="100000" sy="100000" kx="0" ky="0" algn="bl" rotWithShape="0" blurRad="88900" dist="25400" dir="2700000">
              <a:srgbClr val="000000">
                <a:alpha val="14000"/>
              </a:srgbClr>
            </a:outerShdw>
          </a:effectLst>
        </p:spPr>
      </p:sp>
      <p:sp>
        <p:nvSpPr>
          <p:cNvPr id="6" name="Text 4"/>
          <p:cNvSpPr/>
          <p:nvPr/>
        </p:nvSpPr>
        <p:spPr>
          <a:xfrm>
            <a:off x="621792" y="1645920"/>
            <a:ext cx="2331720" cy="256032"/>
          </a:xfrm>
          <a:prstGeom prst="rect">
            <a:avLst/>
          </a:prstGeom>
          <a:noFill/>
          <a:ln/>
        </p:spPr>
        <p:txBody>
          <a:bodyPr wrap="square" lIns="0" tIns="0" rIns="0" bIns="0" rtlCol="0" anchor="ctr"/>
          <a:lstStyle/>
          <a:p>
            <a:pPr indent="0" marL="0">
              <a:buNone/>
            </a:pPr>
            <a:r>
              <a:rPr lang="en-US" sz="1200" b="1" dirty="0">
                <a:solidFill>
                  <a:srgbClr val="16263F"/>
                </a:solidFill>
                <a:latin typeface="Calibri" pitchFamily="34" charset="0"/>
                <a:ea typeface="Calibri" pitchFamily="34" charset="-122"/>
                <a:cs typeface="Calibri" pitchFamily="34" charset="-120"/>
              </a:rPr>
              <a:t>A · STABILIZE ON UNITY</a:t>
            </a:r>
            <a:endParaRPr lang="en-US" sz="1200" dirty="0"/>
          </a:p>
        </p:txBody>
      </p:sp>
      <p:sp>
        <p:nvSpPr>
          <p:cNvPr id="7" name="Text 5"/>
          <p:cNvSpPr/>
          <p:nvPr/>
        </p:nvSpPr>
        <p:spPr>
          <a:xfrm>
            <a:off x="621792" y="1938528"/>
            <a:ext cx="2331720" cy="384048"/>
          </a:xfrm>
          <a:prstGeom prst="rect">
            <a:avLst/>
          </a:prstGeom>
          <a:noFill/>
          <a:ln/>
        </p:spPr>
        <p:txBody>
          <a:bodyPr wrap="square" lIns="0" tIns="0" rIns="0" bIns="0" rtlCol="0" anchor="ctr"/>
          <a:lstStyle/>
          <a:p>
            <a:pPr indent="0" marL="0">
              <a:buNone/>
            </a:pPr>
            <a:r>
              <a:rPr lang="en-US" sz="880" i="1" dirty="0">
                <a:solidFill>
                  <a:srgbClr val="C78F0D"/>
                </a:solidFill>
                <a:latin typeface="Calibri" pitchFamily="34" charset="0"/>
                <a:ea typeface="Calibri" pitchFamily="34" charset="-122"/>
                <a:cs typeface="Calibri" pitchFamily="34" charset="-120"/>
              </a:rPr>
              <a:t>Demo ~10–12 wks · Pilot ~5 mo + IT onboarding per client</a:t>
            </a:r>
            <a:endParaRPr lang="en-US" sz="880" dirty="0"/>
          </a:p>
        </p:txBody>
      </p:sp>
      <p:sp>
        <p:nvSpPr>
          <p:cNvPr id="8" name="Text 6"/>
          <p:cNvSpPr/>
          <p:nvPr/>
        </p:nvSpPr>
        <p:spPr>
          <a:xfrm>
            <a:off x="621792" y="2377440"/>
            <a:ext cx="2331720" cy="457200"/>
          </a:xfrm>
          <a:prstGeom prst="rect">
            <a:avLst/>
          </a:prstGeom>
          <a:noFill/>
          <a:ln/>
        </p:spPr>
        <p:txBody>
          <a:bodyPr wrap="square" lIns="0" tIns="0" rIns="0" bIns="0" rtlCol="0" anchor="ctr"/>
          <a:lstStyle/>
          <a:p>
            <a:pPr indent="0" marL="0">
              <a:buNone/>
            </a:pPr>
            <a:r>
              <a:rPr lang="en-US" sz="870" b="1" dirty="0">
                <a:solidFill>
                  <a:srgbClr val="1E7A4C"/>
                </a:solidFill>
                <a:latin typeface="Calibri" pitchFamily="34" charset="0"/>
                <a:ea typeface="Calibri" pitchFamily="34" charset="-122"/>
                <a:cs typeface="Calibri" pitchFamily="34" charset="-120"/>
              </a:rPr>
              <a:t>+  </a:t>
            </a:r>
            <a:pPr indent="0" marL="0">
              <a:buNone/>
            </a:pPr>
            <a:r>
              <a:rPr lang="en-US" sz="870" dirty="0">
                <a:solidFill>
                  <a:srgbClr val="1F2A38"/>
                </a:solidFill>
                <a:latin typeface="Calibri" pitchFamily="34" charset="0"/>
                <a:ea typeface="Calibri" pitchFamily="34" charset="-122"/>
                <a:cs typeface="Calibri" pitchFamily="34" charset="-120"/>
              </a:rPr>
              <a:t>Fastest visible progress; zero retraining; smallest scope</a:t>
            </a:r>
            <a:endParaRPr lang="en-US" sz="870" dirty="0"/>
          </a:p>
        </p:txBody>
      </p:sp>
      <p:sp>
        <p:nvSpPr>
          <p:cNvPr id="9" name="Text 7"/>
          <p:cNvSpPr/>
          <p:nvPr/>
        </p:nvSpPr>
        <p:spPr>
          <a:xfrm>
            <a:off x="621792" y="2743200"/>
            <a:ext cx="2331720" cy="457200"/>
          </a:xfrm>
          <a:prstGeom prst="rect">
            <a:avLst/>
          </a:prstGeom>
          <a:noFill/>
          <a:ln/>
        </p:spPr>
        <p:txBody>
          <a:bodyPr wrap="square" lIns="0" tIns="0" rIns="0" bIns="0" rtlCol="0" anchor="ctr"/>
          <a:lstStyle/>
          <a:p>
            <a:pPr indent="0" marL="0">
              <a:buNone/>
            </a:pPr>
            <a:r>
              <a:rPr lang="en-US" sz="870" b="1" dirty="0">
                <a:solidFill>
                  <a:srgbClr val="1E7A4C"/>
                </a:solidFill>
                <a:latin typeface="Calibri" pitchFamily="34" charset="0"/>
                <a:ea typeface="Calibri" pitchFamily="34" charset="-122"/>
                <a:cs typeface="Calibri" pitchFamily="34" charset="-120"/>
              </a:rPr>
              <a:t>+  </a:t>
            </a:r>
            <a:pPr indent="0" marL="0">
              <a:buNone/>
            </a:pPr>
            <a:r>
              <a:rPr lang="en-US" sz="870" dirty="0">
                <a:solidFill>
                  <a:srgbClr val="1F2A38"/>
                </a:solidFill>
                <a:latin typeface="Calibri" pitchFamily="34" charset="0"/>
                <a:ea typeface="Calibri" pitchFamily="34" charset="-122"/>
                <a:cs typeface="Calibri" pitchFamily="34" charset="-120"/>
              </a:rPr>
              <a:t>Preserves the existing Unity investment and demos</a:t>
            </a:r>
            <a:endParaRPr lang="en-US" sz="870" dirty="0"/>
          </a:p>
        </p:txBody>
      </p:sp>
      <p:sp>
        <p:nvSpPr>
          <p:cNvPr id="10" name="Text 8"/>
          <p:cNvSpPr/>
          <p:nvPr/>
        </p:nvSpPr>
        <p:spPr>
          <a:xfrm>
            <a:off x="621792" y="3108960"/>
            <a:ext cx="2331720" cy="457200"/>
          </a:xfrm>
          <a:prstGeom prst="rect">
            <a:avLst/>
          </a:prstGeom>
          <a:noFill/>
          <a:ln/>
        </p:spPr>
        <p:txBody>
          <a:bodyPr wrap="square" lIns="0" tIns="0" rIns="0" bIns="0" rtlCol="0" anchor="ctr"/>
          <a:lstStyle/>
          <a:p>
            <a:pPr indent="0" marL="0">
              <a:buNone/>
            </a:pPr>
            <a:r>
              <a:rPr lang="en-US" sz="870" b="1" dirty="0">
                <a:solidFill>
                  <a:srgbClr val="B3402F"/>
                </a:solidFill>
                <a:latin typeface="Calibri" pitchFamily="34" charset="0"/>
                <a:ea typeface="Calibri" pitchFamily="34" charset="-122"/>
                <a:cs typeface="Calibri" pitchFamily="34" charset="-120"/>
              </a:rPr>
              <a:t>–  </a:t>
            </a:r>
            <a:pPr indent="0" marL="0">
              <a:buNone/>
            </a:pPr>
            <a:r>
              <a:rPr lang="en-US" sz="870" dirty="0">
                <a:solidFill>
                  <a:srgbClr val="B3402F"/>
                </a:solidFill>
                <a:latin typeface="Calibri" pitchFamily="34" charset="0"/>
                <a:ea typeface="Calibri" pitchFamily="34" charset="-122"/>
                <a:cs typeface="Calibri" pitchFamily="34" charset="-120"/>
              </a:rPr>
              <a:t>Ships every commercial blocker into sales; re-platform after customer #1 at 5–10×</a:t>
            </a:r>
            <a:endParaRPr lang="en-US" sz="870" dirty="0"/>
          </a:p>
        </p:txBody>
      </p:sp>
      <p:sp>
        <p:nvSpPr>
          <p:cNvPr id="11" name="Shape 9"/>
          <p:cNvSpPr/>
          <p:nvPr/>
        </p:nvSpPr>
        <p:spPr>
          <a:xfrm>
            <a:off x="3264408" y="1517904"/>
            <a:ext cx="2624328" cy="2395728"/>
          </a:xfrm>
          <a:prstGeom prst="roundRect">
            <a:avLst>
              <a:gd name="adj" fmla="val 2290"/>
            </a:avLst>
          </a:prstGeom>
          <a:solidFill>
            <a:srgbClr val="F3F6FA"/>
          </a:solidFill>
          <a:ln/>
          <a:effectLst>
            <a:outerShdw sx="100000" sy="100000" kx="0" ky="0" algn="bl" rotWithShape="0" blurRad="88900" dist="25400" dir="2700000">
              <a:srgbClr val="000000">
                <a:alpha val="14000"/>
              </a:srgbClr>
            </a:outerShdw>
          </a:effectLst>
        </p:spPr>
      </p:sp>
      <p:sp>
        <p:nvSpPr>
          <p:cNvPr id="12" name="Text 10"/>
          <p:cNvSpPr/>
          <p:nvPr/>
        </p:nvSpPr>
        <p:spPr>
          <a:xfrm>
            <a:off x="3429000" y="1645920"/>
            <a:ext cx="2331720" cy="256032"/>
          </a:xfrm>
          <a:prstGeom prst="rect">
            <a:avLst/>
          </a:prstGeom>
          <a:noFill/>
          <a:ln/>
        </p:spPr>
        <p:txBody>
          <a:bodyPr wrap="square" lIns="0" tIns="0" rIns="0" bIns="0" rtlCol="0" anchor="ctr"/>
          <a:lstStyle/>
          <a:p>
            <a:pPr indent="0" marL="0">
              <a:buNone/>
            </a:pPr>
            <a:r>
              <a:rPr lang="en-US" sz="1200" b="1" dirty="0">
                <a:solidFill>
                  <a:srgbClr val="16263F"/>
                </a:solidFill>
                <a:latin typeface="Calibri" pitchFamily="34" charset="0"/>
                <a:ea typeface="Calibri" pitchFamily="34" charset="-122"/>
                <a:cs typeface="Calibri" pitchFamily="34" charset="-120"/>
              </a:rPr>
              <a:t>B · WEB-FIRST REBUILD</a:t>
            </a:r>
            <a:endParaRPr lang="en-US" sz="1200" dirty="0"/>
          </a:p>
        </p:txBody>
      </p:sp>
      <p:sp>
        <p:nvSpPr>
          <p:cNvPr id="13" name="Text 11"/>
          <p:cNvSpPr/>
          <p:nvPr/>
        </p:nvSpPr>
        <p:spPr>
          <a:xfrm>
            <a:off x="3429000" y="1938528"/>
            <a:ext cx="2331720" cy="384048"/>
          </a:xfrm>
          <a:prstGeom prst="rect">
            <a:avLst/>
          </a:prstGeom>
          <a:noFill/>
          <a:ln/>
        </p:spPr>
        <p:txBody>
          <a:bodyPr wrap="square" lIns="0" tIns="0" rIns="0" bIns="0" rtlCol="0" anchor="ctr"/>
          <a:lstStyle/>
          <a:p>
            <a:pPr indent="0" marL="0">
              <a:buNone/>
            </a:pPr>
            <a:r>
              <a:rPr lang="en-US" sz="880" i="1" dirty="0">
                <a:solidFill>
                  <a:srgbClr val="C78F0D"/>
                </a:solidFill>
                <a:latin typeface="Calibri" pitchFamily="34" charset="0"/>
                <a:ea typeface="Calibri" pitchFamily="34" charset="-122"/>
                <a:cs typeface="Calibri" pitchFamily="34" charset="-120"/>
              </a:rPr>
              <a:t>Demo ~12–14 wks · Pilot ~5–6 mo, zero-install</a:t>
            </a:r>
            <a:endParaRPr lang="en-US" sz="880" dirty="0"/>
          </a:p>
        </p:txBody>
      </p:sp>
      <p:sp>
        <p:nvSpPr>
          <p:cNvPr id="14" name="Text 12"/>
          <p:cNvSpPr/>
          <p:nvPr/>
        </p:nvSpPr>
        <p:spPr>
          <a:xfrm>
            <a:off x="3429000" y="2377440"/>
            <a:ext cx="2331720" cy="457200"/>
          </a:xfrm>
          <a:prstGeom prst="rect">
            <a:avLst/>
          </a:prstGeom>
          <a:noFill/>
          <a:ln/>
        </p:spPr>
        <p:txBody>
          <a:bodyPr wrap="square" lIns="0" tIns="0" rIns="0" bIns="0" rtlCol="0" anchor="ctr"/>
          <a:lstStyle/>
          <a:p>
            <a:pPr indent="0" marL="0">
              <a:buNone/>
            </a:pPr>
            <a:r>
              <a:rPr lang="en-US" sz="870" b="1" dirty="0">
                <a:solidFill>
                  <a:srgbClr val="1E7A4C"/>
                </a:solidFill>
                <a:latin typeface="Calibri" pitchFamily="34" charset="0"/>
                <a:ea typeface="Calibri" pitchFamily="34" charset="-122"/>
                <a:cs typeface="Calibri" pitchFamily="34" charset="-120"/>
              </a:rPr>
              <a:t>+  </a:t>
            </a:r>
            <a:pPr indent="0" marL="0">
              <a:buNone/>
            </a:pPr>
            <a:r>
              <a:rPr lang="en-US" sz="870" dirty="0">
                <a:solidFill>
                  <a:srgbClr val="1F2A38"/>
                </a:solidFill>
                <a:latin typeface="Calibri" pitchFamily="34" charset="0"/>
                <a:ea typeface="Calibri" pitchFamily="34" charset="-122"/>
                <a:cs typeface="Calibri" pitchFamily="34" charset="-120"/>
              </a:rPr>
              <a:t>Kills the #1 blocker natively — earliest revenue-able moment</a:t>
            </a:r>
            <a:endParaRPr lang="en-US" sz="870" dirty="0"/>
          </a:p>
        </p:txBody>
      </p:sp>
      <p:sp>
        <p:nvSpPr>
          <p:cNvPr id="15" name="Text 13"/>
          <p:cNvSpPr/>
          <p:nvPr/>
        </p:nvSpPr>
        <p:spPr>
          <a:xfrm>
            <a:off x="3429000" y="2852928"/>
            <a:ext cx="2331720" cy="457200"/>
          </a:xfrm>
          <a:prstGeom prst="rect">
            <a:avLst/>
          </a:prstGeom>
          <a:noFill/>
          <a:ln/>
        </p:spPr>
        <p:txBody>
          <a:bodyPr wrap="square" lIns="0" tIns="0" rIns="0" bIns="0" rtlCol="0" anchor="ctr"/>
          <a:lstStyle/>
          <a:p>
            <a:pPr indent="0" marL="0">
              <a:buNone/>
            </a:pPr>
            <a:r>
              <a:rPr lang="en-US" sz="870" b="1" dirty="0">
                <a:solidFill>
                  <a:srgbClr val="1E7A4C"/>
                </a:solidFill>
                <a:latin typeface="Calibri" pitchFamily="34" charset="0"/>
                <a:ea typeface="Calibri" pitchFamily="34" charset="-122"/>
                <a:cs typeface="Calibri" pitchFamily="34" charset="-120"/>
              </a:rPr>
              <a:t>+  </a:t>
            </a:r>
            <a:pPr indent="0" marL="0">
              <a:buNone/>
            </a:pPr>
            <a:r>
              <a:rPr lang="en-US" sz="870" dirty="0">
                <a:solidFill>
                  <a:srgbClr val="1F2A38"/>
                </a:solidFill>
                <a:latin typeface="Calibri" pitchFamily="34" charset="0"/>
                <a:ea typeface="Calibri" pitchFamily="34" charset="-122"/>
                <a:cs typeface="Calibri" pitchFamily="34" charset="-120"/>
              </a:rPr>
              <a:t>AI agents cover 100% of the codebase; standards-proof; ~zero cost per seat</a:t>
            </a:r>
            <a:endParaRPr lang="en-US" sz="870" dirty="0"/>
          </a:p>
        </p:txBody>
      </p:sp>
      <p:sp>
        <p:nvSpPr>
          <p:cNvPr id="16" name="Text 14"/>
          <p:cNvSpPr/>
          <p:nvPr/>
        </p:nvSpPr>
        <p:spPr>
          <a:xfrm>
            <a:off x="3429000" y="3328416"/>
            <a:ext cx="2331720" cy="457200"/>
          </a:xfrm>
          <a:prstGeom prst="rect">
            <a:avLst/>
          </a:prstGeom>
          <a:noFill/>
          <a:ln/>
        </p:spPr>
        <p:txBody>
          <a:bodyPr wrap="square" lIns="0" tIns="0" rIns="0" bIns="0" rtlCol="0" anchor="ctr"/>
          <a:lstStyle/>
          <a:p>
            <a:pPr indent="0" marL="0">
              <a:buNone/>
            </a:pPr>
            <a:r>
              <a:rPr lang="en-US" sz="870" b="1" dirty="0">
                <a:solidFill>
                  <a:srgbClr val="B3402F"/>
                </a:solidFill>
                <a:latin typeface="Calibri" pitchFamily="34" charset="0"/>
                <a:ea typeface="Calibri" pitchFamily="34" charset="-122"/>
                <a:cs typeface="Calibri" pitchFamily="34" charset="-120"/>
              </a:rPr>
              <a:t>–  </a:t>
            </a:r>
            <a:pPr indent="0" marL="0">
              <a:buNone/>
            </a:pPr>
            <a:r>
              <a:rPr lang="en-US" sz="870" dirty="0">
                <a:solidFill>
                  <a:srgbClr val="B3402F"/>
                </a:solidFill>
                <a:latin typeface="Calibri" pitchFamily="34" charset="0"/>
                <a:ea typeface="Calibri" pitchFamily="34" charset="-122"/>
                <a:cs typeface="Calibri" pitchFamily="34" charset="-120"/>
              </a:rPr>
              <a:t>Commits without bake-off evidence; second-system risk</a:t>
            </a:r>
            <a:endParaRPr lang="en-US" sz="870" dirty="0"/>
          </a:p>
        </p:txBody>
      </p:sp>
      <p:sp>
        <p:nvSpPr>
          <p:cNvPr id="17" name="Shape 15"/>
          <p:cNvSpPr/>
          <p:nvPr/>
        </p:nvSpPr>
        <p:spPr>
          <a:xfrm>
            <a:off x="6071616" y="1517904"/>
            <a:ext cx="2624328" cy="2395728"/>
          </a:xfrm>
          <a:prstGeom prst="roundRect">
            <a:avLst>
              <a:gd name="adj" fmla="val 2290"/>
            </a:avLst>
          </a:prstGeom>
          <a:solidFill>
            <a:srgbClr val="FBF2DC"/>
          </a:solidFill>
          <a:ln w="19050">
            <a:solidFill>
              <a:srgbClr val="E8A816"/>
            </a:solidFill>
            <a:prstDash val="solid"/>
          </a:ln>
          <a:effectLst>
            <a:outerShdw sx="100000" sy="100000" kx="0" ky="0" algn="bl" rotWithShape="0" blurRad="88900" dist="25400" dir="2700000">
              <a:srgbClr val="000000">
                <a:alpha val="14000"/>
              </a:srgbClr>
            </a:outerShdw>
          </a:effectLst>
        </p:spPr>
      </p:sp>
      <p:sp>
        <p:nvSpPr>
          <p:cNvPr id="18" name="Text 16"/>
          <p:cNvSpPr/>
          <p:nvPr/>
        </p:nvSpPr>
        <p:spPr>
          <a:xfrm>
            <a:off x="6236208" y="1645920"/>
            <a:ext cx="2331720" cy="256032"/>
          </a:xfrm>
          <a:prstGeom prst="rect">
            <a:avLst/>
          </a:prstGeom>
          <a:noFill/>
          <a:ln/>
        </p:spPr>
        <p:txBody>
          <a:bodyPr wrap="square" lIns="0" tIns="0" rIns="0" bIns="0" rtlCol="0" anchor="ctr"/>
          <a:lstStyle/>
          <a:p>
            <a:pPr indent="0" marL="0">
              <a:buNone/>
            </a:pPr>
            <a:r>
              <a:rPr lang="en-US" sz="1200" b="1" dirty="0">
                <a:solidFill>
                  <a:srgbClr val="16263F"/>
                </a:solidFill>
                <a:latin typeface="Calibri" pitchFamily="34" charset="0"/>
                <a:ea typeface="Calibri" pitchFamily="34" charset="-122"/>
                <a:cs typeface="Calibri" pitchFamily="34" charset="-120"/>
              </a:rPr>
              <a:t>C · GATED DUAL-TRACK</a:t>
            </a:r>
            <a:endParaRPr lang="en-US" sz="1200" dirty="0"/>
          </a:p>
        </p:txBody>
      </p:sp>
      <p:sp>
        <p:nvSpPr>
          <p:cNvPr id="19" name="Shape 17"/>
          <p:cNvSpPr/>
          <p:nvPr/>
        </p:nvSpPr>
        <p:spPr>
          <a:xfrm>
            <a:off x="6236208" y="1920240"/>
            <a:ext cx="1207008" cy="219456"/>
          </a:xfrm>
          <a:prstGeom prst="roundRect">
            <a:avLst>
              <a:gd name="adj" fmla="val 20833"/>
            </a:avLst>
          </a:prstGeom>
          <a:solidFill>
            <a:srgbClr val="E8A816"/>
          </a:solidFill>
          <a:ln/>
        </p:spPr>
      </p:sp>
      <p:sp>
        <p:nvSpPr>
          <p:cNvPr id="20" name="Text 18"/>
          <p:cNvSpPr/>
          <p:nvPr/>
        </p:nvSpPr>
        <p:spPr>
          <a:xfrm>
            <a:off x="6236208" y="1920240"/>
            <a:ext cx="1207008" cy="219456"/>
          </a:xfrm>
          <a:prstGeom prst="rect">
            <a:avLst/>
          </a:prstGeom>
          <a:noFill/>
          <a:ln/>
        </p:spPr>
        <p:txBody>
          <a:bodyPr wrap="square" lIns="0" tIns="0" rIns="0" bIns="0" rtlCol="0" anchor="ctr"/>
          <a:lstStyle/>
          <a:p>
            <a:pPr algn="ctr" indent="0" marL="0">
              <a:buNone/>
            </a:pPr>
            <a:r>
              <a:rPr lang="en-US" sz="800" b="1" spc="100" kern="0" dirty="0">
                <a:solidFill>
                  <a:srgbClr val="16263F"/>
                </a:solidFill>
                <a:latin typeface="Calibri" pitchFamily="34" charset="0"/>
                <a:ea typeface="Calibri" pitchFamily="34" charset="-122"/>
                <a:cs typeface="Calibri" pitchFamily="34" charset="-120"/>
              </a:rPr>
              <a:t>RECOMMENDED</a:t>
            </a:r>
            <a:endParaRPr lang="en-US" sz="800" dirty="0"/>
          </a:p>
        </p:txBody>
      </p:sp>
      <p:sp>
        <p:nvSpPr>
          <p:cNvPr id="21" name="Text 19"/>
          <p:cNvSpPr/>
          <p:nvPr/>
        </p:nvSpPr>
        <p:spPr>
          <a:xfrm>
            <a:off x="6236208" y="2194560"/>
            <a:ext cx="2331720" cy="384048"/>
          </a:xfrm>
          <a:prstGeom prst="rect">
            <a:avLst/>
          </a:prstGeom>
          <a:noFill/>
          <a:ln/>
        </p:spPr>
        <p:txBody>
          <a:bodyPr wrap="square" lIns="0" tIns="0" rIns="0" bIns="0" rtlCol="0" anchor="ctr"/>
          <a:lstStyle/>
          <a:p>
            <a:pPr indent="0" marL="0">
              <a:buNone/>
            </a:pPr>
            <a:r>
              <a:rPr lang="en-US" sz="880" i="1" dirty="0">
                <a:solidFill>
                  <a:srgbClr val="C78F0D"/>
                </a:solidFill>
                <a:latin typeface="Calibri" pitchFamily="34" charset="0"/>
                <a:ea typeface="Calibri" pitchFamily="34" charset="-122"/>
                <a:cs typeface="Calibri" pitchFamily="34" charset="-120"/>
              </a:rPr>
              <a:t>Demo ~14–16 wks · Pilot ~6 mo, zero-install</a:t>
            </a:r>
            <a:endParaRPr lang="en-US" sz="880" dirty="0"/>
          </a:p>
        </p:txBody>
      </p:sp>
      <p:sp>
        <p:nvSpPr>
          <p:cNvPr id="22" name="Text 20"/>
          <p:cNvSpPr/>
          <p:nvPr/>
        </p:nvSpPr>
        <p:spPr>
          <a:xfrm>
            <a:off x="6236208" y="2596896"/>
            <a:ext cx="2331720" cy="457200"/>
          </a:xfrm>
          <a:prstGeom prst="rect">
            <a:avLst/>
          </a:prstGeom>
          <a:noFill/>
          <a:ln/>
        </p:spPr>
        <p:txBody>
          <a:bodyPr wrap="square" lIns="0" tIns="0" rIns="0" bIns="0" rtlCol="0" anchor="ctr"/>
          <a:lstStyle/>
          <a:p>
            <a:pPr indent="0" marL="0">
              <a:buNone/>
            </a:pPr>
            <a:r>
              <a:rPr lang="en-US" sz="870" b="1" dirty="0">
                <a:solidFill>
                  <a:srgbClr val="1E7A4C"/>
                </a:solidFill>
                <a:latin typeface="Calibri" pitchFamily="34" charset="0"/>
                <a:ea typeface="Calibri" pitchFamily="34" charset="-122"/>
                <a:cs typeface="Calibri" pitchFamily="34" charset="-120"/>
              </a:rPr>
              <a:t>+  </a:t>
            </a:r>
            <a:pPr indent="0" marL="0">
              <a:buNone/>
            </a:pPr>
            <a:r>
              <a:rPr lang="en-US" sz="870" dirty="0">
                <a:solidFill>
                  <a:srgbClr val="1F2A38"/>
                </a:solidFill>
                <a:latin typeface="Calibri" pitchFamily="34" charset="0"/>
                <a:ea typeface="Calibri" pitchFamily="34" charset="-122"/>
                <a:cs typeface="Calibri" pitchFamily="34" charset="-120"/>
              </a:rPr>
              <a:t>Recommendation declared up front: web-first — the spike exists to falsify it, not to feign neutrality</a:t>
            </a:r>
            <a:endParaRPr lang="en-US" sz="870" dirty="0"/>
          </a:p>
        </p:txBody>
      </p:sp>
      <p:sp>
        <p:nvSpPr>
          <p:cNvPr id="23" name="Text 21"/>
          <p:cNvSpPr/>
          <p:nvPr/>
        </p:nvSpPr>
        <p:spPr>
          <a:xfrm>
            <a:off x="6236208" y="3072384"/>
            <a:ext cx="2331720" cy="457200"/>
          </a:xfrm>
          <a:prstGeom prst="rect">
            <a:avLst/>
          </a:prstGeom>
          <a:noFill/>
          <a:ln/>
        </p:spPr>
        <p:txBody>
          <a:bodyPr wrap="square" lIns="0" tIns="0" rIns="0" bIns="0" rtlCol="0" anchor="ctr"/>
          <a:lstStyle/>
          <a:p>
            <a:pPr indent="0" marL="0">
              <a:buNone/>
            </a:pPr>
            <a:r>
              <a:rPr lang="en-US" sz="870" b="1" dirty="0">
                <a:solidFill>
                  <a:srgbClr val="1E7A4C"/>
                </a:solidFill>
                <a:latin typeface="Calibri" pitchFamily="34" charset="0"/>
                <a:ea typeface="Calibri" pitchFamily="34" charset="-122"/>
                <a:cs typeface="Calibri" pitchFamily="34" charset="-120"/>
              </a:rPr>
              <a:t>+  </a:t>
            </a:r>
            <a:pPr indent="0" marL="0">
              <a:buNone/>
            </a:pPr>
            <a:r>
              <a:rPr lang="en-US" sz="870" dirty="0">
                <a:solidFill>
                  <a:srgbClr val="1F2A38"/>
                </a:solidFill>
                <a:latin typeface="Calibri" pitchFamily="34" charset="0"/>
                <a:ea typeface="Calibri" pitchFamily="34" charset="-122"/>
                <a:cs typeface="Calibri" pitchFamily="34" charset="-120"/>
              </a:rPr>
              <a:t>Wks 1–2 on your content &amp; hardware: Unity WebGL vs Babylon/WebGPU; UE5 by paper evaluation</a:t>
            </a:r>
            <a:endParaRPr lang="en-US" sz="870" dirty="0"/>
          </a:p>
        </p:txBody>
      </p:sp>
      <p:sp>
        <p:nvSpPr>
          <p:cNvPr id="24" name="Text 22"/>
          <p:cNvSpPr/>
          <p:nvPr/>
        </p:nvSpPr>
        <p:spPr>
          <a:xfrm>
            <a:off x="6236208" y="3547872"/>
            <a:ext cx="2331720" cy="457200"/>
          </a:xfrm>
          <a:prstGeom prst="rect">
            <a:avLst/>
          </a:prstGeom>
          <a:noFill/>
          <a:ln/>
        </p:spPr>
        <p:txBody>
          <a:bodyPr wrap="square" lIns="0" tIns="0" rIns="0" bIns="0" rtlCol="0" anchor="ctr"/>
          <a:lstStyle/>
          <a:p>
            <a:pPr indent="0" marL="0">
              <a:buNone/>
            </a:pPr>
            <a:r>
              <a:rPr lang="en-US" sz="870" b="1" dirty="0">
                <a:solidFill>
                  <a:srgbClr val="B3402F"/>
                </a:solidFill>
                <a:latin typeface="Calibri" pitchFamily="34" charset="0"/>
                <a:ea typeface="Calibri" pitchFamily="34" charset="-122"/>
                <a:cs typeface="Calibri" pitchFamily="34" charset="-120"/>
              </a:rPr>
              <a:t>–  </a:t>
            </a:r>
            <a:pPr indent="0" marL="0">
              <a:buNone/>
            </a:pPr>
            <a:r>
              <a:rPr lang="en-US" sz="870" dirty="0">
                <a:solidFill>
                  <a:srgbClr val="B3402F"/>
                </a:solidFill>
                <a:latin typeface="Calibri" pitchFamily="34" charset="0"/>
                <a:ea typeface="Calibri" pitchFamily="34" charset="-122"/>
                <a:cs typeface="Calibri" pitchFamily="34" charset="-120"/>
              </a:rPr>
              <a:t>Two-week calendar tax; requires the discipline to never relitigate</a:t>
            </a:r>
            <a:endParaRPr lang="en-US" sz="870" dirty="0"/>
          </a:p>
        </p:txBody>
      </p:sp>
      <p:sp>
        <p:nvSpPr>
          <p:cNvPr id="25" name="Shape 23"/>
          <p:cNvSpPr/>
          <p:nvPr/>
        </p:nvSpPr>
        <p:spPr>
          <a:xfrm>
            <a:off x="457200" y="4114800"/>
            <a:ext cx="8229600" cy="713232"/>
          </a:xfrm>
          <a:prstGeom prst="roundRect">
            <a:avLst>
              <a:gd name="adj" fmla="val 8974"/>
            </a:avLst>
          </a:prstGeom>
          <a:solidFill>
            <a:srgbClr val="16263F"/>
          </a:solidFill>
          <a:ln/>
          <a:effectLst>
            <a:outerShdw sx="100000" sy="100000" kx="0" ky="0" algn="bl" rotWithShape="0" blurRad="88900" dist="25400" dir="2700000">
              <a:srgbClr val="000000">
                <a:alpha val="14000"/>
              </a:srgbClr>
            </a:outerShdw>
          </a:effectLst>
        </p:spPr>
      </p:sp>
      <p:pic>
        <p:nvPicPr>
          <p:cNvPr id="26" name="Image 0" descr="preencoded.png">    </p:cNvPr>
          <p:cNvPicPr>
            <a:picLocks noChangeAspect="1"/>
          </p:cNvPicPr>
          <p:nvPr/>
        </p:nvPicPr>
        <p:blipFill>
          <a:blip r:embed="rId1"/>
          <a:stretch>
            <a:fillRect/>
          </a:stretch>
        </p:blipFill>
        <p:spPr>
          <a:xfrm>
            <a:off x="713232" y="4315968"/>
            <a:ext cx="310896" cy="310896"/>
          </a:xfrm>
          <a:prstGeom prst="rect">
            <a:avLst/>
          </a:prstGeom>
        </p:spPr>
      </p:pic>
      <p:sp>
        <p:nvSpPr>
          <p:cNvPr id="27" name="Text 24"/>
          <p:cNvSpPr/>
          <p:nvPr/>
        </p:nvSpPr>
        <p:spPr>
          <a:xfrm>
            <a:off x="1152144" y="4187952"/>
            <a:ext cx="7406640" cy="566928"/>
          </a:xfrm>
          <a:prstGeom prst="rect">
            <a:avLst/>
          </a:prstGeom>
          <a:noFill/>
          <a:ln/>
        </p:spPr>
        <p:txBody>
          <a:bodyPr wrap="square" lIns="0" tIns="0" rIns="0" bIns="0" rtlCol="0" anchor="ctr"/>
          <a:lstStyle/>
          <a:p>
            <a:pPr indent="0" marL="0">
              <a:buNone/>
            </a:pPr>
            <a:r>
              <a:rPr lang="en-US" sz="1100" b="1" dirty="0">
                <a:solidFill>
                  <a:srgbClr val="E8A816"/>
                </a:solidFill>
                <a:latin typeface="Calibri" pitchFamily="34" charset="0"/>
                <a:ea typeface="Calibri" pitchFamily="34" charset="-122"/>
                <a:cs typeface="Calibri" pitchFamily="34" charset="-120"/>
              </a:rPr>
              <a:t>Recommendation — C:  </a:t>
            </a:r>
            <a:pPr indent="0" marL="0">
              <a:buNone/>
            </a:pPr>
            <a:r>
              <a:rPr lang="en-US" sz="1100" dirty="0">
                <a:solidFill>
                  <a:srgbClr val="FFFFFF"/>
                </a:solidFill>
                <a:latin typeface="Calibri" pitchFamily="34" charset="0"/>
                <a:ea typeface="Calibri" pitchFamily="34" charset="-122"/>
                <a:cs typeface="Calibri" pitchFamily="34" charset="-120"/>
              </a:rPr>
              <a:t>web-first, said plainly — then two weeks to falsify it on your hardware and your content. The scorecard writes the ADR, priced against a 5–10× re-platform.</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92608"/>
            <a:ext cx="8229600" cy="274320"/>
          </a:xfrm>
          <a:prstGeom prst="rect">
            <a:avLst/>
          </a:prstGeom>
          <a:noFill/>
          <a:ln/>
        </p:spPr>
        <p:txBody>
          <a:bodyPr wrap="square" lIns="0" tIns="0" rIns="0" bIns="0" rtlCol="0" anchor="ctr"/>
          <a:lstStyle/>
          <a:p>
            <a:pPr indent="0" marL="0">
              <a:buNone/>
            </a:pPr>
            <a:r>
              <a:rPr lang="en-US" sz="1050" b="1" spc="200" kern="0" dirty="0">
                <a:solidFill>
                  <a:srgbClr val="C78F0D"/>
                </a:solidFill>
                <a:latin typeface="Calibri" pitchFamily="34" charset="0"/>
                <a:ea typeface="Calibri" pitchFamily="34" charset="-122"/>
                <a:cs typeface="Calibri" pitchFamily="34" charset="-120"/>
              </a:rPr>
              <a:t>COMMITMENTS</a:t>
            </a:r>
            <a:endParaRPr lang="en-US" sz="1050" dirty="0"/>
          </a:p>
        </p:txBody>
      </p:sp>
      <p:sp>
        <p:nvSpPr>
          <p:cNvPr id="3" name="Text 1"/>
          <p:cNvSpPr/>
          <p:nvPr/>
        </p:nvSpPr>
        <p:spPr>
          <a:xfrm>
            <a:off x="457200" y="530352"/>
            <a:ext cx="8229600" cy="566928"/>
          </a:xfrm>
          <a:prstGeom prst="rect">
            <a:avLst/>
          </a:prstGeom>
          <a:noFill/>
          <a:ln/>
        </p:spPr>
        <p:txBody>
          <a:bodyPr wrap="square" lIns="0" tIns="0" rIns="0" bIns="0" rtlCol="0" anchor="ctr"/>
          <a:lstStyle/>
          <a:p>
            <a:pPr indent="0" marL="0">
              <a:buNone/>
            </a:pPr>
            <a:r>
              <a:rPr lang="en-US" sz="2800" b="1" dirty="0">
                <a:solidFill>
                  <a:srgbClr val="16263F"/>
                </a:solidFill>
                <a:latin typeface="Cambria" pitchFamily="34" charset="0"/>
                <a:ea typeface="Cambria" pitchFamily="34" charset="-122"/>
                <a:cs typeface="Cambria" pitchFamily="34" charset="-120"/>
              </a:rPr>
              <a:t>The first 90 days — capacity-checked</a:t>
            </a:r>
            <a:endParaRPr lang="en-US" sz="2800" dirty="0"/>
          </a:p>
        </p:txBody>
      </p:sp>
      <p:sp>
        <p:nvSpPr>
          <p:cNvPr id="4" name="Shape 2"/>
          <p:cNvSpPr/>
          <p:nvPr/>
        </p:nvSpPr>
        <p:spPr>
          <a:xfrm>
            <a:off x="457200" y="1298448"/>
            <a:ext cx="2624328" cy="2743200"/>
          </a:xfrm>
          <a:prstGeom prst="roundRect">
            <a:avLst>
              <a:gd name="adj" fmla="val 2091"/>
            </a:avLst>
          </a:prstGeom>
          <a:solidFill>
            <a:srgbClr val="F3F6FA"/>
          </a:solidFill>
          <a:ln/>
          <a:effectLst>
            <a:outerShdw sx="100000" sy="100000" kx="0" ky="0" algn="bl" rotWithShape="0" blurRad="88900" dist="25400" dir="2700000">
              <a:srgbClr val="000000">
                <a:alpha val="14000"/>
              </a:srgbClr>
            </a:outerShdw>
          </a:effectLst>
        </p:spPr>
      </p:sp>
      <p:sp>
        <p:nvSpPr>
          <p:cNvPr id="5" name="Text 3"/>
          <p:cNvSpPr/>
          <p:nvPr/>
        </p:nvSpPr>
        <p:spPr>
          <a:xfrm>
            <a:off x="640080" y="1444752"/>
            <a:ext cx="2286000" cy="237744"/>
          </a:xfrm>
          <a:prstGeom prst="rect">
            <a:avLst/>
          </a:prstGeom>
          <a:noFill/>
          <a:ln/>
        </p:spPr>
        <p:txBody>
          <a:bodyPr wrap="square" lIns="0" tIns="0" rIns="0" bIns="0" rtlCol="0" anchor="ctr"/>
          <a:lstStyle/>
          <a:p>
            <a:pPr indent="0" marL="0">
              <a:buNone/>
            </a:pPr>
            <a:r>
              <a:rPr lang="en-US" sz="1100" b="1" spc="150" kern="0" dirty="0">
                <a:solidFill>
                  <a:srgbClr val="C78F0D"/>
                </a:solidFill>
                <a:latin typeface="Calibri" pitchFamily="34" charset="0"/>
                <a:ea typeface="Calibri" pitchFamily="34" charset="-122"/>
                <a:cs typeface="Calibri" pitchFamily="34" charset="-120"/>
              </a:rPr>
              <a:t>DAYS 0–30</a:t>
            </a:r>
            <a:endParaRPr lang="en-US" sz="1100" dirty="0"/>
          </a:p>
        </p:txBody>
      </p:sp>
      <p:sp>
        <p:nvSpPr>
          <p:cNvPr id="6" name="Text 4"/>
          <p:cNvSpPr/>
          <p:nvPr/>
        </p:nvSpPr>
        <p:spPr>
          <a:xfrm>
            <a:off x="640080" y="1682496"/>
            <a:ext cx="2286000" cy="292608"/>
          </a:xfrm>
          <a:prstGeom prst="rect">
            <a:avLst/>
          </a:prstGeom>
          <a:noFill/>
          <a:ln/>
        </p:spPr>
        <p:txBody>
          <a:bodyPr wrap="square" lIns="0" tIns="0" rIns="0" bIns="0" rtlCol="0" anchor="ctr"/>
          <a:lstStyle/>
          <a:p>
            <a:pPr indent="0" marL="0">
              <a:buNone/>
            </a:pPr>
            <a:r>
              <a:rPr lang="en-US" sz="1600" b="1" dirty="0">
                <a:solidFill>
                  <a:srgbClr val="16263F"/>
                </a:solidFill>
                <a:latin typeface="Cambria" pitchFamily="34" charset="0"/>
                <a:ea typeface="Cambria" pitchFamily="34" charset="-122"/>
                <a:cs typeface="Cambria" pitchFamily="34" charset="-120"/>
              </a:rPr>
              <a:t>Wire &amp; decide</a:t>
            </a:r>
            <a:endParaRPr lang="en-US" sz="1600" dirty="0"/>
          </a:p>
        </p:txBody>
      </p:sp>
      <p:sp>
        <p:nvSpPr>
          <p:cNvPr id="7" name="Text 5"/>
          <p:cNvSpPr/>
          <p:nvPr/>
        </p:nvSpPr>
        <p:spPr>
          <a:xfrm>
            <a:off x="658368" y="2048256"/>
            <a:ext cx="2286000" cy="1920240"/>
          </a:xfrm>
          <a:prstGeom prst="rect">
            <a:avLst/>
          </a:prstGeom>
          <a:noFill/>
          <a:ln/>
        </p:spPr>
        <p:txBody>
          <a:bodyPr wrap="square" lIns="0" tIns="0" rIns="0" bIns="0" rtlCol="0" anchor="ctr"/>
          <a:lstStyle/>
          <a:p>
            <a:pPr marL="342900" indent="-342900">
              <a:spcAft>
                <a:spcPts val="400"/>
              </a:spcAft>
              <a:buSzPct val="100000"/>
              <a:buChar char="•"/>
            </a:pPr>
            <a:r>
              <a:rPr lang="en-US" sz="910" dirty="0">
                <a:solidFill>
                  <a:srgbClr val="1F2A38"/>
                </a:solidFill>
                <a:latin typeface="Calibri" pitchFamily="34" charset="0"/>
                <a:ea typeface="Calibri" pitchFamily="34" charset="-122"/>
                <a:cs typeface="Calibri" pitchFamily="34" charset="-120"/>
              </a:rPr>
              <a:t>Authority charter ADR-007 — Lloyd co-owns genome &amp; rules</a:t>
            </a:r>
            <a:endParaRPr lang="en-US" sz="910" dirty="0"/>
          </a:p>
          <a:p>
            <a:pPr marL="342900" indent="-342900">
              <a:spcAft>
                <a:spcPts val="400"/>
              </a:spcAft>
              <a:buSzPct val="100000"/>
              <a:buChar char="•"/>
            </a:pPr>
            <a:r>
              <a:rPr lang="en-US" sz="910" dirty="0">
                <a:solidFill>
                  <a:srgbClr val="1F2A38"/>
                </a:solidFill>
                <a:latin typeface="Calibri" pitchFamily="34" charset="0"/>
                <a:ea typeface="Calibri" pitchFamily="34" charset="-122"/>
                <a:cs typeface="Calibri" pitchFamily="34" charset="-120"/>
              </a:rPr>
              <a:t>MDS schema on existing GraphQL · change journal in Postgres</a:t>
            </a:r>
            <a:endParaRPr lang="en-US" sz="910" dirty="0"/>
          </a:p>
          <a:p>
            <a:pPr marL="342900" indent="-342900">
              <a:spcAft>
                <a:spcPts val="400"/>
              </a:spcAft>
              <a:buSzPct val="100000"/>
              <a:buChar char="•"/>
            </a:pPr>
            <a:r>
              <a:rPr lang="en-US" sz="910" dirty="0">
                <a:solidFill>
                  <a:srgbClr val="1F2A38"/>
                </a:solidFill>
                <a:latin typeface="Calibri" pitchFamily="34" charset="0"/>
                <a:ea typeface="Calibri" pitchFamily="34" charset="-122"/>
                <a:cs typeface="Calibri" pitchFamily="34" charset="-120"/>
              </a:rPr>
              <a:t>Contracts v1 — units, axes, IDs decided in week 1</a:t>
            </a:r>
            <a:endParaRPr lang="en-US" sz="910" dirty="0"/>
          </a:p>
          <a:p>
            <a:pPr marL="342900" indent="-342900">
              <a:spcAft>
                <a:spcPts val="400"/>
              </a:spcAft>
              <a:buSzPct val="100000"/>
              <a:buChar char="•"/>
            </a:pPr>
            <a:r>
              <a:rPr lang="en-US" sz="910" dirty="0">
                <a:solidFill>
                  <a:srgbClr val="1F2A38"/>
                </a:solidFill>
                <a:latin typeface="Calibri" pitchFamily="34" charset="0"/>
                <a:ea typeface="Calibri" pitchFamily="34" charset="-122"/>
                <a:cs typeface="Calibri" pitchFamily="34" charset="-120"/>
              </a:rPr>
              <a:t>2-wk render spike on your content: Unity WebGL vs Babylon / WebGPU → ADR</a:t>
            </a:r>
            <a:endParaRPr lang="en-US" sz="910" dirty="0"/>
          </a:p>
          <a:p>
            <a:pPr marL="342900" indent="-342900">
              <a:spcAft>
                <a:spcPts val="400"/>
              </a:spcAft>
              <a:buSzPct val="100000"/>
              <a:buChar char="•"/>
            </a:pPr>
            <a:r>
              <a:rPr lang="en-US" sz="910" dirty="0">
                <a:solidFill>
                  <a:srgbClr val="1F2A38"/>
                </a:solidFill>
                <a:latin typeface="Calibri" pitchFamily="34" charset="0"/>
                <a:ea typeface="Calibri" pitchFamily="34" charset="-122"/>
                <a:cs typeface="Calibri" pitchFamily="34" charset="-120"/>
              </a:rPr>
              <a:t>Baseline measured: Time-to-Compliant-Design today</a:t>
            </a:r>
            <a:endParaRPr lang="en-US" sz="910" dirty="0"/>
          </a:p>
        </p:txBody>
      </p:sp>
      <p:sp>
        <p:nvSpPr>
          <p:cNvPr id="8" name="Shape 6"/>
          <p:cNvSpPr/>
          <p:nvPr/>
        </p:nvSpPr>
        <p:spPr>
          <a:xfrm>
            <a:off x="3264408" y="1298448"/>
            <a:ext cx="2624328" cy="2743200"/>
          </a:xfrm>
          <a:prstGeom prst="roundRect">
            <a:avLst>
              <a:gd name="adj" fmla="val 2091"/>
            </a:avLst>
          </a:prstGeom>
          <a:solidFill>
            <a:srgbClr val="F3F6FA"/>
          </a:solidFill>
          <a:ln/>
          <a:effectLst>
            <a:outerShdw sx="100000" sy="100000" kx="0" ky="0" algn="bl" rotWithShape="0" blurRad="88900" dist="25400" dir="2700000">
              <a:srgbClr val="000000">
                <a:alpha val="14000"/>
              </a:srgbClr>
            </a:outerShdw>
          </a:effectLst>
        </p:spPr>
      </p:sp>
      <p:sp>
        <p:nvSpPr>
          <p:cNvPr id="9" name="Text 7"/>
          <p:cNvSpPr/>
          <p:nvPr/>
        </p:nvSpPr>
        <p:spPr>
          <a:xfrm>
            <a:off x="3447288" y="1444752"/>
            <a:ext cx="2286000" cy="237744"/>
          </a:xfrm>
          <a:prstGeom prst="rect">
            <a:avLst/>
          </a:prstGeom>
          <a:noFill/>
          <a:ln/>
        </p:spPr>
        <p:txBody>
          <a:bodyPr wrap="square" lIns="0" tIns="0" rIns="0" bIns="0" rtlCol="0" anchor="ctr"/>
          <a:lstStyle/>
          <a:p>
            <a:pPr indent="0" marL="0">
              <a:buNone/>
            </a:pPr>
            <a:r>
              <a:rPr lang="en-US" sz="1100" b="1" spc="150" kern="0" dirty="0">
                <a:solidFill>
                  <a:srgbClr val="C78F0D"/>
                </a:solidFill>
                <a:latin typeface="Calibri" pitchFamily="34" charset="0"/>
                <a:ea typeface="Calibri" pitchFamily="34" charset="-122"/>
                <a:cs typeface="Calibri" pitchFamily="34" charset="-120"/>
              </a:rPr>
              <a:t>DAYS 31–60</a:t>
            </a:r>
            <a:endParaRPr lang="en-US" sz="1100" dirty="0"/>
          </a:p>
        </p:txBody>
      </p:sp>
      <p:sp>
        <p:nvSpPr>
          <p:cNvPr id="10" name="Text 8"/>
          <p:cNvSpPr/>
          <p:nvPr/>
        </p:nvSpPr>
        <p:spPr>
          <a:xfrm>
            <a:off x="3447288" y="1682496"/>
            <a:ext cx="2286000" cy="292608"/>
          </a:xfrm>
          <a:prstGeom prst="rect">
            <a:avLst/>
          </a:prstGeom>
          <a:noFill/>
          <a:ln/>
        </p:spPr>
        <p:txBody>
          <a:bodyPr wrap="square" lIns="0" tIns="0" rIns="0" bIns="0" rtlCol="0" anchor="ctr"/>
          <a:lstStyle/>
          <a:p>
            <a:pPr indent="0" marL="0">
              <a:buNone/>
            </a:pPr>
            <a:r>
              <a:rPr lang="en-US" sz="1600" b="1" dirty="0">
                <a:solidFill>
                  <a:srgbClr val="16263F"/>
                </a:solidFill>
                <a:latin typeface="Cambria" pitchFamily="34" charset="0"/>
                <a:ea typeface="Cambria" pitchFamily="34" charset="-122"/>
                <a:cs typeface="Cambria" pitchFamily="34" charset="-120"/>
              </a:rPr>
              <a:t>Connect &amp; validate</a:t>
            </a:r>
            <a:endParaRPr lang="en-US" sz="1600" dirty="0"/>
          </a:p>
        </p:txBody>
      </p:sp>
      <p:sp>
        <p:nvSpPr>
          <p:cNvPr id="11" name="Text 9"/>
          <p:cNvSpPr/>
          <p:nvPr/>
        </p:nvSpPr>
        <p:spPr>
          <a:xfrm>
            <a:off x="3465576" y="2048256"/>
            <a:ext cx="2286000" cy="1920240"/>
          </a:xfrm>
          <a:prstGeom prst="rect">
            <a:avLst/>
          </a:prstGeom>
          <a:noFill/>
          <a:ln/>
        </p:spPr>
        <p:txBody>
          <a:bodyPr wrap="square" lIns="0" tIns="0" rIns="0" bIns="0" rtlCol="0" anchor="ctr"/>
          <a:lstStyle/>
          <a:p>
            <a:pPr marL="342900" indent="-342900">
              <a:spcAft>
                <a:spcPts val="400"/>
              </a:spcAft>
              <a:buSzPct val="100000"/>
              <a:buChar char="•"/>
            </a:pPr>
            <a:r>
              <a:rPr lang="en-US" sz="910" dirty="0">
                <a:solidFill>
                  <a:srgbClr val="1F2A38"/>
                </a:solidFill>
                <a:latin typeface="Calibri" pitchFamily="34" charset="0"/>
                <a:ea typeface="Calibri" pitchFamily="34" charset="-122"/>
                <a:cs typeface="Calibri" pitchFamily="34" charset="-120"/>
              </a:rPr>
              <a:t>Validation v1 — ports + clearances; harvested rules + golden tests</a:t>
            </a:r>
            <a:endParaRPr lang="en-US" sz="910" dirty="0"/>
          </a:p>
          <a:p>
            <a:pPr marL="342900" indent="-342900">
              <a:spcAft>
                <a:spcPts val="400"/>
              </a:spcAft>
              <a:buSzPct val="100000"/>
              <a:buChar char="•"/>
            </a:pPr>
            <a:r>
              <a:rPr lang="en-US" sz="910" dirty="0">
                <a:solidFill>
                  <a:srgbClr val="1F2A38"/>
                </a:solidFill>
                <a:latin typeface="Calibri" pitchFamily="34" charset="0"/>
                <a:ea typeface="Calibri" pitchFamily="34" charset="-122"/>
                <a:cs typeface="Calibri" pitchFamily="34" charset="-120"/>
              </a:rPr>
              <a:t>Room Planner loads &amp; saves via payloads — same screens, new path</a:t>
            </a:r>
            <a:endParaRPr lang="en-US" sz="910" dirty="0"/>
          </a:p>
          <a:p>
            <a:pPr marL="342900" indent="-342900">
              <a:spcAft>
                <a:spcPts val="400"/>
              </a:spcAft>
              <a:buSzPct val="100000"/>
              <a:buChar char="•"/>
            </a:pPr>
            <a:r>
              <a:rPr lang="en-US" sz="910" dirty="0">
                <a:solidFill>
                  <a:srgbClr val="1F2A38"/>
                </a:solidFill>
                <a:latin typeface="Calibri" pitchFamily="34" charset="0"/>
                <a:ea typeface="Calibri" pitchFamily="34" charset="-122"/>
                <a:cs typeface="Calibri" pitchFamily="34" charset="-120"/>
              </a:rPr>
              <a:t>Reflex snap: cached rule subset, &lt;50 ms feedback</a:t>
            </a:r>
            <a:endParaRPr lang="en-US" sz="910" dirty="0"/>
          </a:p>
          <a:p>
            <a:pPr marL="342900" indent="-342900">
              <a:spcAft>
                <a:spcPts val="400"/>
              </a:spcAft>
              <a:buSzPct val="100000"/>
              <a:buChar char="•"/>
            </a:pPr>
            <a:r>
              <a:rPr lang="en-US" sz="910" dirty="0">
                <a:solidFill>
                  <a:srgbClr val="1F2A38"/>
                </a:solidFill>
                <a:latin typeface="Calibri" pitchFamily="34" charset="0"/>
                <a:ea typeface="Calibri" pitchFamily="34" charset="-122"/>
                <a:cs typeface="Calibri" pitchFamily="34" charset="-120"/>
              </a:rPr>
              <a:t>Correction deltas instrumented — flywheel data from day one</a:t>
            </a:r>
            <a:endParaRPr lang="en-US" sz="910" dirty="0"/>
          </a:p>
        </p:txBody>
      </p:sp>
      <p:sp>
        <p:nvSpPr>
          <p:cNvPr id="12" name="Shape 10"/>
          <p:cNvSpPr/>
          <p:nvPr/>
        </p:nvSpPr>
        <p:spPr>
          <a:xfrm>
            <a:off x="6071616" y="1298448"/>
            <a:ext cx="2624328" cy="2743200"/>
          </a:xfrm>
          <a:prstGeom prst="roundRect">
            <a:avLst>
              <a:gd name="adj" fmla="val 2091"/>
            </a:avLst>
          </a:prstGeom>
          <a:solidFill>
            <a:srgbClr val="FBF2DC"/>
          </a:solidFill>
          <a:ln/>
          <a:effectLst>
            <a:outerShdw sx="100000" sy="100000" kx="0" ky="0" algn="bl" rotWithShape="0" blurRad="88900" dist="25400" dir="2700000">
              <a:srgbClr val="000000">
                <a:alpha val="14000"/>
              </a:srgbClr>
            </a:outerShdw>
          </a:effectLst>
        </p:spPr>
      </p:sp>
      <p:sp>
        <p:nvSpPr>
          <p:cNvPr id="13" name="Text 11"/>
          <p:cNvSpPr/>
          <p:nvPr/>
        </p:nvSpPr>
        <p:spPr>
          <a:xfrm>
            <a:off x="6254496" y="1444752"/>
            <a:ext cx="2286000" cy="237744"/>
          </a:xfrm>
          <a:prstGeom prst="rect">
            <a:avLst/>
          </a:prstGeom>
          <a:noFill/>
          <a:ln/>
        </p:spPr>
        <p:txBody>
          <a:bodyPr wrap="square" lIns="0" tIns="0" rIns="0" bIns="0" rtlCol="0" anchor="ctr"/>
          <a:lstStyle/>
          <a:p>
            <a:pPr indent="0" marL="0">
              <a:buNone/>
            </a:pPr>
            <a:r>
              <a:rPr lang="en-US" sz="1100" b="1" spc="150" kern="0" dirty="0">
                <a:solidFill>
                  <a:srgbClr val="C78F0D"/>
                </a:solidFill>
                <a:latin typeface="Calibri" pitchFamily="34" charset="0"/>
                <a:ea typeface="Calibri" pitchFamily="34" charset="-122"/>
                <a:cs typeface="Calibri" pitchFamily="34" charset="-120"/>
              </a:rPr>
              <a:t>DAYS 61–90</a:t>
            </a:r>
            <a:endParaRPr lang="en-US" sz="1100" dirty="0"/>
          </a:p>
        </p:txBody>
      </p:sp>
      <p:sp>
        <p:nvSpPr>
          <p:cNvPr id="14" name="Text 12"/>
          <p:cNvSpPr/>
          <p:nvPr/>
        </p:nvSpPr>
        <p:spPr>
          <a:xfrm>
            <a:off x="6254496" y="1682496"/>
            <a:ext cx="2286000" cy="292608"/>
          </a:xfrm>
          <a:prstGeom prst="rect">
            <a:avLst/>
          </a:prstGeom>
          <a:noFill/>
          <a:ln/>
        </p:spPr>
        <p:txBody>
          <a:bodyPr wrap="square" lIns="0" tIns="0" rIns="0" bIns="0" rtlCol="0" anchor="ctr"/>
          <a:lstStyle/>
          <a:p>
            <a:pPr indent="0" marL="0">
              <a:buNone/>
            </a:pPr>
            <a:r>
              <a:rPr lang="en-US" sz="1600" b="1" dirty="0">
                <a:solidFill>
                  <a:srgbClr val="16263F"/>
                </a:solidFill>
                <a:latin typeface="Cambria" pitchFamily="34" charset="0"/>
                <a:ea typeface="Cambria" pitchFamily="34" charset="-122"/>
                <a:cs typeface="Cambria" pitchFamily="34" charset="-120"/>
              </a:rPr>
              <a:t>Demonstrate &amp; sell</a:t>
            </a:r>
            <a:endParaRPr lang="en-US" sz="1600" dirty="0"/>
          </a:p>
        </p:txBody>
      </p:sp>
      <p:sp>
        <p:nvSpPr>
          <p:cNvPr id="15" name="Text 13"/>
          <p:cNvSpPr/>
          <p:nvPr/>
        </p:nvSpPr>
        <p:spPr>
          <a:xfrm>
            <a:off x="6272784" y="2048256"/>
            <a:ext cx="2286000" cy="1920240"/>
          </a:xfrm>
          <a:prstGeom prst="rect">
            <a:avLst/>
          </a:prstGeom>
          <a:noFill/>
          <a:ln/>
        </p:spPr>
        <p:txBody>
          <a:bodyPr wrap="square" lIns="0" tIns="0" rIns="0" bIns="0" rtlCol="0" anchor="ctr"/>
          <a:lstStyle/>
          <a:p>
            <a:pPr marL="342900" indent="-342900">
              <a:spcAft>
                <a:spcPts val="400"/>
              </a:spcAft>
              <a:buSzPct val="100000"/>
              <a:buChar char="•"/>
            </a:pPr>
            <a:r>
              <a:rPr lang="en-US" sz="910" dirty="0">
                <a:solidFill>
                  <a:srgbClr val="1F2A38"/>
                </a:solidFill>
                <a:latin typeface="Calibri" pitchFamily="34" charset="0"/>
                <a:ea typeface="Calibri" pitchFamily="34" charset="-122"/>
                <a:cs typeface="Calibri" pitchFamily="34" charset="-120"/>
              </a:rPr>
              <a:t>E2E demo: types → room → validation → data-sheet export</a:t>
            </a:r>
            <a:endParaRPr lang="en-US" sz="910" dirty="0"/>
          </a:p>
          <a:p>
            <a:pPr marL="342900" indent="-342900">
              <a:spcAft>
                <a:spcPts val="400"/>
              </a:spcAft>
              <a:buSzPct val="100000"/>
              <a:buChar char="•"/>
            </a:pPr>
            <a:r>
              <a:rPr lang="en-US" sz="910" dirty="0">
                <a:solidFill>
                  <a:srgbClr val="1F2A38"/>
                </a:solidFill>
                <a:latin typeface="Calibri" pitchFamily="34" charset="0"/>
                <a:ea typeface="Calibri" pitchFamily="34" charset="-122"/>
                <a:cs typeface="Calibri" pitchFamily="34" charset="-120"/>
              </a:rPr>
              <a:t>Scripted Space Bot agent demo on the real substrate</a:t>
            </a:r>
            <a:endParaRPr lang="en-US" sz="910" dirty="0"/>
          </a:p>
          <a:p>
            <a:pPr marL="342900" indent="-342900">
              <a:spcAft>
                <a:spcPts val="400"/>
              </a:spcAft>
              <a:buSzPct val="100000"/>
              <a:buChar char="•"/>
            </a:pPr>
            <a:r>
              <a:rPr lang="en-US" sz="910" dirty="0">
                <a:solidFill>
                  <a:srgbClr val="1F2A38"/>
                </a:solidFill>
                <a:latin typeface="Calibri" pitchFamily="34" charset="0"/>
                <a:ea typeface="Calibri" pitchFamily="34" charset="-122"/>
                <a:cs typeface="Calibri" pitchFamily="34" charset="-120"/>
              </a:rPr>
              <a:t>Partner-or-synthetic program data — demoable regardless</a:t>
            </a:r>
            <a:endParaRPr lang="en-US" sz="910" dirty="0"/>
          </a:p>
          <a:p>
            <a:pPr marL="342900" indent="-342900">
              <a:spcAft>
                <a:spcPts val="400"/>
              </a:spcAft>
              <a:buSzPct val="100000"/>
              <a:buChar char="•"/>
            </a:pPr>
            <a:r>
              <a:rPr lang="en-US" sz="910" dirty="0">
                <a:solidFill>
                  <a:srgbClr val="1F2A38"/>
                </a:solidFill>
                <a:latin typeface="Calibri" pitchFamily="34" charset="0"/>
                <a:ea typeface="Calibri" pitchFamily="34" charset="-122"/>
                <a:cs typeface="Calibri" pitchFamily="34" charset="-120"/>
              </a:rPr>
              <a:t>GTM kit: demo script, paid-pilot terms, pricing hypothesis</a:t>
            </a:r>
            <a:endParaRPr lang="en-US" sz="910" dirty="0"/>
          </a:p>
        </p:txBody>
      </p:sp>
      <p:sp>
        <p:nvSpPr>
          <p:cNvPr id="16" name="Shape 14"/>
          <p:cNvSpPr/>
          <p:nvPr/>
        </p:nvSpPr>
        <p:spPr>
          <a:xfrm>
            <a:off x="457200" y="4187952"/>
            <a:ext cx="8229600" cy="566928"/>
          </a:xfrm>
          <a:prstGeom prst="roundRect">
            <a:avLst>
              <a:gd name="adj" fmla="val 11290"/>
            </a:avLst>
          </a:prstGeom>
          <a:solidFill>
            <a:srgbClr val="16263F"/>
          </a:solidFill>
          <a:ln/>
          <a:effectLst>
            <a:outerShdw sx="100000" sy="100000" kx="0" ky="0" algn="bl" rotWithShape="0" blurRad="88900" dist="25400" dir="2700000">
              <a:srgbClr val="000000">
                <a:alpha val="14000"/>
              </a:srgbClr>
            </a:outerShdw>
          </a:effectLst>
        </p:spPr>
      </p:sp>
      <p:sp>
        <p:nvSpPr>
          <p:cNvPr id="17" name="Text 15"/>
          <p:cNvSpPr/>
          <p:nvPr/>
        </p:nvSpPr>
        <p:spPr>
          <a:xfrm>
            <a:off x="713232" y="4242816"/>
            <a:ext cx="7726680" cy="457200"/>
          </a:xfrm>
          <a:prstGeom prst="rect">
            <a:avLst/>
          </a:prstGeom>
          <a:noFill/>
          <a:ln/>
        </p:spPr>
        <p:txBody>
          <a:bodyPr wrap="square" lIns="0" tIns="0" rIns="0" bIns="0" rtlCol="0" anchor="ctr"/>
          <a:lstStyle/>
          <a:p>
            <a:pPr indent="0" marL="0">
              <a:buNone/>
            </a:pPr>
            <a:r>
              <a:rPr lang="en-US" sz="1050" b="1" dirty="0">
                <a:solidFill>
                  <a:srgbClr val="E8A816"/>
                </a:solidFill>
                <a:latin typeface="Calibri" pitchFamily="34" charset="0"/>
                <a:ea typeface="Calibri" pitchFamily="34" charset="-122"/>
                <a:cs typeface="Calibri" pitchFamily="34" charset="-120"/>
              </a:rPr>
              <a:t>Days 91–150:  </a:t>
            </a:r>
            <a:pPr indent="0" marL="0">
              <a:buNone/>
            </a:pPr>
            <a:r>
              <a:rPr lang="en-US" sz="1050" dirty="0">
                <a:solidFill>
                  <a:srgbClr val="FFFFFF"/>
                </a:solidFill>
                <a:latin typeface="Calibri" pitchFamily="34" charset="0"/>
                <a:ea typeface="Calibri" pitchFamily="34" charset="-122"/>
                <a:cs typeface="Calibri" pitchFamily="34" charset="-120"/>
              </a:rPr>
              <a:t>Floor aggregates · Designer publishing · hardened Space Bot · pilot conversion — capacity-checked against the pod transition. A smaller promise, delivered.</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6263F"/>
        </a:solidFill>
      </p:bgPr>
    </p:bg>
    <p:spTree>
      <p:nvGrpSpPr>
        <p:cNvPr id="1" name=""/>
        <p:cNvGrpSpPr/>
        <p:nvPr/>
      </p:nvGrpSpPr>
      <p:grpSpPr>
        <a:xfrm>
          <a:off x="0" y="0"/>
          <a:ext cx="0" cy="0"/>
          <a:chOff x="0" y="0"/>
          <a:chExt cx="0" cy="0"/>
        </a:xfrm>
      </p:grpSpPr>
      <p:sp>
        <p:nvSpPr>
          <p:cNvPr id="2" name="Text 0"/>
          <p:cNvSpPr/>
          <p:nvPr/>
        </p:nvSpPr>
        <p:spPr>
          <a:xfrm>
            <a:off x="457200" y="292608"/>
            <a:ext cx="8229600" cy="274320"/>
          </a:xfrm>
          <a:prstGeom prst="rect">
            <a:avLst/>
          </a:prstGeom>
          <a:noFill/>
          <a:ln/>
        </p:spPr>
        <p:txBody>
          <a:bodyPr wrap="square" lIns="0" tIns="0" rIns="0" bIns="0" rtlCol="0" anchor="ctr"/>
          <a:lstStyle/>
          <a:p>
            <a:pPr indent="0" marL="0">
              <a:buNone/>
            </a:pPr>
            <a:r>
              <a:rPr lang="en-US" sz="1050" b="1" spc="200" kern="0" dirty="0">
                <a:solidFill>
                  <a:srgbClr val="E8A816"/>
                </a:solidFill>
                <a:latin typeface="Calibri" pitchFamily="34" charset="0"/>
                <a:ea typeface="Calibri" pitchFamily="34" charset="-122"/>
                <a:cs typeface="Calibri" pitchFamily="34" charset="-120"/>
              </a:rPr>
              <a:t>TO MAKE THIS REAL</a:t>
            </a:r>
            <a:endParaRPr lang="en-US" sz="1050" dirty="0"/>
          </a:p>
        </p:txBody>
      </p:sp>
      <p:sp>
        <p:nvSpPr>
          <p:cNvPr id="3" name="Text 1"/>
          <p:cNvSpPr/>
          <p:nvPr/>
        </p:nvSpPr>
        <p:spPr>
          <a:xfrm>
            <a:off x="457200" y="530352"/>
            <a:ext cx="8229600" cy="566928"/>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What I ask of you</a:t>
            </a:r>
            <a:endParaRPr lang="en-US" sz="2800" dirty="0"/>
          </a:p>
        </p:txBody>
      </p:sp>
      <p:sp>
        <p:nvSpPr>
          <p:cNvPr id="4" name="Shape 2"/>
          <p:cNvSpPr/>
          <p:nvPr/>
        </p:nvSpPr>
        <p:spPr>
          <a:xfrm>
            <a:off x="457200" y="1298448"/>
            <a:ext cx="4041648" cy="1024128"/>
          </a:xfrm>
          <a:prstGeom prst="roundRect">
            <a:avLst>
              <a:gd name="adj" fmla="val 5357"/>
            </a:avLst>
          </a:prstGeom>
          <a:solidFill>
            <a:srgbClr val="23375A"/>
          </a:solidFill>
          <a:ln/>
        </p:spPr>
      </p:sp>
      <p:sp>
        <p:nvSpPr>
          <p:cNvPr id="5" name="Shape 3"/>
          <p:cNvSpPr/>
          <p:nvPr/>
        </p:nvSpPr>
        <p:spPr>
          <a:xfrm>
            <a:off x="621792" y="1426464"/>
            <a:ext cx="365760" cy="365760"/>
          </a:xfrm>
          <a:prstGeom prst="ellipse">
            <a:avLst/>
          </a:prstGeom>
          <a:solidFill>
            <a:srgbClr val="E8A816"/>
          </a:solidFill>
          <a:ln/>
        </p:spPr>
      </p:sp>
      <p:sp>
        <p:nvSpPr>
          <p:cNvPr id="6" name="Text 4"/>
          <p:cNvSpPr/>
          <p:nvPr/>
        </p:nvSpPr>
        <p:spPr>
          <a:xfrm>
            <a:off x="621792" y="1426464"/>
            <a:ext cx="365760" cy="365760"/>
          </a:xfrm>
          <a:prstGeom prst="rect">
            <a:avLst/>
          </a:prstGeom>
          <a:noFill/>
          <a:ln/>
        </p:spPr>
        <p:txBody>
          <a:bodyPr wrap="square" lIns="0" tIns="0" rIns="0" bIns="0" rtlCol="0" anchor="ctr"/>
          <a:lstStyle/>
          <a:p>
            <a:pPr algn="ctr" indent="0" marL="0">
              <a:buNone/>
            </a:pPr>
            <a:r>
              <a:rPr lang="en-US" sz="1400" b="1" dirty="0">
                <a:solidFill>
                  <a:srgbClr val="16263F"/>
                </a:solidFill>
                <a:latin typeface="Calibri" pitchFamily="34" charset="0"/>
                <a:ea typeface="Calibri" pitchFamily="34" charset="-122"/>
                <a:cs typeface="Calibri" pitchFamily="34" charset="-120"/>
              </a:rPr>
              <a:t>1</a:t>
            </a:r>
            <a:endParaRPr lang="en-US" sz="1400" dirty="0"/>
          </a:p>
        </p:txBody>
      </p:sp>
      <p:sp>
        <p:nvSpPr>
          <p:cNvPr id="7" name="Text 5"/>
          <p:cNvSpPr/>
          <p:nvPr/>
        </p:nvSpPr>
        <p:spPr>
          <a:xfrm>
            <a:off x="1115568" y="1408176"/>
            <a:ext cx="3246120" cy="2743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Decision rights stay with you</a:t>
            </a:r>
            <a:endParaRPr lang="en-US" sz="1200" dirty="0"/>
          </a:p>
        </p:txBody>
      </p:sp>
      <p:sp>
        <p:nvSpPr>
          <p:cNvPr id="8" name="Text 6"/>
          <p:cNvSpPr/>
          <p:nvPr/>
        </p:nvSpPr>
        <p:spPr>
          <a:xfrm>
            <a:off x="1115568" y="1682496"/>
            <a:ext cx="3246120" cy="566928"/>
          </a:xfrm>
          <a:prstGeom prst="rect">
            <a:avLst/>
          </a:prstGeom>
          <a:noFill/>
          <a:ln/>
        </p:spPr>
        <p:txBody>
          <a:bodyPr wrap="square" lIns="0" tIns="0" rIns="0" bIns="0" rtlCol="0" anchor="ctr"/>
          <a:lstStyle/>
          <a:p>
            <a:pPr indent="0" marL="0">
              <a:buNone/>
            </a:pPr>
            <a:r>
              <a:rPr lang="en-US" sz="930" dirty="0">
                <a:solidFill>
                  <a:srgbClr val="C9D6E8"/>
                </a:solidFill>
                <a:latin typeface="Calibri" pitchFamily="34" charset="0"/>
                <a:ea typeface="Calibri" pitchFamily="34" charset="-122"/>
                <a:cs typeface="Calibri" pitchFamily="34" charset="-120"/>
              </a:rPr>
              <a:t>You remain Accountable on every ADR. I bring options, evidence, and a recommendation — you sign the direction.</a:t>
            </a:r>
            <a:endParaRPr lang="en-US" sz="930" dirty="0"/>
          </a:p>
        </p:txBody>
      </p:sp>
      <p:sp>
        <p:nvSpPr>
          <p:cNvPr id="9" name="Shape 7"/>
          <p:cNvSpPr/>
          <p:nvPr/>
        </p:nvSpPr>
        <p:spPr>
          <a:xfrm>
            <a:off x="4681728" y="1298448"/>
            <a:ext cx="4041648" cy="1024128"/>
          </a:xfrm>
          <a:prstGeom prst="roundRect">
            <a:avLst>
              <a:gd name="adj" fmla="val 5357"/>
            </a:avLst>
          </a:prstGeom>
          <a:solidFill>
            <a:srgbClr val="23375A"/>
          </a:solidFill>
          <a:ln/>
        </p:spPr>
      </p:sp>
      <p:sp>
        <p:nvSpPr>
          <p:cNvPr id="10" name="Shape 8"/>
          <p:cNvSpPr/>
          <p:nvPr/>
        </p:nvSpPr>
        <p:spPr>
          <a:xfrm>
            <a:off x="4846320" y="1426464"/>
            <a:ext cx="365760" cy="365760"/>
          </a:xfrm>
          <a:prstGeom prst="ellipse">
            <a:avLst/>
          </a:prstGeom>
          <a:solidFill>
            <a:srgbClr val="E8A816"/>
          </a:solidFill>
          <a:ln/>
        </p:spPr>
      </p:sp>
      <p:sp>
        <p:nvSpPr>
          <p:cNvPr id="11" name="Text 9"/>
          <p:cNvSpPr/>
          <p:nvPr/>
        </p:nvSpPr>
        <p:spPr>
          <a:xfrm>
            <a:off x="4846320" y="1426464"/>
            <a:ext cx="365760" cy="365760"/>
          </a:xfrm>
          <a:prstGeom prst="rect">
            <a:avLst/>
          </a:prstGeom>
          <a:noFill/>
          <a:ln/>
        </p:spPr>
        <p:txBody>
          <a:bodyPr wrap="square" lIns="0" tIns="0" rIns="0" bIns="0" rtlCol="0" anchor="ctr"/>
          <a:lstStyle/>
          <a:p>
            <a:pPr algn="ctr" indent="0" marL="0">
              <a:buNone/>
            </a:pPr>
            <a:r>
              <a:rPr lang="en-US" sz="1400" b="1" dirty="0">
                <a:solidFill>
                  <a:srgbClr val="16263F"/>
                </a:solidFill>
                <a:latin typeface="Calibri" pitchFamily="34" charset="0"/>
                <a:ea typeface="Calibri" pitchFamily="34" charset="-122"/>
                <a:cs typeface="Calibri" pitchFamily="34" charset="-120"/>
              </a:rPr>
              <a:t>2</a:t>
            </a:r>
            <a:endParaRPr lang="en-US" sz="1400" dirty="0"/>
          </a:p>
        </p:txBody>
      </p:sp>
      <p:sp>
        <p:nvSpPr>
          <p:cNvPr id="12" name="Text 10"/>
          <p:cNvSpPr/>
          <p:nvPr/>
        </p:nvSpPr>
        <p:spPr>
          <a:xfrm>
            <a:off x="5340096" y="1408176"/>
            <a:ext cx="3246120" cy="2743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Day-one access</a:t>
            </a:r>
            <a:endParaRPr lang="en-US" sz="1200" dirty="0"/>
          </a:p>
        </p:txBody>
      </p:sp>
      <p:sp>
        <p:nvSpPr>
          <p:cNvPr id="13" name="Text 11"/>
          <p:cNvSpPr/>
          <p:nvPr/>
        </p:nvSpPr>
        <p:spPr>
          <a:xfrm>
            <a:off x="5340096" y="1682496"/>
            <a:ext cx="3246120" cy="566928"/>
          </a:xfrm>
          <a:prstGeom prst="rect">
            <a:avLst/>
          </a:prstGeom>
          <a:noFill/>
          <a:ln/>
        </p:spPr>
        <p:txBody>
          <a:bodyPr wrap="square" lIns="0" tIns="0" rIns="0" bIns="0" rtlCol="0" anchor="ctr"/>
          <a:lstStyle/>
          <a:p>
            <a:pPr indent="0" marL="0">
              <a:buNone/>
            </a:pPr>
            <a:r>
              <a:rPr lang="en-US" sz="930" dirty="0">
                <a:solidFill>
                  <a:srgbClr val="C9D6E8"/>
                </a:solidFill>
                <a:latin typeface="Calibri" pitchFamily="34" charset="0"/>
                <a:ea typeface="Calibri" pitchFamily="34" charset="-122"/>
                <a:cs typeface="Calibri" pitchFamily="34" charset="-120"/>
              </a:rPr>
              <a:t>Repos, boards, and environments on day one — the most common onboarding blocker, removed before it starts.</a:t>
            </a:r>
            <a:endParaRPr lang="en-US" sz="930" dirty="0"/>
          </a:p>
        </p:txBody>
      </p:sp>
      <p:sp>
        <p:nvSpPr>
          <p:cNvPr id="14" name="Shape 12"/>
          <p:cNvSpPr/>
          <p:nvPr/>
        </p:nvSpPr>
        <p:spPr>
          <a:xfrm>
            <a:off x="457200" y="2450592"/>
            <a:ext cx="4041648" cy="1024128"/>
          </a:xfrm>
          <a:prstGeom prst="roundRect">
            <a:avLst>
              <a:gd name="adj" fmla="val 5357"/>
            </a:avLst>
          </a:prstGeom>
          <a:solidFill>
            <a:srgbClr val="23375A"/>
          </a:solidFill>
          <a:ln/>
        </p:spPr>
      </p:sp>
      <p:sp>
        <p:nvSpPr>
          <p:cNvPr id="15" name="Shape 13"/>
          <p:cNvSpPr/>
          <p:nvPr/>
        </p:nvSpPr>
        <p:spPr>
          <a:xfrm>
            <a:off x="621792" y="2578608"/>
            <a:ext cx="365760" cy="365760"/>
          </a:xfrm>
          <a:prstGeom prst="ellipse">
            <a:avLst/>
          </a:prstGeom>
          <a:solidFill>
            <a:srgbClr val="E8A816"/>
          </a:solidFill>
          <a:ln/>
        </p:spPr>
      </p:sp>
      <p:sp>
        <p:nvSpPr>
          <p:cNvPr id="16" name="Text 14"/>
          <p:cNvSpPr/>
          <p:nvPr/>
        </p:nvSpPr>
        <p:spPr>
          <a:xfrm>
            <a:off x="621792" y="2578608"/>
            <a:ext cx="365760" cy="365760"/>
          </a:xfrm>
          <a:prstGeom prst="rect">
            <a:avLst/>
          </a:prstGeom>
          <a:noFill/>
          <a:ln/>
        </p:spPr>
        <p:txBody>
          <a:bodyPr wrap="square" lIns="0" tIns="0" rIns="0" bIns="0" rtlCol="0" anchor="ctr"/>
          <a:lstStyle/>
          <a:p>
            <a:pPr algn="ctr" indent="0" marL="0">
              <a:buNone/>
            </a:pPr>
            <a:r>
              <a:rPr lang="en-US" sz="1400" b="1" dirty="0">
                <a:solidFill>
                  <a:srgbClr val="16263F"/>
                </a:solidFill>
                <a:latin typeface="Calibri" pitchFamily="34" charset="0"/>
                <a:ea typeface="Calibri" pitchFamily="34" charset="-122"/>
                <a:cs typeface="Calibri" pitchFamily="34" charset="-120"/>
              </a:rPr>
              <a:t>3</a:t>
            </a:r>
            <a:endParaRPr lang="en-US" sz="1400" dirty="0"/>
          </a:p>
        </p:txBody>
      </p:sp>
      <p:sp>
        <p:nvSpPr>
          <p:cNvPr id="17" name="Text 15"/>
          <p:cNvSpPr/>
          <p:nvPr/>
        </p:nvSpPr>
        <p:spPr>
          <a:xfrm>
            <a:off x="1115568" y="2560320"/>
            <a:ext cx="3246120" cy="2743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A design partner — in contract by day 30</a:t>
            </a:r>
            <a:endParaRPr lang="en-US" sz="1200" dirty="0"/>
          </a:p>
        </p:txBody>
      </p:sp>
      <p:sp>
        <p:nvSpPr>
          <p:cNvPr id="18" name="Text 16"/>
          <p:cNvSpPr/>
          <p:nvPr/>
        </p:nvSpPr>
        <p:spPr>
          <a:xfrm>
            <a:off x="1115568" y="2834640"/>
            <a:ext cx="3246120" cy="566928"/>
          </a:xfrm>
          <a:prstGeom prst="rect">
            <a:avLst/>
          </a:prstGeom>
          <a:noFill/>
          <a:ln/>
        </p:spPr>
        <p:txBody>
          <a:bodyPr wrap="square" lIns="0" tIns="0" rIns="0" bIns="0" rtlCol="0" anchor="ctr"/>
          <a:lstStyle/>
          <a:p>
            <a:pPr indent="0" marL="0">
              <a:buNone/>
            </a:pPr>
            <a:r>
              <a:rPr lang="en-US" sz="930" dirty="0">
                <a:solidFill>
                  <a:srgbClr val="C9D6E8"/>
                </a:solidFill>
                <a:latin typeface="Calibri" pitchFamily="34" charset="0"/>
                <a:ea typeface="Calibri" pitchFamily="34" charset="-122"/>
                <a:cs typeface="Calibri" pitchFamily="34" charset="-120"/>
              </a:rPr>
              <a:t>That one is yours to deliver, not mine. A realistic synthetic facility program is the fallback, so day 90 demos regardless.</a:t>
            </a:r>
            <a:endParaRPr lang="en-US" sz="930" dirty="0"/>
          </a:p>
        </p:txBody>
      </p:sp>
      <p:sp>
        <p:nvSpPr>
          <p:cNvPr id="19" name="Shape 17"/>
          <p:cNvSpPr/>
          <p:nvPr/>
        </p:nvSpPr>
        <p:spPr>
          <a:xfrm>
            <a:off x="4681728" y="2450592"/>
            <a:ext cx="4041648" cy="1024128"/>
          </a:xfrm>
          <a:prstGeom prst="roundRect">
            <a:avLst>
              <a:gd name="adj" fmla="val 5357"/>
            </a:avLst>
          </a:prstGeom>
          <a:solidFill>
            <a:srgbClr val="23375A"/>
          </a:solidFill>
          <a:ln/>
        </p:spPr>
      </p:sp>
      <p:sp>
        <p:nvSpPr>
          <p:cNvPr id="20" name="Shape 18"/>
          <p:cNvSpPr/>
          <p:nvPr/>
        </p:nvSpPr>
        <p:spPr>
          <a:xfrm>
            <a:off x="4846320" y="2578608"/>
            <a:ext cx="365760" cy="365760"/>
          </a:xfrm>
          <a:prstGeom prst="ellipse">
            <a:avLst/>
          </a:prstGeom>
          <a:solidFill>
            <a:srgbClr val="E8A816"/>
          </a:solidFill>
          <a:ln/>
        </p:spPr>
      </p:sp>
      <p:sp>
        <p:nvSpPr>
          <p:cNvPr id="21" name="Text 19"/>
          <p:cNvSpPr/>
          <p:nvPr/>
        </p:nvSpPr>
        <p:spPr>
          <a:xfrm>
            <a:off x="4846320" y="2578608"/>
            <a:ext cx="365760" cy="365760"/>
          </a:xfrm>
          <a:prstGeom prst="rect">
            <a:avLst/>
          </a:prstGeom>
          <a:noFill/>
          <a:ln/>
        </p:spPr>
        <p:txBody>
          <a:bodyPr wrap="square" lIns="0" tIns="0" rIns="0" bIns="0" rtlCol="0" anchor="ctr"/>
          <a:lstStyle/>
          <a:p>
            <a:pPr algn="ctr" indent="0" marL="0">
              <a:buNone/>
            </a:pPr>
            <a:r>
              <a:rPr lang="en-US" sz="1400" b="1" dirty="0">
                <a:solidFill>
                  <a:srgbClr val="16263F"/>
                </a:solidFill>
                <a:latin typeface="Calibri" pitchFamily="34" charset="0"/>
                <a:ea typeface="Calibri" pitchFamily="34" charset="-122"/>
                <a:cs typeface="Calibri" pitchFamily="34" charset="-120"/>
              </a:rPr>
              <a:t>4</a:t>
            </a:r>
            <a:endParaRPr lang="en-US" sz="1400" dirty="0"/>
          </a:p>
        </p:txBody>
      </p:sp>
      <p:sp>
        <p:nvSpPr>
          <p:cNvPr id="22" name="Text 20"/>
          <p:cNvSpPr/>
          <p:nvPr/>
        </p:nvSpPr>
        <p:spPr>
          <a:xfrm>
            <a:off x="5340096" y="2560320"/>
            <a:ext cx="3246120" cy="2743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Bless the pilot</a:t>
            </a:r>
            <a:endParaRPr lang="en-US" sz="1200" dirty="0"/>
          </a:p>
        </p:txBody>
      </p:sp>
      <p:sp>
        <p:nvSpPr>
          <p:cNvPr id="23" name="Text 21"/>
          <p:cNvSpPr/>
          <p:nvPr/>
        </p:nvSpPr>
        <p:spPr>
          <a:xfrm>
            <a:off x="5340096" y="2834640"/>
            <a:ext cx="3246120" cy="566928"/>
          </a:xfrm>
          <a:prstGeom prst="rect">
            <a:avLst/>
          </a:prstGeom>
          <a:noFill/>
          <a:ln/>
        </p:spPr>
        <p:txBody>
          <a:bodyPr wrap="square" lIns="0" tIns="0" rIns="0" bIns="0" rtlCol="0" anchor="ctr"/>
          <a:lstStyle/>
          <a:p>
            <a:pPr indent="0" marL="0">
              <a:buNone/>
            </a:pPr>
            <a:r>
              <a:rPr lang="en-US" sz="930" dirty="0">
                <a:solidFill>
                  <a:srgbClr val="C9D6E8"/>
                </a:solidFill>
                <a:latin typeface="Calibri" pitchFamily="34" charset="0"/>
                <a:ea typeface="Calibri" pitchFamily="34" charset="-122"/>
                <a:cs typeface="Calibri" pitchFamily="34" charset="-120"/>
              </a:rPr>
              <a:t>Context &amp; Twin Services pod, eight weeks, exit criteria you approve before we start.</a:t>
            </a:r>
            <a:endParaRPr lang="en-US" sz="930" dirty="0"/>
          </a:p>
        </p:txBody>
      </p:sp>
      <p:sp>
        <p:nvSpPr>
          <p:cNvPr id="24" name="Shape 22"/>
          <p:cNvSpPr/>
          <p:nvPr/>
        </p:nvSpPr>
        <p:spPr>
          <a:xfrm>
            <a:off x="457200" y="3621024"/>
            <a:ext cx="8229600" cy="566928"/>
          </a:xfrm>
          <a:prstGeom prst="roundRect">
            <a:avLst>
              <a:gd name="adj" fmla="val 9677"/>
            </a:avLst>
          </a:prstGeom>
          <a:solidFill>
            <a:srgbClr val="23375A"/>
          </a:solidFill>
          <a:ln/>
        </p:spPr>
      </p:sp>
      <p:sp>
        <p:nvSpPr>
          <p:cNvPr id="25" name="Shape 23"/>
          <p:cNvSpPr/>
          <p:nvPr/>
        </p:nvSpPr>
        <p:spPr>
          <a:xfrm>
            <a:off x="621792" y="3721608"/>
            <a:ext cx="365760" cy="365760"/>
          </a:xfrm>
          <a:prstGeom prst="ellipse">
            <a:avLst/>
          </a:prstGeom>
          <a:solidFill>
            <a:srgbClr val="E8A816"/>
          </a:solidFill>
          <a:ln/>
        </p:spPr>
      </p:sp>
      <p:sp>
        <p:nvSpPr>
          <p:cNvPr id="26" name="Text 24"/>
          <p:cNvSpPr/>
          <p:nvPr/>
        </p:nvSpPr>
        <p:spPr>
          <a:xfrm>
            <a:off x="621792" y="3721608"/>
            <a:ext cx="365760" cy="365760"/>
          </a:xfrm>
          <a:prstGeom prst="rect">
            <a:avLst/>
          </a:prstGeom>
          <a:noFill/>
          <a:ln/>
        </p:spPr>
        <p:txBody>
          <a:bodyPr wrap="square" lIns="0" tIns="0" rIns="0" bIns="0" rtlCol="0" anchor="ctr"/>
          <a:lstStyle/>
          <a:p>
            <a:pPr algn="ctr" indent="0" marL="0">
              <a:buNone/>
            </a:pPr>
            <a:r>
              <a:rPr lang="en-US" sz="1400" b="1" dirty="0">
                <a:solidFill>
                  <a:srgbClr val="16263F"/>
                </a:solidFill>
                <a:latin typeface="Calibri" pitchFamily="34" charset="0"/>
                <a:ea typeface="Calibri" pitchFamily="34" charset="-122"/>
                <a:cs typeface="Calibri" pitchFamily="34" charset="-120"/>
              </a:rPr>
              <a:t>5</a:t>
            </a:r>
            <a:endParaRPr lang="en-US" sz="1400" dirty="0"/>
          </a:p>
        </p:txBody>
      </p:sp>
      <p:sp>
        <p:nvSpPr>
          <p:cNvPr id="27" name="Text 25"/>
          <p:cNvSpPr/>
          <p:nvPr/>
        </p:nvSpPr>
        <p:spPr>
          <a:xfrm>
            <a:off x="1133856" y="3675888"/>
            <a:ext cx="7406640" cy="475488"/>
          </a:xfrm>
          <a:prstGeom prst="rect">
            <a:avLst/>
          </a:prstGeom>
          <a:noFill/>
          <a:ln/>
        </p:spPr>
        <p:txBody>
          <a:bodyPr wrap="square" lIns="0" tIns="0" rIns="0" bIns="0" rtlCol="0" anchor="ctr"/>
          <a:lstStyle/>
          <a:p>
            <a:pPr indent="0" marL="0">
              <a:buNone/>
            </a:pPr>
            <a:r>
              <a:rPr lang="en-US" sz="980" b="1" dirty="0">
                <a:solidFill>
                  <a:srgbClr val="FFFFFF"/>
                </a:solidFill>
                <a:latin typeface="Calibri" pitchFamily="34" charset="0"/>
                <a:ea typeface="Calibri" pitchFamily="34" charset="-122"/>
                <a:cs typeface="Calibri" pitchFamily="34" charset="-120"/>
              </a:rPr>
              <a:t>Make your team co-authors — </a:t>
            </a:r>
            <a:pPr indent="0" marL="0">
              <a:buNone/>
            </a:pPr>
            <a:r>
              <a:rPr lang="en-US" sz="980" dirty="0">
                <a:solidFill>
                  <a:srgbClr val="C9D6E8"/>
                </a:solidFill>
                <a:latin typeface="Calibri" pitchFamily="34" charset="0"/>
                <a:ea typeface="Calibri" pitchFamily="34" charset="-122"/>
                <a:cs typeface="Calibri" pitchFamily="34" charset="-120"/>
              </a:rPr>
              <a:t>Lloyd co-owns the genome and rules (his name on ADR-007); Byron receives the GTM and scorecard track. Knowledge transfer is authorship, not extraction.</a:t>
            </a:r>
            <a:endParaRPr lang="en-US" sz="980" dirty="0"/>
          </a:p>
        </p:txBody>
      </p:sp>
      <p:sp>
        <p:nvSpPr>
          <p:cNvPr id="28" name="Text 26"/>
          <p:cNvSpPr/>
          <p:nvPr/>
        </p:nvSpPr>
        <p:spPr>
          <a:xfrm>
            <a:off x="457200" y="4334256"/>
            <a:ext cx="8229600" cy="365760"/>
          </a:xfrm>
          <a:prstGeom prst="rect">
            <a:avLst/>
          </a:prstGeom>
          <a:noFill/>
          <a:ln/>
        </p:spPr>
        <p:txBody>
          <a:bodyPr wrap="square" lIns="0" tIns="0" rIns="0" bIns="0" rtlCol="0" anchor="ctr"/>
          <a:lstStyle/>
          <a:p>
            <a:pPr algn="ctr" indent="0" marL="0">
              <a:buNone/>
            </a:pPr>
            <a:r>
              <a:rPr lang="en-US" sz="1800" b="1" i="1" dirty="0">
                <a:solidFill>
                  <a:srgbClr val="E8A816"/>
                </a:solidFill>
                <a:latin typeface="Cambria" pitchFamily="34" charset="0"/>
                <a:ea typeface="Cambria" pitchFamily="34" charset="-122"/>
                <a:cs typeface="Cambria" pitchFamily="34" charset="-120"/>
              </a:rPr>
              <a:t>Your vision. Disciplined execution. Measured proof.</a:t>
            </a:r>
            <a:endParaRPr lang="en-US" sz="1800" dirty="0"/>
          </a:p>
        </p:txBody>
      </p:sp>
      <p:sp>
        <p:nvSpPr>
          <p:cNvPr id="29" name="Text 27"/>
          <p:cNvSpPr/>
          <p:nvPr/>
        </p:nvSpPr>
        <p:spPr>
          <a:xfrm>
            <a:off x="457200" y="4718304"/>
            <a:ext cx="8229600" cy="256032"/>
          </a:xfrm>
          <a:prstGeom prst="rect">
            <a:avLst/>
          </a:prstGeom>
          <a:noFill/>
          <a:ln/>
        </p:spPr>
        <p:txBody>
          <a:bodyPr wrap="square" lIns="0" tIns="0" rIns="0" bIns="0" rtlCol="0" anchor="ctr"/>
          <a:lstStyle/>
          <a:p>
            <a:pPr algn="ctr" indent="0" marL="0">
              <a:buNone/>
            </a:pPr>
            <a:r>
              <a:rPr lang="en-US" sz="1150" dirty="0">
                <a:solidFill>
                  <a:srgbClr val="C9D6E8"/>
                </a:solidFill>
                <a:latin typeface="Calibri" pitchFamily="34" charset="0"/>
                <a:ea typeface="Calibri" pitchFamily="34" charset="-122"/>
                <a:cs typeface="Calibri" pitchFamily="34" charset="-120"/>
              </a:rPr>
              <a:t>Ready to go as deep as you want — today.</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6263F"/>
        </a:solidFill>
      </p:bgPr>
    </p:bg>
    <p:spTree>
      <p:nvGrpSpPr>
        <p:cNvPr id="1" name=""/>
        <p:cNvGrpSpPr/>
        <p:nvPr/>
      </p:nvGrpSpPr>
      <p:grpSpPr>
        <a:xfrm>
          <a:off x="0" y="0"/>
          <a:ext cx="0" cy="0"/>
          <a:chOff x="0" y="0"/>
          <a:chExt cx="0" cy="0"/>
        </a:xfrm>
      </p:grpSpPr>
      <p:sp>
        <p:nvSpPr>
          <p:cNvPr id="2" name="Text 0"/>
          <p:cNvSpPr/>
          <p:nvPr/>
        </p:nvSpPr>
        <p:spPr>
          <a:xfrm>
            <a:off x="502920" y="1005840"/>
            <a:ext cx="8138160" cy="274320"/>
          </a:xfrm>
          <a:prstGeom prst="rect">
            <a:avLst/>
          </a:prstGeom>
          <a:noFill/>
          <a:ln/>
        </p:spPr>
        <p:txBody>
          <a:bodyPr wrap="square" lIns="0" tIns="0" rIns="0" bIns="0" rtlCol="0" anchor="ctr"/>
          <a:lstStyle/>
          <a:p>
            <a:pPr indent="0" marL="0">
              <a:buNone/>
            </a:pPr>
            <a:r>
              <a:rPr lang="en-US" sz="1100" b="1" spc="300" kern="0" dirty="0">
                <a:solidFill>
                  <a:srgbClr val="E8A816"/>
                </a:solidFill>
                <a:latin typeface="Calibri" pitchFamily="34" charset="0"/>
                <a:ea typeface="Calibri" pitchFamily="34" charset="-122"/>
                <a:cs typeface="Calibri" pitchFamily="34" charset="-120"/>
              </a:rPr>
              <a:t>BACKUP · ON REQUEST</a:t>
            </a:r>
            <a:endParaRPr lang="en-US" sz="1100" dirty="0"/>
          </a:p>
        </p:txBody>
      </p:sp>
      <p:sp>
        <p:nvSpPr>
          <p:cNvPr id="3" name="Text 1"/>
          <p:cNvSpPr/>
          <p:nvPr/>
        </p:nvSpPr>
        <p:spPr>
          <a:xfrm>
            <a:off x="502920" y="1371600"/>
            <a:ext cx="8138160" cy="1371600"/>
          </a:xfrm>
          <a:prstGeom prst="rect">
            <a:avLst/>
          </a:prstGeom>
          <a:noFill/>
          <a:ln/>
        </p:spPr>
        <p:txBody>
          <a:bodyPr wrap="square" lIns="0" tIns="0" rIns="0" bIns="0" rtlCol="0" anchor="ctr"/>
          <a:lstStyle/>
          <a:p>
            <a:pPr indent="0" marL="0">
              <a:lnSpc>
                <a:spcPts val="4200"/>
              </a:lnSpc>
              <a:buNone/>
            </a:pPr>
            <a:r>
              <a:rPr lang="en-US" sz="3600" b="1" dirty="0">
                <a:solidFill>
                  <a:srgbClr val="FFFFFF"/>
                </a:solidFill>
                <a:latin typeface="Cambria" pitchFamily="34" charset="0"/>
                <a:ea typeface="Cambria" pitchFamily="34" charset="-122"/>
                <a:cs typeface="Cambria" pitchFamily="34" charset="-120"/>
              </a:rPr>
              <a:t>Unity Dynamics Analysis</a:t>
            </a:r>
            <a:endParaRPr lang="en-US" sz="3600" dirty="0"/>
          </a:p>
          <a:p>
            <a:pPr indent="0" marL="0">
              <a:lnSpc>
                <a:spcPts val="4200"/>
              </a:lnSpc>
              <a:buNone/>
            </a:pPr>
            <a:r>
              <a:rPr lang="en-US" sz="3600" b="1" dirty="0">
                <a:solidFill>
                  <a:srgbClr val="FFFFFF"/>
                </a:solidFill>
                <a:latin typeface="Cambria" pitchFamily="34" charset="0"/>
                <a:ea typeface="Cambria" pitchFamily="34" charset="-122"/>
                <a:cs typeface="Cambria" pitchFamily="34" charset="-120"/>
              </a:rPr>
              <a:t>&amp; Path to Green</a:t>
            </a:r>
            <a:endParaRPr lang="en-US" sz="3600" dirty="0"/>
          </a:p>
        </p:txBody>
      </p:sp>
      <p:sp>
        <p:nvSpPr>
          <p:cNvPr id="4" name="Text 2"/>
          <p:cNvSpPr/>
          <p:nvPr/>
        </p:nvSpPr>
        <p:spPr>
          <a:xfrm>
            <a:off x="502920" y="2834640"/>
            <a:ext cx="8138160" cy="566928"/>
          </a:xfrm>
          <a:prstGeom prst="rect">
            <a:avLst/>
          </a:prstGeom>
          <a:noFill/>
          <a:ln/>
        </p:spPr>
        <p:txBody>
          <a:bodyPr wrap="square" lIns="0" tIns="0" rIns="0" bIns="0" rtlCol="0" anchor="ctr"/>
          <a:lstStyle/>
          <a:p>
            <a:pPr indent="0" marL="0">
              <a:buNone/>
            </a:pPr>
            <a:r>
              <a:rPr lang="en-US" sz="1300" dirty="0">
                <a:solidFill>
                  <a:srgbClr val="C9D6E8"/>
                </a:solidFill>
                <a:latin typeface="Calibri" pitchFamily="34" charset="0"/>
                <a:ea typeface="Calibri" pitchFamily="34" charset="-122"/>
                <a:cs typeface="Calibri" pitchFamily="34" charset="-120"/>
              </a:rPr>
              <a:t>Evidence base behind the Thin-Unity posture (main deck, slide 9).</a:t>
            </a:r>
            <a:endParaRPr lang="en-US" sz="1300" dirty="0"/>
          </a:p>
          <a:p>
            <a:pPr indent="0" marL="0">
              <a:buNone/>
            </a:pPr>
            <a:r>
              <a:rPr lang="en-US" sz="1300" dirty="0">
                <a:solidFill>
                  <a:srgbClr val="C9D6E8"/>
                </a:solidFill>
                <a:latin typeface="Calibri" pitchFamily="34" charset="0"/>
                <a:ea typeface="Calibri" pitchFamily="34" charset="-122"/>
                <a:cs typeface="Calibri" pitchFamily="34" charset="-120"/>
              </a:rPr>
              <a:t>Drawn on request — not part of the core walk-through.</a:t>
            </a:r>
            <a:endParaRPr lang="en-US" sz="1300" dirty="0"/>
          </a:p>
        </p:txBody>
      </p:sp>
      <p:sp>
        <p:nvSpPr>
          <p:cNvPr id="5" name="Shape 3"/>
          <p:cNvSpPr/>
          <p:nvPr/>
        </p:nvSpPr>
        <p:spPr>
          <a:xfrm>
            <a:off x="502920" y="3822192"/>
            <a:ext cx="201168" cy="201168"/>
          </a:xfrm>
          <a:prstGeom prst="ellipse">
            <a:avLst/>
          </a:prstGeom>
          <a:solidFill>
            <a:srgbClr val="B3402F"/>
          </a:solidFill>
          <a:ln/>
        </p:spPr>
      </p:sp>
      <p:sp>
        <p:nvSpPr>
          <p:cNvPr id="6" name="Text 4"/>
          <p:cNvSpPr/>
          <p:nvPr/>
        </p:nvSpPr>
        <p:spPr>
          <a:xfrm>
            <a:off x="795528" y="3749040"/>
            <a:ext cx="2468880" cy="365760"/>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RED  </a:t>
            </a:r>
            <a:pPr indent="0" marL="0">
              <a:buNone/>
            </a:pPr>
            <a:r>
              <a:rPr lang="en-US" sz="1050" dirty="0">
                <a:solidFill>
                  <a:srgbClr val="C9D6E8"/>
                </a:solidFill>
                <a:latin typeface="Calibri" pitchFamily="34" charset="0"/>
                <a:ea typeface="Calibri" pitchFamily="34" charset="-122"/>
                <a:cs typeface="Calibri" pitchFamily="34" charset="-120"/>
              </a:rPr>
              <a:t>blocks the commercial motion today</a:t>
            </a:r>
            <a:endParaRPr lang="en-US" sz="1050" dirty="0"/>
          </a:p>
        </p:txBody>
      </p:sp>
      <p:sp>
        <p:nvSpPr>
          <p:cNvPr id="7" name="Shape 5"/>
          <p:cNvSpPr/>
          <p:nvPr/>
        </p:nvSpPr>
        <p:spPr>
          <a:xfrm>
            <a:off x="3291840" y="3822192"/>
            <a:ext cx="201168" cy="201168"/>
          </a:xfrm>
          <a:prstGeom prst="ellipse">
            <a:avLst/>
          </a:prstGeom>
          <a:solidFill>
            <a:srgbClr val="D89A12"/>
          </a:solidFill>
          <a:ln/>
        </p:spPr>
      </p:sp>
      <p:sp>
        <p:nvSpPr>
          <p:cNvPr id="8" name="Text 6"/>
          <p:cNvSpPr/>
          <p:nvPr/>
        </p:nvSpPr>
        <p:spPr>
          <a:xfrm>
            <a:off x="3584448" y="3749040"/>
            <a:ext cx="2468880" cy="365760"/>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AMBER  </a:t>
            </a:r>
            <a:pPr indent="0" marL="0">
              <a:buNone/>
            </a:pPr>
            <a:r>
              <a:rPr lang="en-US" sz="1050" dirty="0">
                <a:solidFill>
                  <a:srgbClr val="C9D6E8"/>
                </a:solidFill>
                <a:latin typeface="Calibri" pitchFamily="34" charset="0"/>
                <a:ea typeface="Calibri" pitchFamily="34" charset="-122"/>
                <a:cs typeface="Calibri" pitchFamily="34" charset="-120"/>
              </a:rPr>
              <a:t>adds cost or time to every deal</a:t>
            </a:r>
            <a:endParaRPr lang="en-US" sz="1050" dirty="0"/>
          </a:p>
        </p:txBody>
      </p:sp>
      <p:sp>
        <p:nvSpPr>
          <p:cNvPr id="9" name="Shape 7"/>
          <p:cNvSpPr/>
          <p:nvPr/>
        </p:nvSpPr>
        <p:spPr>
          <a:xfrm>
            <a:off x="6080760" y="3822192"/>
            <a:ext cx="201168" cy="201168"/>
          </a:xfrm>
          <a:prstGeom prst="ellipse">
            <a:avLst/>
          </a:prstGeom>
          <a:solidFill>
            <a:srgbClr val="1E7A4C"/>
          </a:solidFill>
          <a:ln/>
        </p:spPr>
      </p:sp>
      <p:sp>
        <p:nvSpPr>
          <p:cNvPr id="10" name="Text 8"/>
          <p:cNvSpPr/>
          <p:nvPr/>
        </p:nvSpPr>
        <p:spPr>
          <a:xfrm>
            <a:off x="6373368" y="3749040"/>
            <a:ext cx="2468880" cy="365760"/>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GREEN  </a:t>
            </a:r>
            <a:pPr indent="0" marL="0">
              <a:buNone/>
            </a:pPr>
            <a:r>
              <a:rPr lang="en-US" sz="1050" dirty="0">
                <a:solidFill>
                  <a:srgbClr val="C9D6E8"/>
                </a:solidFill>
                <a:latin typeface="Calibri" pitchFamily="34" charset="0"/>
                <a:ea typeface="Calibri" pitchFamily="34" charset="-122"/>
                <a:cs typeface="Calibri" pitchFamily="34" charset="-120"/>
              </a:rPr>
              <a:t>ready to scale</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92608"/>
            <a:ext cx="8229600" cy="274320"/>
          </a:xfrm>
          <a:prstGeom prst="rect">
            <a:avLst/>
          </a:prstGeom>
          <a:noFill/>
          <a:ln/>
        </p:spPr>
        <p:txBody>
          <a:bodyPr wrap="square" lIns="0" tIns="0" rIns="0" bIns="0" rtlCol="0" anchor="ctr"/>
          <a:lstStyle/>
          <a:p>
            <a:pPr indent="0" marL="0">
              <a:buNone/>
            </a:pPr>
            <a:r>
              <a:rPr lang="en-US" sz="1050" b="1" spc="200" kern="0" dirty="0">
                <a:solidFill>
                  <a:srgbClr val="C78F0D"/>
                </a:solidFill>
                <a:latin typeface="Calibri" pitchFamily="34" charset="0"/>
                <a:ea typeface="Calibri" pitchFamily="34" charset="-122"/>
                <a:cs typeface="Calibri" pitchFamily="34" charset="-120"/>
              </a:rPr>
              <a:t>BACKUP · UNITY DYNAMICS</a:t>
            </a:r>
            <a:endParaRPr lang="en-US" sz="1050" dirty="0"/>
          </a:p>
        </p:txBody>
      </p:sp>
      <p:sp>
        <p:nvSpPr>
          <p:cNvPr id="3" name="Text 1"/>
          <p:cNvSpPr/>
          <p:nvPr/>
        </p:nvSpPr>
        <p:spPr>
          <a:xfrm>
            <a:off x="457200" y="530352"/>
            <a:ext cx="8229600" cy="566928"/>
          </a:xfrm>
          <a:prstGeom prst="rect">
            <a:avLst/>
          </a:prstGeom>
          <a:noFill/>
          <a:ln/>
        </p:spPr>
        <p:txBody>
          <a:bodyPr wrap="square" lIns="0" tIns="0" rIns="0" bIns="0" rtlCol="0" anchor="ctr"/>
          <a:lstStyle/>
          <a:p>
            <a:pPr indent="0" marL="0">
              <a:buNone/>
            </a:pPr>
            <a:r>
              <a:rPr lang="en-US" sz="2800" b="1" dirty="0">
                <a:solidFill>
                  <a:srgbClr val="16263F"/>
                </a:solidFill>
                <a:latin typeface="Cambria" pitchFamily="34" charset="0"/>
                <a:ea typeface="Cambria" pitchFamily="34" charset="-122"/>
                <a:cs typeface="Cambria" pitchFamily="34" charset="-120"/>
              </a:rPr>
              <a:t>Where Unity binds the commercial motion</a:t>
            </a:r>
            <a:endParaRPr lang="en-US" sz="28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457200" y="1207008"/>
          <a:ext cx="8229600" cy="914400"/>
        </p:xfrm>
        <a:graphic>
          <a:graphicData uri="http://schemas.openxmlformats.org/drawingml/2006/table">
            <a:tbl>
              <a:tblPr/>
              <a:tblGrid>
                <a:gridCol w="2514600"/>
                <a:gridCol w="4892040"/>
                <a:gridCol w="822960"/>
              </a:tblGrid>
              <a:tr h="384048">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Dynamic</a:t>
                      </a:r>
                      <a:endParaRPr lang="en-US" sz="1000" dirty="0">
                        <a:latin typeface="Calibri" charset="0"/>
                        <a:ea typeface="Calibri" charset="0"/>
                        <a:cs typeface="Calibri" charset="0"/>
                      </a:endParaRPr>
                    </a:p>
                  </a:txBody>
                  <a:tcPr marL="45720" marR="45720" marT="45720" marB="45720" anchor="ctr">
                    <a:lnL w="6350" cap="flat" cmpd="sng" algn="ctr">
                      <a:solidFill>
                        <a:srgbClr val="DFE6EE"/>
                      </a:solidFill>
                      <a:prstDash val="solid"/>
                      <a:round/>
                      <a:headEnd type="none" w="med" len="med"/>
                      <a:tailEnd type="none" w="med" len="med"/>
                    </a:lnL>
                    <a:lnR w="6350" cap="flat" cmpd="sng" algn="ctr">
                      <a:solidFill>
                        <a:srgbClr val="DFE6EE"/>
                      </a:solidFill>
                      <a:prstDash val="solid"/>
                      <a:round/>
                      <a:headEnd type="none" w="med" len="med"/>
                      <a:tailEnd type="none" w="med" len="med"/>
                    </a:lnR>
                    <a:lnT w="6350" cap="flat" cmpd="sng" algn="ctr">
                      <a:solidFill>
                        <a:srgbClr val="DFE6EE"/>
                      </a:solidFill>
                      <a:prstDash val="solid"/>
                      <a:round/>
                      <a:headEnd type="none" w="med" len="med"/>
                      <a:tailEnd type="none" w="med" len="med"/>
                    </a:lnT>
                    <a:lnB w="6350" cap="flat" cmpd="sng" algn="ctr">
                      <a:solidFill>
                        <a:srgbClr val="DFE6EE"/>
                      </a:solidFill>
                      <a:prstDash val="solid"/>
                      <a:round/>
                      <a:headEnd type="none" w="med" len="med"/>
                      <a:tailEnd type="none" w="med" len="med"/>
                    </a:lnB>
                    <a:solidFill>
                      <a:srgbClr val="16263F"/>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What it blocks — for hospital clients &amp; owners</a:t>
                      </a:r>
                      <a:endParaRPr lang="en-US" sz="1000" dirty="0">
                        <a:latin typeface="Calibri" charset="0"/>
                        <a:ea typeface="Calibri" charset="0"/>
                        <a:cs typeface="Calibri" charset="0"/>
                      </a:endParaRPr>
                    </a:p>
                  </a:txBody>
                  <a:tcPr marL="45720" marR="45720" marT="45720" marB="45720" anchor="ctr">
                    <a:lnL w="6350" cap="flat" cmpd="sng" algn="ctr">
                      <a:solidFill>
                        <a:srgbClr val="DFE6EE"/>
                      </a:solidFill>
                      <a:prstDash val="solid"/>
                      <a:round/>
                      <a:headEnd type="none" w="med" len="med"/>
                      <a:tailEnd type="none" w="med" len="med"/>
                    </a:lnL>
                    <a:lnR w="6350" cap="flat" cmpd="sng" algn="ctr">
                      <a:solidFill>
                        <a:srgbClr val="DFE6EE"/>
                      </a:solidFill>
                      <a:prstDash val="solid"/>
                      <a:round/>
                      <a:headEnd type="none" w="med" len="med"/>
                      <a:tailEnd type="none" w="med" len="med"/>
                    </a:lnR>
                    <a:lnT w="6350" cap="flat" cmpd="sng" algn="ctr">
                      <a:solidFill>
                        <a:srgbClr val="DFE6EE"/>
                      </a:solidFill>
                      <a:prstDash val="solid"/>
                      <a:round/>
                      <a:headEnd type="none" w="med" len="med"/>
                      <a:tailEnd type="none" w="med" len="med"/>
                    </a:lnT>
                    <a:lnB w="6350" cap="flat" cmpd="sng" algn="ctr">
                      <a:solidFill>
                        <a:srgbClr val="DFE6EE"/>
                      </a:solidFill>
                      <a:prstDash val="solid"/>
                      <a:round/>
                      <a:headEnd type="none" w="med" len="med"/>
                      <a:tailEnd type="none" w="med" len="med"/>
                    </a:lnB>
                    <a:solidFill>
                      <a:srgbClr val="16263F"/>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Status</a:t>
                      </a:r>
                      <a:endParaRPr lang="en-US" sz="1000" dirty="0">
                        <a:latin typeface="Calibri" charset="0"/>
                        <a:ea typeface="Calibri" charset="0"/>
                        <a:cs typeface="Calibri" charset="0"/>
                      </a:endParaRPr>
                    </a:p>
                  </a:txBody>
                  <a:tcPr marL="45720" marR="45720" marT="45720" marB="45720" anchor="ctr">
                    <a:lnL w="6350" cap="flat" cmpd="sng" algn="ctr">
                      <a:solidFill>
                        <a:srgbClr val="DFE6EE"/>
                      </a:solidFill>
                      <a:prstDash val="solid"/>
                      <a:round/>
                      <a:headEnd type="none" w="med" len="med"/>
                      <a:tailEnd type="none" w="med" len="med"/>
                    </a:lnL>
                    <a:lnR w="6350" cap="flat" cmpd="sng" algn="ctr">
                      <a:solidFill>
                        <a:srgbClr val="DFE6EE"/>
                      </a:solidFill>
                      <a:prstDash val="solid"/>
                      <a:round/>
                      <a:headEnd type="none" w="med" len="med"/>
                      <a:tailEnd type="none" w="med" len="med"/>
                    </a:lnR>
                    <a:lnT w="6350" cap="flat" cmpd="sng" algn="ctr">
                      <a:solidFill>
                        <a:srgbClr val="DFE6EE"/>
                      </a:solidFill>
                      <a:prstDash val="solid"/>
                      <a:round/>
                      <a:headEnd type="none" w="med" len="med"/>
                      <a:tailEnd type="none" w="med" len="med"/>
                    </a:lnT>
                    <a:lnB w="6350" cap="flat" cmpd="sng" algn="ctr">
                      <a:solidFill>
                        <a:srgbClr val="DFE6EE"/>
                      </a:solidFill>
                      <a:prstDash val="solid"/>
                      <a:round/>
                      <a:headEnd type="none" w="med" len="med"/>
                      <a:tailEnd type="none" w="med" len="med"/>
                    </a:lnB>
                    <a:solidFill>
                      <a:srgbClr val="16263F"/>
                    </a:solidFill>
                  </a:tcPr>
                </a:tc>
              </a:tr>
              <a:tr h="384048">
                <a:tc>
                  <a:txBody>
                    <a:bodyPr/>
                    <a:lstStyle/>
                    <a:p>
                      <a:pPr indent="0" marL="0">
                        <a:buNone/>
                      </a:pPr>
                      <a:r>
                        <a:rPr lang="en-US" sz="920" b="1" dirty="0">
                          <a:solidFill>
                            <a:srgbClr val="16263F"/>
                          </a:solidFill>
                          <a:latin typeface="Calibri" pitchFamily="34" charset="0"/>
                          <a:ea typeface="Calibri" pitchFamily="34" charset="-122"/>
                          <a:cs typeface="Calibri" pitchFamily="34" charset="-120"/>
                        </a:rPr>
                        <a:t>D1 · Locked-down endpoints &amp; GPU-less VDI (Citrix / Horizon)</a:t>
                      </a:r>
                      <a:endParaRPr lang="en-US" sz="920" dirty="0">
                        <a:latin typeface="Calibri" charset="0"/>
                        <a:ea typeface="Calibri" charset="0"/>
                        <a:cs typeface="Calibri" charset="0"/>
                      </a:endParaRPr>
                    </a:p>
                  </a:txBody>
                  <a:tcPr marL="45720" marR="45720" marT="45720" marB="45720" anchor="ctr">
                    <a:lnL w="6350" cap="flat" cmpd="sng" algn="ctr">
                      <a:solidFill>
                        <a:srgbClr val="DFE6EE"/>
                      </a:solidFill>
                      <a:prstDash val="solid"/>
                      <a:round/>
                      <a:headEnd type="none" w="med" len="med"/>
                      <a:tailEnd type="none" w="med" len="med"/>
                    </a:lnL>
                    <a:lnR w="6350" cap="flat" cmpd="sng" algn="ctr">
                      <a:solidFill>
                        <a:srgbClr val="DFE6EE"/>
                      </a:solidFill>
                      <a:prstDash val="solid"/>
                      <a:round/>
                      <a:headEnd type="none" w="med" len="med"/>
                      <a:tailEnd type="none" w="med" len="med"/>
                    </a:lnR>
                    <a:lnT w="6350" cap="flat" cmpd="sng" algn="ctr">
                      <a:solidFill>
                        <a:srgbClr val="DFE6EE"/>
                      </a:solidFill>
                      <a:prstDash val="solid"/>
                      <a:round/>
                      <a:headEnd type="none" w="med" len="med"/>
                      <a:tailEnd type="none" w="med" len="med"/>
                    </a:lnT>
                    <a:lnB w="6350" cap="flat" cmpd="sng" algn="ctr">
                      <a:solidFill>
                        <a:srgbClr val="DFE6EE"/>
                      </a:solidFill>
                      <a:prstDash val="solid"/>
                      <a:round/>
                      <a:headEnd type="none" w="med" len="med"/>
                      <a:tailEnd type="none" w="med" len="med"/>
                    </a:lnB>
                    <a:solidFill>
                      <a:srgbClr val="FFFFFF"/>
                    </a:solidFill>
                  </a:tcPr>
                </a:tc>
                <a:tc>
                  <a:txBody>
                    <a:bodyPr/>
                    <a:lstStyle/>
                    <a:p>
                      <a:pPr indent="0" marL="0">
                        <a:buNone/>
                      </a:pPr>
                      <a:r>
                        <a:rPr lang="en-US" sz="920" dirty="0">
                          <a:solidFill>
                            <a:srgbClr val="1F2A38"/>
                          </a:solidFill>
                          <a:latin typeface="Calibri" pitchFamily="34" charset="0"/>
                          <a:ea typeface="Calibri" pitchFamily="34" charset="-122"/>
                          <a:cs typeface="Calibri" pitchFamily="34" charset="-120"/>
                        </a:rPr>
                        <a:t>Per-client install approvals (MSI, signing, SCCM/Intune review); unusable on thin clients without vGPU — pilots and seat expansion stall.</a:t>
                      </a:r>
                      <a:endParaRPr lang="en-US" sz="920" dirty="0">
                        <a:latin typeface="Calibri" charset="0"/>
                        <a:ea typeface="Calibri" charset="0"/>
                        <a:cs typeface="Calibri" charset="0"/>
                      </a:endParaRPr>
                    </a:p>
                  </a:txBody>
                  <a:tcPr marL="45720" marR="45720" marT="45720" marB="45720" anchor="ctr">
                    <a:lnL w="6350" cap="flat" cmpd="sng" algn="ctr">
                      <a:solidFill>
                        <a:srgbClr val="DFE6EE"/>
                      </a:solidFill>
                      <a:prstDash val="solid"/>
                      <a:round/>
                      <a:headEnd type="none" w="med" len="med"/>
                      <a:tailEnd type="none" w="med" len="med"/>
                    </a:lnL>
                    <a:lnR w="6350" cap="flat" cmpd="sng" algn="ctr">
                      <a:solidFill>
                        <a:srgbClr val="DFE6EE"/>
                      </a:solidFill>
                      <a:prstDash val="solid"/>
                      <a:round/>
                      <a:headEnd type="none" w="med" len="med"/>
                      <a:tailEnd type="none" w="med" len="med"/>
                    </a:lnR>
                    <a:lnT w="6350" cap="flat" cmpd="sng" algn="ctr">
                      <a:solidFill>
                        <a:srgbClr val="DFE6EE"/>
                      </a:solidFill>
                      <a:prstDash val="solid"/>
                      <a:round/>
                      <a:headEnd type="none" w="med" len="med"/>
                      <a:tailEnd type="none" w="med" len="med"/>
                    </a:lnT>
                    <a:lnB w="6350" cap="flat" cmpd="sng" algn="ctr">
                      <a:solidFill>
                        <a:srgbClr val="DFE6EE"/>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RED</a:t>
                      </a:r>
                      <a:endParaRPr lang="en-US" sz="900" dirty="0">
                        <a:latin typeface="Calibri" charset="0"/>
                        <a:ea typeface="Calibri" charset="0"/>
                        <a:cs typeface="Calibri" charset="0"/>
                      </a:endParaRPr>
                    </a:p>
                  </a:txBody>
                  <a:tcPr marL="45720" marR="45720" marT="45720" marB="45720" anchor="ctr">
                    <a:lnL w="6350" cap="flat" cmpd="sng" algn="ctr">
                      <a:solidFill>
                        <a:srgbClr val="DFE6EE"/>
                      </a:solidFill>
                      <a:prstDash val="solid"/>
                      <a:round/>
                      <a:headEnd type="none" w="med" len="med"/>
                      <a:tailEnd type="none" w="med" len="med"/>
                    </a:lnL>
                    <a:lnR w="6350" cap="flat" cmpd="sng" algn="ctr">
                      <a:solidFill>
                        <a:srgbClr val="DFE6EE"/>
                      </a:solidFill>
                      <a:prstDash val="solid"/>
                      <a:round/>
                      <a:headEnd type="none" w="med" len="med"/>
                      <a:tailEnd type="none" w="med" len="med"/>
                    </a:lnR>
                    <a:lnT w="6350" cap="flat" cmpd="sng" algn="ctr">
                      <a:solidFill>
                        <a:srgbClr val="DFE6EE"/>
                      </a:solidFill>
                      <a:prstDash val="solid"/>
                      <a:round/>
                      <a:headEnd type="none" w="med" len="med"/>
                      <a:tailEnd type="none" w="med" len="med"/>
                    </a:lnT>
                    <a:lnB w="6350" cap="flat" cmpd="sng" algn="ctr">
                      <a:solidFill>
                        <a:srgbClr val="DFE6EE"/>
                      </a:solidFill>
                      <a:prstDash val="solid"/>
                      <a:round/>
                      <a:headEnd type="none" w="med" len="med"/>
                      <a:tailEnd type="none" w="med" len="med"/>
                    </a:lnB>
                    <a:solidFill>
                      <a:srgbClr val="B3402F"/>
                    </a:solidFill>
                  </a:tcPr>
                </a:tc>
              </a:tr>
              <a:tr h="384048">
                <a:tc>
                  <a:txBody>
                    <a:bodyPr/>
                    <a:lstStyle/>
                    <a:p>
                      <a:pPr indent="0" marL="0">
                        <a:buNone/>
                      </a:pPr>
                      <a:r>
                        <a:rPr lang="en-US" sz="920" b="1" dirty="0">
                          <a:solidFill>
                            <a:srgbClr val="16263F"/>
                          </a:solidFill>
                          <a:latin typeface="Calibri" pitchFamily="34" charset="0"/>
                          <a:ea typeface="Calibri" pitchFamily="34" charset="-122"/>
                          <a:cs typeface="Calibri" pitchFamily="34" charset="-120"/>
                        </a:rPr>
                        <a:t>D2 · Unity Web ceilings at hospital-BIM scale</a:t>
                      </a:r>
                      <a:endParaRPr lang="en-US" sz="920" dirty="0">
                        <a:latin typeface="Calibri" charset="0"/>
                        <a:ea typeface="Calibri" charset="0"/>
                        <a:cs typeface="Calibri" charset="0"/>
                      </a:endParaRPr>
                    </a:p>
                  </a:txBody>
                  <a:tcPr marL="45720" marR="45720" marT="45720" marB="45720" anchor="ctr">
                    <a:lnL w="6350" cap="flat" cmpd="sng" algn="ctr">
                      <a:solidFill>
                        <a:srgbClr val="DFE6EE"/>
                      </a:solidFill>
                      <a:prstDash val="solid"/>
                      <a:round/>
                      <a:headEnd type="none" w="med" len="med"/>
                      <a:tailEnd type="none" w="med" len="med"/>
                    </a:lnL>
                    <a:lnR w="6350" cap="flat" cmpd="sng" algn="ctr">
                      <a:solidFill>
                        <a:srgbClr val="DFE6EE"/>
                      </a:solidFill>
                      <a:prstDash val="solid"/>
                      <a:round/>
                      <a:headEnd type="none" w="med" len="med"/>
                      <a:tailEnd type="none" w="med" len="med"/>
                    </a:lnR>
                    <a:lnT w="6350" cap="flat" cmpd="sng" algn="ctr">
                      <a:solidFill>
                        <a:srgbClr val="DFE6EE"/>
                      </a:solidFill>
                      <a:prstDash val="solid"/>
                      <a:round/>
                      <a:headEnd type="none" w="med" len="med"/>
                      <a:tailEnd type="none" w="med" len="med"/>
                    </a:lnT>
                    <a:lnB w="6350" cap="flat" cmpd="sng" algn="ctr">
                      <a:solidFill>
                        <a:srgbClr val="DFE6EE"/>
                      </a:solidFill>
                      <a:prstDash val="solid"/>
                      <a:round/>
                      <a:headEnd type="none" w="med" len="med"/>
                      <a:tailEnd type="none" w="med" len="med"/>
                    </a:lnB>
                    <a:solidFill>
                      <a:srgbClr val="F3F6FA"/>
                    </a:solidFill>
                  </a:tcPr>
                </a:tc>
                <a:tc>
                  <a:txBody>
                    <a:bodyPr/>
                    <a:lstStyle/>
                    <a:p>
                      <a:pPr indent="0" marL="0">
                        <a:buNone/>
                      </a:pPr>
                      <a:r>
                        <a:rPr lang="en-US" sz="920" dirty="0">
                          <a:solidFill>
                            <a:srgbClr val="1F2A38"/>
                          </a:solidFill>
                          <a:latin typeface="Calibri" pitchFamily="34" charset="0"/>
                          <a:ea typeface="Calibri" pitchFamily="34" charset="-122"/>
                          <a:cs typeface="Calibri" pitchFamily="34" charset="-120"/>
                        </a:rPr>
                        <a:t>Heavy payloads; wasm memory cap on dense MEP scenes (the tab dies, no graceful degrade); threading needs COOP/COEP; no native streaming / LOD.</a:t>
                      </a:r>
                      <a:endParaRPr lang="en-US" sz="920" dirty="0">
                        <a:latin typeface="Calibri" charset="0"/>
                        <a:ea typeface="Calibri" charset="0"/>
                        <a:cs typeface="Calibri" charset="0"/>
                      </a:endParaRPr>
                    </a:p>
                  </a:txBody>
                  <a:tcPr marL="45720" marR="45720" marT="45720" marB="45720" anchor="ctr">
                    <a:lnL w="6350" cap="flat" cmpd="sng" algn="ctr">
                      <a:solidFill>
                        <a:srgbClr val="DFE6EE"/>
                      </a:solidFill>
                      <a:prstDash val="solid"/>
                      <a:round/>
                      <a:headEnd type="none" w="med" len="med"/>
                      <a:tailEnd type="none" w="med" len="med"/>
                    </a:lnL>
                    <a:lnR w="6350" cap="flat" cmpd="sng" algn="ctr">
                      <a:solidFill>
                        <a:srgbClr val="DFE6EE"/>
                      </a:solidFill>
                      <a:prstDash val="solid"/>
                      <a:round/>
                      <a:headEnd type="none" w="med" len="med"/>
                      <a:tailEnd type="none" w="med" len="med"/>
                    </a:lnR>
                    <a:lnT w="6350" cap="flat" cmpd="sng" algn="ctr">
                      <a:solidFill>
                        <a:srgbClr val="DFE6EE"/>
                      </a:solidFill>
                      <a:prstDash val="solid"/>
                      <a:round/>
                      <a:headEnd type="none" w="med" len="med"/>
                      <a:tailEnd type="none" w="med" len="med"/>
                    </a:lnT>
                    <a:lnB w="6350" cap="flat" cmpd="sng" algn="ctr">
                      <a:solidFill>
                        <a:srgbClr val="DFE6EE"/>
                      </a:solidFill>
                      <a:prstDash val="solid"/>
                      <a:round/>
                      <a:headEnd type="none" w="med" len="med"/>
                      <a:tailEnd type="none" w="med" len="med"/>
                    </a:lnB>
                    <a:solidFill>
                      <a:srgbClr val="F3F6FA"/>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RED</a:t>
                      </a:r>
                      <a:endParaRPr lang="en-US" sz="900" dirty="0">
                        <a:latin typeface="Calibri" charset="0"/>
                        <a:ea typeface="Calibri" charset="0"/>
                        <a:cs typeface="Calibri" charset="0"/>
                      </a:endParaRPr>
                    </a:p>
                  </a:txBody>
                  <a:tcPr marL="45720" marR="45720" marT="45720" marB="45720" anchor="ctr">
                    <a:lnL w="6350" cap="flat" cmpd="sng" algn="ctr">
                      <a:solidFill>
                        <a:srgbClr val="DFE6EE"/>
                      </a:solidFill>
                      <a:prstDash val="solid"/>
                      <a:round/>
                      <a:headEnd type="none" w="med" len="med"/>
                      <a:tailEnd type="none" w="med" len="med"/>
                    </a:lnL>
                    <a:lnR w="6350" cap="flat" cmpd="sng" algn="ctr">
                      <a:solidFill>
                        <a:srgbClr val="DFE6EE"/>
                      </a:solidFill>
                      <a:prstDash val="solid"/>
                      <a:round/>
                      <a:headEnd type="none" w="med" len="med"/>
                      <a:tailEnd type="none" w="med" len="med"/>
                    </a:lnR>
                    <a:lnT w="6350" cap="flat" cmpd="sng" algn="ctr">
                      <a:solidFill>
                        <a:srgbClr val="DFE6EE"/>
                      </a:solidFill>
                      <a:prstDash val="solid"/>
                      <a:round/>
                      <a:headEnd type="none" w="med" len="med"/>
                      <a:tailEnd type="none" w="med" len="med"/>
                    </a:lnT>
                    <a:lnB w="6350" cap="flat" cmpd="sng" algn="ctr">
                      <a:solidFill>
                        <a:srgbClr val="DFE6EE"/>
                      </a:solidFill>
                      <a:prstDash val="solid"/>
                      <a:round/>
                      <a:headEnd type="none" w="med" len="med"/>
                      <a:tailEnd type="none" w="med" len="med"/>
                    </a:lnB>
                    <a:solidFill>
                      <a:srgbClr val="B3402F"/>
                    </a:solidFill>
                  </a:tcPr>
                </a:tc>
              </a:tr>
              <a:tr h="384048">
                <a:tc>
                  <a:txBody>
                    <a:bodyPr/>
                    <a:lstStyle/>
                    <a:p>
                      <a:pPr indent="0" marL="0">
                        <a:buNone/>
                      </a:pPr>
                      <a:r>
                        <a:rPr lang="en-US" sz="920" b="1" dirty="0">
                          <a:solidFill>
                            <a:srgbClr val="16263F"/>
                          </a:solidFill>
                          <a:latin typeface="Calibri" pitchFamily="34" charset="0"/>
                          <a:ea typeface="Calibri" pitchFamily="34" charset="-122"/>
                          <a:cs typeface="Calibri" pitchFamily="34" charset="-120"/>
                        </a:rPr>
                        <a:t>D3 · Pixel-streaming unit economics</a:t>
                      </a:r>
                      <a:endParaRPr lang="en-US" sz="920" dirty="0">
                        <a:latin typeface="Calibri" charset="0"/>
                        <a:ea typeface="Calibri" charset="0"/>
                        <a:cs typeface="Calibri" charset="0"/>
                      </a:endParaRPr>
                    </a:p>
                  </a:txBody>
                  <a:tcPr marL="45720" marR="45720" marT="45720" marB="45720" anchor="ctr">
                    <a:lnL w="6350" cap="flat" cmpd="sng" algn="ctr">
                      <a:solidFill>
                        <a:srgbClr val="DFE6EE"/>
                      </a:solidFill>
                      <a:prstDash val="solid"/>
                      <a:round/>
                      <a:headEnd type="none" w="med" len="med"/>
                      <a:tailEnd type="none" w="med" len="med"/>
                    </a:lnL>
                    <a:lnR w="6350" cap="flat" cmpd="sng" algn="ctr">
                      <a:solidFill>
                        <a:srgbClr val="DFE6EE"/>
                      </a:solidFill>
                      <a:prstDash val="solid"/>
                      <a:round/>
                      <a:headEnd type="none" w="med" len="med"/>
                      <a:tailEnd type="none" w="med" len="med"/>
                    </a:lnR>
                    <a:lnT w="6350" cap="flat" cmpd="sng" algn="ctr">
                      <a:solidFill>
                        <a:srgbClr val="DFE6EE"/>
                      </a:solidFill>
                      <a:prstDash val="solid"/>
                      <a:round/>
                      <a:headEnd type="none" w="med" len="med"/>
                      <a:tailEnd type="none" w="med" len="med"/>
                    </a:lnT>
                    <a:lnB w="6350" cap="flat" cmpd="sng" algn="ctr">
                      <a:solidFill>
                        <a:srgbClr val="DFE6EE"/>
                      </a:solidFill>
                      <a:prstDash val="solid"/>
                      <a:round/>
                      <a:headEnd type="none" w="med" len="med"/>
                      <a:tailEnd type="none" w="med" len="med"/>
                    </a:lnB>
                    <a:solidFill>
                      <a:srgbClr val="FFFFFF"/>
                    </a:solidFill>
                  </a:tcPr>
                </a:tc>
                <a:tc>
                  <a:txBody>
                    <a:bodyPr/>
                    <a:lstStyle/>
                    <a:p>
                      <a:pPr indent="0" marL="0">
                        <a:buNone/>
                      </a:pPr>
                      <a:r>
                        <a:rPr lang="en-US" sz="920" dirty="0">
                          <a:solidFill>
                            <a:srgbClr val="1F2A38"/>
                          </a:solidFill>
                          <a:latin typeface="Calibri" pitchFamily="34" charset="0"/>
                          <a:ea typeface="Calibri" pitchFamily="34" charset="-122"/>
                          <a:cs typeface="Calibri" pitchFamily="34" charset="-120"/>
                        </a:rPr>
                        <a:t>One cloud GPU session per concurrent viewer — cost per seat explodes vs. a lightweight glTF web viewer.</a:t>
                      </a:r>
                      <a:endParaRPr lang="en-US" sz="920" dirty="0">
                        <a:latin typeface="Calibri" charset="0"/>
                        <a:ea typeface="Calibri" charset="0"/>
                        <a:cs typeface="Calibri" charset="0"/>
                      </a:endParaRPr>
                    </a:p>
                  </a:txBody>
                  <a:tcPr marL="45720" marR="45720" marT="45720" marB="45720" anchor="ctr">
                    <a:lnL w="6350" cap="flat" cmpd="sng" algn="ctr">
                      <a:solidFill>
                        <a:srgbClr val="DFE6EE"/>
                      </a:solidFill>
                      <a:prstDash val="solid"/>
                      <a:round/>
                      <a:headEnd type="none" w="med" len="med"/>
                      <a:tailEnd type="none" w="med" len="med"/>
                    </a:lnL>
                    <a:lnR w="6350" cap="flat" cmpd="sng" algn="ctr">
                      <a:solidFill>
                        <a:srgbClr val="DFE6EE"/>
                      </a:solidFill>
                      <a:prstDash val="solid"/>
                      <a:round/>
                      <a:headEnd type="none" w="med" len="med"/>
                      <a:tailEnd type="none" w="med" len="med"/>
                    </a:lnR>
                    <a:lnT w="6350" cap="flat" cmpd="sng" algn="ctr">
                      <a:solidFill>
                        <a:srgbClr val="DFE6EE"/>
                      </a:solidFill>
                      <a:prstDash val="solid"/>
                      <a:round/>
                      <a:headEnd type="none" w="med" len="med"/>
                      <a:tailEnd type="none" w="med" len="med"/>
                    </a:lnT>
                    <a:lnB w="6350" cap="flat" cmpd="sng" algn="ctr">
                      <a:solidFill>
                        <a:srgbClr val="DFE6EE"/>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AMBER</a:t>
                      </a:r>
                      <a:endParaRPr lang="en-US" sz="900" dirty="0">
                        <a:latin typeface="Calibri" charset="0"/>
                        <a:ea typeface="Calibri" charset="0"/>
                        <a:cs typeface="Calibri" charset="0"/>
                      </a:endParaRPr>
                    </a:p>
                  </a:txBody>
                  <a:tcPr marL="45720" marR="45720" marT="45720" marB="45720" anchor="ctr">
                    <a:lnL w="6350" cap="flat" cmpd="sng" algn="ctr">
                      <a:solidFill>
                        <a:srgbClr val="DFE6EE"/>
                      </a:solidFill>
                      <a:prstDash val="solid"/>
                      <a:round/>
                      <a:headEnd type="none" w="med" len="med"/>
                      <a:tailEnd type="none" w="med" len="med"/>
                    </a:lnL>
                    <a:lnR w="6350" cap="flat" cmpd="sng" algn="ctr">
                      <a:solidFill>
                        <a:srgbClr val="DFE6EE"/>
                      </a:solidFill>
                      <a:prstDash val="solid"/>
                      <a:round/>
                      <a:headEnd type="none" w="med" len="med"/>
                      <a:tailEnd type="none" w="med" len="med"/>
                    </a:lnR>
                    <a:lnT w="6350" cap="flat" cmpd="sng" algn="ctr">
                      <a:solidFill>
                        <a:srgbClr val="DFE6EE"/>
                      </a:solidFill>
                      <a:prstDash val="solid"/>
                      <a:round/>
                      <a:headEnd type="none" w="med" len="med"/>
                      <a:tailEnd type="none" w="med" len="med"/>
                    </a:lnT>
                    <a:lnB w="6350" cap="flat" cmpd="sng" algn="ctr">
                      <a:solidFill>
                        <a:srgbClr val="DFE6EE"/>
                      </a:solidFill>
                      <a:prstDash val="solid"/>
                      <a:round/>
                      <a:headEnd type="none" w="med" len="med"/>
                      <a:tailEnd type="none" w="med" len="med"/>
                    </a:lnB>
                    <a:solidFill>
                      <a:srgbClr val="D89A12"/>
                    </a:solidFill>
                  </a:tcPr>
                </a:tc>
              </a:tr>
              <a:tr h="384048">
                <a:tc>
                  <a:txBody>
                    <a:bodyPr/>
                    <a:lstStyle/>
                    <a:p>
                      <a:pPr indent="0" marL="0">
                        <a:buNone/>
                      </a:pPr>
                      <a:r>
                        <a:rPr lang="en-US" sz="920" b="1" dirty="0">
                          <a:solidFill>
                            <a:srgbClr val="16263F"/>
                          </a:solidFill>
                          <a:latin typeface="Calibri" pitchFamily="34" charset="0"/>
                          <a:ea typeface="Calibri" pitchFamily="34" charset="-122"/>
                          <a:cs typeface="Calibri" pitchFamily="34" charset="-120"/>
                        </a:rPr>
                        <a:t>D4 · Accessibility — Section 508 / WCAG</a:t>
                      </a:r>
                      <a:endParaRPr lang="en-US" sz="920" dirty="0">
                        <a:latin typeface="Calibri" charset="0"/>
                        <a:ea typeface="Calibri" charset="0"/>
                        <a:cs typeface="Calibri" charset="0"/>
                      </a:endParaRPr>
                    </a:p>
                  </a:txBody>
                  <a:tcPr marL="45720" marR="45720" marT="45720" marB="45720" anchor="ctr">
                    <a:lnL w="6350" cap="flat" cmpd="sng" algn="ctr">
                      <a:solidFill>
                        <a:srgbClr val="DFE6EE"/>
                      </a:solidFill>
                      <a:prstDash val="solid"/>
                      <a:round/>
                      <a:headEnd type="none" w="med" len="med"/>
                      <a:tailEnd type="none" w="med" len="med"/>
                    </a:lnL>
                    <a:lnR w="6350" cap="flat" cmpd="sng" algn="ctr">
                      <a:solidFill>
                        <a:srgbClr val="DFE6EE"/>
                      </a:solidFill>
                      <a:prstDash val="solid"/>
                      <a:round/>
                      <a:headEnd type="none" w="med" len="med"/>
                      <a:tailEnd type="none" w="med" len="med"/>
                    </a:lnR>
                    <a:lnT w="6350" cap="flat" cmpd="sng" algn="ctr">
                      <a:solidFill>
                        <a:srgbClr val="DFE6EE"/>
                      </a:solidFill>
                      <a:prstDash val="solid"/>
                      <a:round/>
                      <a:headEnd type="none" w="med" len="med"/>
                      <a:tailEnd type="none" w="med" len="med"/>
                    </a:lnT>
                    <a:lnB w="6350" cap="flat" cmpd="sng" algn="ctr">
                      <a:solidFill>
                        <a:srgbClr val="DFE6EE"/>
                      </a:solidFill>
                      <a:prstDash val="solid"/>
                      <a:round/>
                      <a:headEnd type="none" w="med" len="med"/>
                      <a:tailEnd type="none" w="med" len="med"/>
                    </a:lnB>
                    <a:solidFill>
                      <a:srgbClr val="F3F6FA"/>
                    </a:solidFill>
                  </a:tcPr>
                </a:tc>
                <a:tc>
                  <a:txBody>
                    <a:bodyPr/>
                    <a:lstStyle/>
                    <a:p>
                      <a:pPr indent="0" marL="0">
                        <a:buNone/>
                      </a:pPr>
                      <a:r>
                        <a:rPr lang="en-US" sz="920" dirty="0">
                          <a:solidFill>
                            <a:srgbClr val="1F2A38"/>
                          </a:solidFill>
                          <a:latin typeface="Calibri" pitchFamily="34" charset="0"/>
                          <a:ea typeface="Calibri" pitchFamily="34" charset="-122"/>
                          <a:cs typeface="Calibri" pitchFamily="34" charset="-120"/>
                        </a:rPr>
                        <a:t>Canvas-rendered UI is invisible to screen readers; keyboard nav and contrast are bespoke — a hard healthcare procurement gate (VPAT).</a:t>
                      </a:r>
                      <a:endParaRPr lang="en-US" sz="920" dirty="0">
                        <a:latin typeface="Calibri" charset="0"/>
                        <a:ea typeface="Calibri" charset="0"/>
                        <a:cs typeface="Calibri" charset="0"/>
                      </a:endParaRPr>
                    </a:p>
                  </a:txBody>
                  <a:tcPr marL="45720" marR="45720" marT="45720" marB="45720" anchor="ctr">
                    <a:lnL w="6350" cap="flat" cmpd="sng" algn="ctr">
                      <a:solidFill>
                        <a:srgbClr val="DFE6EE"/>
                      </a:solidFill>
                      <a:prstDash val="solid"/>
                      <a:round/>
                      <a:headEnd type="none" w="med" len="med"/>
                      <a:tailEnd type="none" w="med" len="med"/>
                    </a:lnL>
                    <a:lnR w="6350" cap="flat" cmpd="sng" algn="ctr">
                      <a:solidFill>
                        <a:srgbClr val="DFE6EE"/>
                      </a:solidFill>
                      <a:prstDash val="solid"/>
                      <a:round/>
                      <a:headEnd type="none" w="med" len="med"/>
                      <a:tailEnd type="none" w="med" len="med"/>
                    </a:lnR>
                    <a:lnT w="6350" cap="flat" cmpd="sng" algn="ctr">
                      <a:solidFill>
                        <a:srgbClr val="DFE6EE"/>
                      </a:solidFill>
                      <a:prstDash val="solid"/>
                      <a:round/>
                      <a:headEnd type="none" w="med" len="med"/>
                      <a:tailEnd type="none" w="med" len="med"/>
                    </a:lnT>
                    <a:lnB w="6350" cap="flat" cmpd="sng" algn="ctr">
                      <a:solidFill>
                        <a:srgbClr val="DFE6EE"/>
                      </a:solidFill>
                      <a:prstDash val="solid"/>
                      <a:round/>
                      <a:headEnd type="none" w="med" len="med"/>
                      <a:tailEnd type="none" w="med" len="med"/>
                    </a:lnB>
                    <a:solidFill>
                      <a:srgbClr val="F3F6FA"/>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RED</a:t>
                      </a:r>
                      <a:endParaRPr lang="en-US" sz="900" dirty="0">
                        <a:latin typeface="Calibri" charset="0"/>
                        <a:ea typeface="Calibri" charset="0"/>
                        <a:cs typeface="Calibri" charset="0"/>
                      </a:endParaRPr>
                    </a:p>
                  </a:txBody>
                  <a:tcPr marL="45720" marR="45720" marT="45720" marB="45720" anchor="ctr">
                    <a:lnL w="6350" cap="flat" cmpd="sng" algn="ctr">
                      <a:solidFill>
                        <a:srgbClr val="DFE6EE"/>
                      </a:solidFill>
                      <a:prstDash val="solid"/>
                      <a:round/>
                      <a:headEnd type="none" w="med" len="med"/>
                      <a:tailEnd type="none" w="med" len="med"/>
                    </a:lnL>
                    <a:lnR w="6350" cap="flat" cmpd="sng" algn="ctr">
                      <a:solidFill>
                        <a:srgbClr val="DFE6EE"/>
                      </a:solidFill>
                      <a:prstDash val="solid"/>
                      <a:round/>
                      <a:headEnd type="none" w="med" len="med"/>
                      <a:tailEnd type="none" w="med" len="med"/>
                    </a:lnR>
                    <a:lnT w="6350" cap="flat" cmpd="sng" algn="ctr">
                      <a:solidFill>
                        <a:srgbClr val="DFE6EE"/>
                      </a:solidFill>
                      <a:prstDash val="solid"/>
                      <a:round/>
                      <a:headEnd type="none" w="med" len="med"/>
                      <a:tailEnd type="none" w="med" len="med"/>
                    </a:lnT>
                    <a:lnB w="6350" cap="flat" cmpd="sng" algn="ctr">
                      <a:solidFill>
                        <a:srgbClr val="DFE6EE"/>
                      </a:solidFill>
                      <a:prstDash val="solid"/>
                      <a:round/>
                      <a:headEnd type="none" w="med" len="med"/>
                      <a:tailEnd type="none" w="med" len="med"/>
                    </a:lnB>
                    <a:solidFill>
                      <a:srgbClr val="B3402F"/>
                    </a:solidFill>
                  </a:tcPr>
                </a:tc>
              </a:tr>
              <a:tr h="384048">
                <a:tc>
                  <a:txBody>
                    <a:bodyPr/>
                    <a:lstStyle/>
                    <a:p>
                      <a:pPr indent="0" marL="0">
                        <a:buNone/>
                      </a:pPr>
                      <a:r>
                        <a:rPr lang="en-US" sz="920" b="1" dirty="0">
                          <a:solidFill>
                            <a:srgbClr val="16263F"/>
                          </a:solidFill>
                          <a:latin typeface="Calibri" pitchFamily="34" charset="0"/>
                          <a:ea typeface="Calibri" pitchFamily="34" charset="-122"/>
                          <a:cs typeface="Calibri" pitchFamily="34" charset="-120"/>
                        </a:rPr>
                        <a:t>D5 · Enterprise web table stakes</a:t>
                      </a:r>
                      <a:endParaRPr lang="en-US" sz="920" dirty="0">
                        <a:latin typeface="Calibri" charset="0"/>
                        <a:ea typeface="Calibri" charset="0"/>
                        <a:cs typeface="Calibri" charset="0"/>
                      </a:endParaRPr>
                    </a:p>
                  </a:txBody>
                  <a:tcPr marL="45720" marR="45720" marT="45720" marB="45720" anchor="ctr">
                    <a:lnL w="6350" cap="flat" cmpd="sng" algn="ctr">
                      <a:solidFill>
                        <a:srgbClr val="DFE6EE"/>
                      </a:solidFill>
                      <a:prstDash val="solid"/>
                      <a:round/>
                      <a:headEnd type="none" w="med" len="med"/>
                      <a:tailEnd type="none" w="med" len="med"/>
                    </a:lnL>
                    <a:lnR w="6350" cap="flat" cmpd="sng" algn="ctr">
                      <a:solidFill>
                        <a:srgbClr val="DFE6EE"/>
                      </a:solidFill>
                      <a:prstDash val="solid"/>
                      <a:round/>
                      <a:headEnd type="none" w="med" len="med"/>
                      <a:tailEnd type="none" w="med" len="med"/>
                    </a:lnR>
                    <a:lnT w="6350" cap="flat" cmpd="sng" algn="ctr">
                      <a:solidFill>
                        <a:srgbClr val="DFE6EE"/>
                      </a:solidFill>
                      <a:prstDash val="solid"/>
                      <a:round/>
                      <a:headEnd type="none" w="med" len="med"/>
                      <a:tailEnd type="none" w="med" len="med"/>
                    </a:lnT>
                    <a:lnB w="6350" cap="flat" cmpd="sng" algn="ctr">
                      <a:solidFill>
                        <a:srgbClr val="DFE6EE"/>
                      </a:solidFill>
                      <a:prstDash val="solid"/>
                      <a:round/>
                      <a:headEnd type="none" w="med" len="med"/>
                      <a:tailEnd type="none" w="med" len="med"/>
                    </a:lnB>
                    <a:solidFill>
                      <a:srgbClr val="FFFFFF"/>
                    </a:solidFill>
                  </a:tcPr>
                </a:tc>
                <a:tc>
                  <a:txBody>
                    <a:bodyPr/>
                    <a:lstStyle/>
                    <a:p>
                      <a:pPr indent="0" marL="0">
                        <a:buNone/>
                      </a:pPr>
                      <a:r>
                        <a:rPr lang="en-US" sz="920" dirty="0">
                          <a:solidFill>
                            <a:srgbClr val="1F2A38"/>
                          </a:solidFill>
                          <a:latin typeface="Calibri" pitchFamily="34" charset="0"/>
                          <a:ea typeface="Calibri" pitchFamily="34" charset="-122"/>
                          <a:cs typeface="Calibri" pitchFamily="34" charset="-120"/>
                        </a:rPr>
                        <a:t>SSO (Entra ID / Okta), URL deep-links to a room or twin, portal embedding, analytics — native in the DOM, custom in Unity.</a:t>
                      </a:r>
                      <a:endParaRPr lang="en-US" sz="920" dirty="0">
                        <a:latin typeface="Calibri" charset="0"/>
                        <a:ea typeface="Calibri" charset="0"/>
                        <a:cs typeface="Calibri" charset="0"/>
                      </a:endParaRPr>
                    </a:p>
                  </a:txBody>
                  <a:tcPr marL="45720" marR="45720" marT="45720" marB="45720" anchor="ctr">
                    <a:lnL w="6350" cap="flat" cmpd="sng" algn="ctr">
                      <a:solidFill>
                        <a:srgbClr val="DFE6EE"/>
                      </a:solidFill>
                      <a:prstDash val="solid"/>
                      <a:round/>
                      <a:headEnd type="none" w="med" len="med"/>
                      <a:tailEnd type="none" w="med" len="med"/>
                    </a:lnL>
                    <a:lnR w="6350" cap="flat" cmpd="sng" algn="ctr">
                      <a:solidFill>
                        <a:srgbClr val="DFE6EE"/>
                      </a:solidFill>
                      <a:prstDash val="solid"/>
                      <a:round/>
                      <a:headEnd type="none" w="med" len="med"/>
                      <a:tailEnd type="none" w="med" len="med"/>
                    </a:lnR>
                    <a:lnT w="6350" cap="flat" cmpd="sng" algn="ctr">
                      <a:solidFill>
                        <a:srgbClr val="DFE6EE"/>
                      </a:solidFill>
                      <a:prstDash val="solid"/>
                      <a:round/>
                      <a:headEnd type="none" w="med" len="med"/>
                      <a:tailEnd type="none" w="med" len="med"/>
                    </a:lnT>
                    <a:lnB w="6350" cap="flat" cmpd="sng" algn="ctr">
                      <a:solidFill>
                        <a:srgbClr val="DFE6EE"/>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AMBER</a:t>
                      </a:r>
                      <a:endParaRPr lang="en-US" sz="900" dirty="0">
                        <a:latin typeface="Calibri" charset="0"/>
                        <a:ea typeface="Calibri" charset="0"/>
                        <a:cs typeface="Calibri" charset="0"/>
                      </a:endParaRPr>
                    </a:p>
                  </a:txBody>
                  <a:tcPr marL="45720" marR="45720" marT="45720" marB="45720" anchor="ctr">
                    <a:lnL w="6350" cap="flat" cmpd="sng" algn="ctr">
                      <a:solidFill>
                        <a:srgbClr val="DFE6EE"/>
                      </a:solidFill>
                      <a:prstDash val="solid"/>
                      <a:round/>
                      <a:headEnd type="none" w="med" len="med"/>
                      <a:tailEnd type="none" w="med" len="med"/>
                    </a:lnL>
                    <a:lnR w="6350" cap="flat" cmpd="sng" algn="ctr">
                      <a:solidFill>
                        <a:srgbClr val="DFE6EE"/>
                      </a:solidFill>
                      <a:prstDash val="solid"/>
                      <a:round/>
                      <a:headEnd type="none" w="med" len="med"/>
                      <a:tailEnd type="none" w="med" len="med"/>
                    </a:lnR>
                    <a:lnT w="6350" cap="flat" cmpd="sng" algn="ctr">
                      <a:solidFill>
                        <a:srgbClr val="DFE6EE"/>
                      </a:solidFill>
                      <a:prstDash val="solid"/>
                      <a:round/>
                      <a:headEnd type="none" w="med" len="med"/>
                      <a:tailEnd type="none" w="med" len="med"/>
                    </a:lnT>
                    <a:lnB w="6350" cap="flat" cmpd="sng" algn="ctr">
                      <a:solidFill>
                        <a:srgbClr val="DFE6EE"/>
                      </a:solidFill>
                      <a:prstDash val="solid"/>
                      <a:round/>
                      <a:headEnd type="none" w="med" len="med"/>
                      <a:tailEnd type="none" w="med" len="med"/>
                    </a:lnB>
                    <a:solidFill>
                      <a:srgbClr val="D89A12"/>
                    </a:solidFill>
                  </a:tcPr>
                </a:tc>
              </a:tr>
              <a:tr h="384048">
                <a:tc>
                  <a:txBody>
                    <a:bodyPr/>
                    <a:lstStyle/>
                    <a:p>
                      <a:pPr indent="0" marL="0">
                        <a:buNone/>
                      </a:pPr>
                      <a:r>
                        <a:rPr lang="en-US" sz="920" b="1" dirty="0">
                          <a:solidFill>
                            <a:srgbClr val="16263F"/>
                          </a:solidFill>
                          <a:latin typeface="Calibri" pitchFamily="34" charset="0"/>
                          <a:ea typeface="Calibri" pitchFamily="34" charset="-122"/>
                          <a:cs typeface="Calibri" pitchFamily="34" charset="-120"/>
                        </a:rPr>
                        <a:t>D6 · Multi-user collaboration is DIY</a:t>
                      </a:r>
                      <a:endParaRPr lang="en-US" sz="920" dirty="0">
                        <a:latin typeface="Calibri" charset="0"/>
                        <a:ea typeface="Calibri" charset="0"/>
                        <a:cs typeface="Calibri" charset="0"/>
                      </a:endParaRPr>
                    </a:p>
                  </a:txBody>
                  <a:tcPr marL="45720" marR="45720" marT="45720" marB="45720" anchor="ctr">
                    <a:lnL w="6350" cap="flat" cmpd="sng" algn="ctr">
                      <a:solidFill>
                        <a:srgbClr val="DFE6EE"/>
                      </a:solidFill>
                      <a:prstDash val="solid"/>
                      <a:round/>
                      <a:headEnd type="none" w="med" len="med"/>
                      <a:tailEnd type="none" w="med" len="med"/>
                    </a:lnL>
                    <a:lnR w="6350" cap="flat" cmpd="sng" algn="ctr">
                      <a:solidFill>
                        <a:srgbClr val="DFE6EE"/>
                      </a:solidFill>
                      <a:prstDash val="solid"/>
                      <a:round/>
                      <a:headEnd type="none" w="med" len="med"/>
                      <a:tailEnd type="none" w="med" len="med"/>
                    </a:lnR>
                    <a:lnT w="6350" cap="flat" cmpd="sng" algn="ctr">
                      <a:solidFill>
                        <a:srgbClr val="DFE6EE"/>
                      </a:solidFill>
                      <a:prstDash val="solid"/>
                      <a:round/>
                      <a:headEnd type="none" w="med" len="med"/>
                      <a:tailEnd type="none" w="med" len="med"/>
                    </a:lnT>
                    <a:lnB w="6350" cap="flat" cmpd="sng" algn="ctr">
                      <a:solidFill>
                        <a:srgbClr val="DFE6EE"/>
                      </a:solidFill>
                      <a:prstDash val="solid"/>
                      <a:round/>
                      <a:headEnd type="none" w="med" len="med"/>
                      <a:tailEnd type="none" w="med" len="med"/>
                    </a:lnB>
                    <a:solidFill>
                      <a:srgbClr val="F3F6FA"/>
                    </a:solidFill>
                  </a:tcPr>
                </a:tc>
                <a:tc>
                  <a:txBody>
                    <a:bodyPr/>
                    <a:lstStyle/>
                    <a:p>
                      <a:pPr indent="0" marL="0">
                        <a:buNone/>
                      </a:pPr>
                      <a:r>
                        <a:rPr lang="en-US" sz="920" dirty="0">
                          <a:solidFill>
                            <a:srgbClr val="1F2A38"/>
                          </a:solidFill>
                          <a:latin typeface="Calibri" pitchFamily="34" charset="0"/>
                          <a:ea typeface="Calibri" pitchFamily="34" charset="-122"/>
                          <a:cs typeface="Calibri" pitchFamily="34" charset="-120"/>
                        </a:rPr>
                        <a:t>Presence, co-editing, locking, conflict resolution = bespoke netcode; slowest velocity lands on the features clients buy.</a:t>
                      </a:r>
                      <a:endParaRPr lang="en-US" sz="920" dirty="0">
                        <a:latin typeface="Calibri" charset="0"/>
                        <a:ea typeface="Calibri" charset="0"/>
                        <a:cs typeface="Calibri" charset="0"/>
                      </a:endParaRPr>
                    </a:p>
                  </a:txBody>
                  <a:tcPr marL="45720" marR="45720" marT="45720" marB="45720" anchor="ctr">
                    <a:lnL w="6350" cap="flat" cmpd="sng" algn="ctr">
                      <a:solidFill>
                        <a:srgbClr val="DFE6EE"/>
                      </a:solidFill>
                      <a:prstDash val="solid"/>
                      <a:round/>
                      <a:headEnd type="none" w="med" len="med"/>
                      <a:tailEnd type="none" w="med" len="med"/>
                    </a:lnL>
                    <a:lnR w="6350" cap="flat" cmpd="sng" algn="ctr">
                      <a:solidFill>
                        <a:srgbClr val="DFE6EE"/>
                      </a:solidFill>
                      <a:prstDash val="solid"/>
                      <a:round/>
                      <a:headEnd type="none" w="med" len="med"/>
                      <a:tailEnd type="none" w="med" len="med"/>
                    </a:lnR>
                    <a:lnT w="6350" cap="flat" cmpd="sng" algn="ctr">
                      <a:solidFill>
                        <a:srgbClr val="DFE6EE"/>
                      </a:solidFill>
                      <a:prstDash val="solid"/>
                      <a:round/>
                      <a:headEnd type="none" w="med" len="med"/>
                      <a:tailEnd type="none" w="med" len="med"/>
                    </a:lnT>
                    <a:lnB w="6350" cap="flat" cmpd="sng" algn="ctr">
                      <a:solidFill>
                        <a:srgbClr val="DFE6EE"/>
                      </a:solidFill>
                      <a:prstDash val="solid"/>
                      <a:round/>
                      <a:headEnd type="none" w="med" len="med"/>
                      <a:tailEnd type="none" w="med" len="med"/>
                    </a:lnB>
                    <a:solidFill>
                      <a:srgbClr val="F3F6FA"/>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AMBER</a:t>
                      </a:r>
                      <a:endParaRPr lang="en-US" sz="900" dirty="0">
                        <a:latin typeface="Calibri" charset="0"/>
                        <a:ea typeface="Calibri" charset="0"/>
                        <a:cs typeface="Calibri" charset="0"/>
                      </a:endParaRPr>
                    </a:p>
                  </a:txBody>
                  <a:tcPr marL="45720" marR="45720" marT="45720" marB="45720" anchor="ctr">
                    <a:lnL w="6350" cap="flat" cmpd="sng" algn="ctr">
                      <a:solidFill>
                        <a:srgbClr val="DFE6EE"/>
                      </a:solidFill>
                      <a:prstDash val="solid"/>
                      <a:round/>
                      <a:headEnd type="none" w="med" len="med"/>
                      <a:tailEnd type="none" w="med" len="med"/>
                    </a:lnL>
                    <a:lnR w="6350" cap="flat" cmpd="sng" algn="ctr">
                      <a:solidFill>
                        <a:srgbClr val="DFE6EE"/>
                      </a:solidFill>
                      <a:prstDash val="solid"/>
                      <a:round/>
                      <a:headEnd type="none" w="med" len="med"/>
                      <a:tailEnd type="none" w="med" len="med"/>
                    </a:lnR>
                    <a:lnT w="6350" cap="flat" cmpd="sng" algn="ctr">
                      <a:solidFill>
                        <a:srgbClr val="DFE6EE"/>
                      </a:solidFill>
                      <a:prstDash val="solid"/>
                      <a:round/>
                      <a:headEnd type="none" w="med" len="med"/>
                      <a:tailEnd type="none" w="med" len="med"/>
                    </a:lnT>
                    <a:lnB w="6350" cap="flat" cmpd="sng" algn="ctr">
                      <a:solidFill>
                        <a:srgbClr val="DFE6EE"/>
                      </a:solidFill>
                      <a:prstDash val="solid"/>
                      <a:round/>
                      <a:headEnd type="none" w="med" len="med"/>
                      <a:tailEnd type="none" w="med" len="med"/>
                    </a:lnB>
                    <a:solidFill>
                      <a:srgbClr val="D89A12"/>
                    </a:solidFill>
                  </a:tcPr>
                </a:tc>
              </a:tr>
              <a:tr h="384048">
                <a:tc>
                  <a:txBody>
                    <a:bodyPr/>
                    <a:lstStyle/>
                    <a:p>
                      <a:pPr indent="0" marL="0">
                        <a:buNone/>
                      </a:pPr>
                      <a:r>
                        <a:rPr lang="en-US" sz="920" b="1" dirty="0">
                          <a:solidFill>
                            <a:srgbClr val="16263F"/>
                          </a:solidFill>
                          <a:latin typeface="Calibri" pitchFamily="34" charset="0"/>
                          <a:ea typeface="Calibri" pitchFamily="34" charset="-122"/>
                          <a:cs typeface="Calibri" pitchFamily="34" charset="-120"/>
                        </a:rPr>
                        <a:t>D7 · Installed-client updates &amp; pipeline cost</a:t>
                      </a:r>
                      <a:endParaRPr lang="en-US" sz="920" dirty="0">
                        <a:latin typeface="Calibri" charset="0"/>
                        <a:ea typeface="Calibri" charset="0"/>
                        <a:cs typeface="Calibri" charset="0"/>
                      </a:endParaRPr>
                    </a:p>
                  </a:txBody>
                  <a:tcPr marL="45720" marR="45720" marT="45720" marB="45720" anchor="ctr">
                    <a:lnL w="6350" cap="flat" cmpd="sng" algn="ctr">
                      <a:solidFill>
                        <a:srgbClr val="DFE6EE"/>
                      </a:solidFill>
                      <a:prstDash val="solid"/>
                      <a:round/>
                      <a:headEnd type="none" w="med" len="med"/>
                      <a:tailEnd type="none" w="med" len="med"/>
                    </a:lnL>
                    <a:lnR w="6350" cap="flat" cmpd="sng" algn="ctr">
                      <a:solidFill>
                        <a:srgbClr val="DFE6EE"/>
                      </a:solidFill>
                      <a:prstDash val="solid"/>
                      <a:round/>
                      <a:headEnd type="none" w="med" len="med"/>
                      <a:tailEnd type="none" w="med" len="med"/>
                    </a:lnR>
                    <a:lnT w="6350" cap="flat" cmpd="sng" algn="ctr">
                      <a:solidFill>
                        <a:srgbClr val="DFE6EE"/>
                      </a:solidFill>
                      <a:prstDash val="solid"/>
                      <a:round/>
                      <a:headEnd type="none" w="med" len="med"/>
                      <a:tailEnd type="none" w="med" len="med"/>
                    </a:lnT>
                    <a:lnB w="6350" cap="flat" cmpd="sng" algn="ctr">
                      <a:solidFill>
                        <a:srgbClr val="DFE6EE"/>
                      </a:solidFill>
                      <a:prstDash val="solid"/>
                      <a:round/>
                      <a:headEnd type="none" w="med" len="med"/>
                      <a:tailEnd type="none" w="med" len="med"/>
                    </a:lnB>
                    <a:solidFill>
                      <a:srgbClr val="FFFFFF"/>
                    </a:solidFill>
                  </a:tcPr>
                </a:tc>
                <a:tc>
                  <a:txBody>
                    <a:bodyPr/>
                    <a:lstStyle/>
                    <a:p>
                      <a:pPr indent="0" marL="0">
                        <a:buNone/>
                      </a:pPr>
                      <a:r>
                        <a:rPr lang="en-US" sz="920" dirty="0">
                          <a:solidFill>
                            <a:srgbClr val="1F2A38"/>
                          </a:solidFill>
                          <a:latin typeface="Calibri" pitchFamily="34" charset="0"/>
                          <a:ea typeface="Calibri" pitchFamily="34" charset="-122"/>
                          <a:cs typeface="Calibri" pitchFamily="34" charset="-120"/>
                        </a:rPr>
                        <a:t>Every release re-enters client IT change control — breaks 2-week trains; long builds, licensed agents, slower test automation.</a:t>
                      </a:r>
                      <a:endParaRPr lang="en-US" sz="920" dirty="0">
                        <a:latin typeface="Calibri" charset="0"/>
                        <a:ea typeface="Calibri" charset="0"/>
                        <a:cs typeface="Calibri" charset="0"/>
                      </a:endParaRPr>
                    </a:p>
                  </a:txBody>
                  <a:tcPr marL="45720" marR="45720" marT="45720" marB="45720" anchor="ctr">
                    <a:lnL w="6350" cap="flat" cmpd="sng" algn="ctr">
                      <a:solidFill>
                        <a:srgbClr val="DFE6EE"/>
                      </a:solidFill>
                      <a:prstDash val="solid"/>
                      <a:round/>
                      <a:headEnd type="none" w="med" len="med"/>
                      <a:tailEnd type="none" w="med" len="med"/>
                    </a:lnL>
                    <a:lnR w="6350" cap="flat" cmpd="sng" algn="ctr">
                      <a:solidFill>
                        <a:srgbClr val="DFE6EE"/>
                      </a:solidFill>
                      <a:prstDash val="solid"/>
                      <a:round/>
                      <a:headEnd type="none" w="med" len="med"/>
                      <a:tailEnd type="none" w="med" len="med"/>
                    </a:lnR>
                    <a:lnT w="6350" cap="flat" cmpd="sng" algn="ctr">
                      <a:solidFill>
                        <a:srgbClr val="DFE6EE"/>
                      </a:solidFill>
                      <a:prstDash val="solid"/>
                      <a:round/>
                      <a:headEnd type="none" w="med" len="med"/>
                      <a:tailEnd type="none" w="med" len="med"/>
                    </a:lnT>
                    <a:lnB w="6350" cap="flat" cmpd="sng" algn="ctr">
                      <a:solidFill>
                        <a:srgbClr val="DFE6EE"/>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AMBER</a:t>
                      </a:r>
                      <a:endParaRPr lang="en-US" sz="900" dirty="0">
                        <a:latin typeface="Calibri" charset="0"/>
                        <a:ea typeface="Calibri" charset="0"/>
                        <a:cs typeface="Calibri" charset="0"/>
                      </a:endParaRPr>
                    </a:p>
                  </a:txBody>
                  <a:tcPr marL="45720" marR="45720" marT="45720" marB="45720" anchor="ctr">
                    <a:lnL w="6350" cap="flat" cmpd="sng" algn="ctr">
                      <a:solidFill>
                        <a:srgbClr val="DFE6EE"/>
                      </a:solidFill>
                      <a:prstDash val="solid"/>
                      <a:round/>
                      <a:headEnd type="none" w="med" len="med"/>
                      <a:tailEnd type="none" w="med" len="med"/>
                    </a:lnL>
                    <a:lnR w="6350" cap="flat" cmpd="sng" algn="ctr">
                      <a:solidFill>
                        <a:srgbClr val="DFE6EE"/>
                      </a:solidFill>
                      <a:prstDash val="solid"/>
                      <a:round/>
                      <a:headEnd type="none" w="med" len="med"/>
                      <a:tailEnd type="none" w="med" len="med"/>
                    </a:lnR>
                    <a:lnT w="6350" cap="flat" cmpd="sng" algn="ctr">
                      <a:solidFill>
                        <a:srgbClr val="DFE6EE"/>
                      </a:solidFill>
                      <a:prstDash val="solid"/>
                      <a:round/>
                      <a:headEnd type="none" w="med" len="med"/>
                      <a:tailEnd type="none" w="med" len="med"/>
                    </a:lnT>
                    <a:lnB w="6350" cap="flat" cmpd="sng" algn="ctr">
                      <a:solidFill>
                        <a:srgbClr val="DFE6EE"/>
                      </a:solidFill>
                      <a:prstDash val="solid"/>
                      <a:round/>
                      <a:headEnd type="none" w="med" len="med"/>
                      <a:tailEnd type="none" w="med" len="med"/>
                    </a:lnB>
                    <a:solidFill>
                      <a:srgbClr val="D89A12"/>
                    </a:solidFill>
                  </a:tcPr>
                </a:tc>
              </a:tr>
              <a:tr h="384048">
                <a:tc>
                  <a:txBody>
                    <a:bodyPr/>
                    <a:lstStyle/>
                    <a:p>
                      <a:pPr indent="0" marL="0">
                        <a:buNone/>
                      </a:pPr>
                      <a:r>
                        <a:rPr lang="en-US" sz="920" b="1" dirty="0">
                          <a:solidFill>
                            <a:srgbClr val="16263F"/>
                          </a:solidFill>
                          <a:latin typeface="Calibri" pitchFamily="34" charset="0"/>
                          <a:ea typeface="Calibri" pitchFamily="34" charset="-122"/>
                          <a:cs typeface="Calibri" pitchFamily="34" charset="-120"/>
                        </a:rPr>
                        <a:t>D8 · BIM handover obligation (IFC / COBie)</a:t>
                      </a:r>
                      <a:endParaRPr lang="en-US" sz="920" dirty="0">
                        <a:latin typeface="Calibri" charset="0"/>
                        <a:ea typeface="Calibri" charset="0"/>
                        <a:cs typeface="Calibri" charset="0"/>
                      </a:endParaRPr>
                    </a:p>
                  </a:txBody>
                  <a:tcPr marL="45720" marR="45720" marT="45720" marB="45720" anchor="ctr">
                    <a:lnL w="6350" cap="flat" cmpd="sng" algn="ctr">
                      <a:solidFill>
                        <a:srgbClr val="DFE6EE"/>
                      </a:solidFill>
                      <a:prstDash val="solid"/>
                      <a:round/>
                      <a:headEnd type="none" w="med" len="med"/>
                      <a:tailEnd type="none" w="med" len="med"/>
                    </a:lnL>
                    <a:lnR w="6350" cap="flat" cmpd="sng" algn="ctr">
                      <a:solidFill>
                        <a:srgbClr val="DFE6EE"/>
                      </a:solidFill>
                      <a:prstDash val="solid"/>
                      <a:round/>
                      <a:headEnd type="none" w="med" len="med"/>
                      <a:tailEnd type="none" w="med" len="med"/>
                    </a:lnR>
                    <a:lnT w="6350" cap="flat" cmpd="sng" algn="ctr">
                      <a:solidFill>
                        <a:srgbClr val="DFE6EE"/>
                      </a:solidFill>
                      <a:prstDash val="solid"/>
                      <a:round/>
                      <a:headEnd type="none" w="med" len="med"/>
                      <a:tailEnd type="none" w="med" len="med"/>
                    </a:lnT>
                    <a:lnB w="6350" cap="flat" cmpd="sng" algn="ctr">
                      <a:solidFill>
                        <a:srgbClr val="DFE6EE"/>
                      </a:solidFill>
                      <a:prstDash val="solid"/>
                      <a:round/>
                      <a:headEnd type="none" w="med" len="med"/>
                      <a:tailEnd type="none" w="med" len="med"/>
                    </a:lnB>
                    <a:solidFill>
                      <a:srgbClr val="F3F6FA"/>
                    </a:solidFill>
                  </a:tcPr>
                </a:tc>
                <a:tc>
                  <a:txBody>
                    <a:bodyPr/>
                    <a:lstStyle/>
                    <a:p>
                      <a:pPr indent="0" marL="0">
                        <a:buNone/>
                      </a:pPr>
                      <a:r>
                        <a:rPr lang="en-US" sz="920" dirty="0">
                          <a:solidFill>
                            <a:srgbClr val="1F2A38"/>
                          </a:solidFill>
                          <a:latin typeface="Calibri" pitchFamily="34" charset="0"/>
                          <a:ea typeface="Calibri" pitchFamily="34" charset="-122"/>
                          <a:cs typeface="Calibri" pitchFamily="34" charset="-120"/>
                        </a:rPr>
                        <a:t>Owners contractually require open FM deliverables — twin state cannot live in Unity scenes and prefabs.</a:t>
                      </a:r>
                      <a:endParaRPr lang="en-US" sz="920" dirty="0">
                        <a:latin typeface="Calibri" charset="0"/>
                        <a:ea typeface="Calibri" charset="0"/>
                        <a:cs typeface="Calibri" charset="0"/>
                      </a:endParaRPr>
                    </a:p>
                  </a:txBody>
                  <a:tcPr marL="45720" marR="45720" marT="45720" marB="45720" anchor="ctr">
                    <a:lnL w="6350" cap="flat" cmpd="sng" algn="ctr">
                      <a:solidFill>
                        <a:srgbClr val="DFE6EE"/>
                      </a:solidFill>
                      <a:prstDash val="solid"/>
                      <a:round/>
                      <a:headEnd type="none" w="med" len="med"/>
                      <a:tailEnd type="none" w="med" len="med"/>
                    </a:lnL>
                    <a:lnR w="6350" cap="flat" cmpd="sng" algn="ctr">
                      <a:solidFill>
                        <a:srgbClr val="DFE6EE"/>
                      </a:solidFill>
                      <a:prstDash val="solid"/>
                      <a:round/>
                      <a:headEnd type="none" w="med" len="med"/>
                      <a:tailEnd type="none" w="med" len="med"/>
                    </a:lnR>
                    <a:lnT w="6350" cap="flat" cmpd="sng" algn="ctr">
                      <a:solidFill>
                        <a:srgbClr val="DFE6EE"/>
                      </a:solidFill>
                      <a:prstDash val="solid"/>
                      <a:round/>
                      <a:headEnd type="none" w="med" len="med"/>
                      <a:tailEnd type="none" w="med" len="med"/>
                    </a:lnT>
                    <a:lnB w="6350" cap="flat" cmpd="sng" algn="ctr">
                      <a:solidFill>
                        <a:srgbClr val="DFE6EE"/>
                      </a:solidFill>
                      <a:prstDash val="solid"/>
                      <a:round/>
                      <a:headEnd type="none" w="med" len="med"/>
                      <a:tailEnd type="none" w="med" len="med"/>
                    </a:lnB>
                    <a:solidFill>
                      <a:srgbClr val="F3F6FA"/>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RED</a:t>
                      </a:r>
                      <a:endParaRPr lang="en-US" sz="900" dirty="0">
                        <a:latin typeface="Calibri" charset="0"/>
                        <a:ea typeface="Calibri" charset="0"/>
                        <a:cs typeface="Calibri" charset="0"/>
                      </a:endParaRPr>
                    </a:p>
                  </a:txBody>
                  <a:tcPr marL="45720" marR="45720" marT="45720" marB="45720" anchor="ctr">
                    <a:lnL w="6350" cap="flat" cmpd="sng" algn="ctr">
                      <a:solidFill>
                        <a:srgbClr val="DFE6EE"/>
                      </a:solidFill>
                      <a:prstDash val="solid"/>
                      <a:round/>
                      <a:headEnd type="none" w="med" len="med"/>
                      <a:tailEnd type="none" w="med" len="med"/>
                    </a:lnL>
                    <a:lnR w="6350" cap="flat" cmpd="sng" algn="ctr">
                      <a:solidFill>
                        <a:srgbClr val="DFE6EE"/>
                      </a:solidFill>
                      <a:prstDash val="solid"/>
                      <a:round/>
                      <a:headEnd type="none" w="med" len="med"/>
                      <a:tailEnd type="none" w="med" len="med"/>
                    </a:lnR>
                    <a:lnT w="6350" cap="flat" cmpd="sng" algn="ctr">
                      <a:solidFill>
                        <a:srgbClr val="DFE6EE"/>
                      </a:solidFill>
                      <a:prstDash val="solid"/>
                      <a:round/>
                      <a:headEnd type="none" w="med" len="med"/>
                      <a:tailEnd type="none" w="med" len="med"/>
                    </a:lnT>
                    <a:lnB w="6350" cap="flat" cmpd="sng" algn="ctr">
                      <a:solidFill>
                        <a:srgbClr val="DFE6EE"/>
                      </a:solidFill>
                      <a:prstDash val="solid"/>
                      <a:round/>
                      <a:headEnd type="none" w="med" len="med"/>
                      <a:tailEnd type="none" w="med" len="med"/>
                    </a:lnB>
                    <a:solidFill>
                      <a:srgbClr val="B3402F"/>
                    </a:solidFill>
                  </a:tcPr>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92608"/>
            <a:ext cx="8229600" cy="274320"/>
          </a:xfrm>
          <a:prstGeom prst="rect">
            <a:avLst/>
          </a:prstGeom>
          <a:noFill/>
          <a:ln/>
        </p:spPr>
        <p:txBody>
          <a:bodyPr wrap="square" lIns="0" tIns="0" rIns="0" bIns="0" rtlCol="0" anchor="ctr"/>
          <a:lstStyle/>
          <a:p>
            <a:pPr indent="0" marL="0">
              <a:buNone/>
            </a:pPr>
            <a:r>
              <a:rPr lang="en-US" sz="1050" b="1" spc="200" kern="0" dirty="0">
                <a:solidFill>
                  <a:srgbClr val="C78F0D"/>
                </a:solidFill>
                <a:latin typeface="Calibri" pitchFamily="34" charset="0"/>
                <a:ea typeface="Calibri" pitchFamily="34" charset="-122"/>
                <a:cs typeface="Calibri" pitchFamily="34" charset="-120"/>
              </a:rPr>
              <a:t>BACKUP · PATH TO GREEN</a:t>
            </a:r>
            <a:endParaRPr lang="en-US" sz="1050" dirty="0"/>
          </a:p>
        </p:txBody>
      </p:sp>
      <p:sp>
        <p:nvSpPr>
          <p:cNvPr id="3" name="Text 1"/>
          <p:cNvSpPr/>
          <p:nvPr/>
        </p:nvSpPr>
        <p:spPr>
          <a:xfrm>
            <a:off x="457200" y="530352"/>
            <a:ext cx="8229600" cy="566928"/>
          </a:xfrm>
          <a:prstGeom prst="rect">
            <a:avLst/>
          </a:prstGeom>
          <a:noFill/>
          <a:ln/>
        </p:spPr>
        <p:txBody>
          <a:bodyPr wrap="square" lIns="0" tIns="0" rIns="0" bIns="0" rtlCol="0" anchor="ctr"/>
          <a:lstStyle/>
          <a:p>
            <a:pPr indent="0" marL="0">
              <a:buNone/>
            </a:pPr>
            <a:r>
              <a:rPr lang="en-US" sz="2800" b="1" dirty="0">
                <a:solidFill>
                  <a:srgbClr val="16263F"/>
                </a:solidFill>
                <a:latin typeface="Cambria" pitchFamily="34" charset="0"/>
                <a:ea typeface="Cambria" pitchFamily="34" charset="-122"/>
                <a:cs typeface="Cambria" pitchFamily="34" charset="-120"/>
              </a:rPr>
              <a:t>Each dynamic has a route — and a proof gate</a:t>
            </a:r>
            <a:endParaRPr lang="en-US" sz="28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457200" y="1170432"/>
          <a:ext cx="8229600" cy="914400"/>
        </p:xfrm>
        <a:graphic>
          <a:graphicData uri="http://schemas.openxmlformats.org/drawingml/2006/table">
            <a:tbl>
              <a:tblPr/>
              <a:tblGrid>
                <a:gridCol w="1691640"/>
                <a:gridCol w="3977640"/>
                <a:gridCol w="2560320"/>
              </a:tblGrid>
              <a:tr h="621792">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Cluster</a:t>
                      </a:r>
                      <a:endParaRPr lang="en-US" sz="1000" dirty="0">
                        <a:latin typeface="Calibri" charset="0"/>
                        <a:ea typeface="Calibri" charset="0"/>
                        <a:cs typeface="Calibri" charset="0"/>
                      </a:endParaRPr>
                    </a:p>
                  </a:txBody>
                  <a:tcPr marL="45720" marR="45720" marT="45720" marB="45720" anchor="ctr">
                    <a:lnL w="6350" cap="flat" cmpd="sng" algn="ctr">
                      <a:solidFill>
                        <a:srgbClr val="DFE6EE"/>
                      </a:solidFill>
                      <a:prstDash val="solid"/>
                      <a:round/>
                      <a:headEnd type="none" w="med" len="med"/>
                      <a:tailEnd type="none" w="med" len="med"/>
                    </a:lnL>
                    <a:lnR w="6350" cap="flat" cmpd="sng" algn="ctr">
                      <a:solidFill>
                        <a:srgbClr val="DFE6EE"/>
                      </a:solidFill>
                      <a:prstDash val="solid"/>
                      <a:round/>
                      <a:headEnd type="none" w="med" len="med"/>
                      <a:tailEnd type="none" w="med" len="med"/>
                    </a:lnR>
                    <a:lnT w="6350" cap="flat" cmpd="sng" algn="ctr">
                      <a:solidFill>
                        <a:srgbClr val="DFE6EE"/>
                      </a:solidFill>
                      <a:prstDash val="solid"/>
                      <a:round/>
                      <a:headEnd type="none" w="med" len="med"/>
                      <a:tailEnd type="none" w="med" len="med"/>
                    </a:lnT>
                    <a:lnB w="6350" cap="flat" cmpd="sng" algn="ctr">
                      <a:solidFill>
                        <a:srgbClr val="DFE6EE"/>
                      </a:solidFill>
                      <a:prstDash val="solid"/>
                      <a:round/>
                      <a:headEnd type="none" w="med" len="med"/>
                      <a:tailEnd type="none" w="med" len="med"/>
                    </a:lnB>
                    <a:solidFill>
                      <a:srgbClr val="16263F"/>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Path to green</a:t>
                      </a:r>
                      <a:endParaRPr lang="en-US" sz="1000" dirty="0">
                        <a:latin typeface="Calibri" charset="0"/>
                        <a:ea typeface="Calibri" charset="0"/>
                        <a:cs typeface="Calibri" charset="0"/>
                      </a:endParaRPr>
                    </a:p>
                  </a:txBody>
                  <a:tcPr marL="45720" marR="45720" marT="45720" marB="45720" anchor="ctr">
                    <a:lnL w="6350" cap="flat" cmpd="sng" algn="ctr">
                      <a:solidFill>
                        <a:srgbClr val="DFE6EE"/>
                      </a:solidFill>
                      <a:prstDash val="solid"/>
                      <a:round/>
                      <a:headEnd type="none" w="med" len="med"/>
                      <a:tailEnd type="none" w="med" len="med"/>
                    </a:lnL>
                    <a:lnR w="6350" cap="flat" cmpd="sng" algn="ctr">
                      <a:solidFill>
                        <a:srgbClr val="DFE6EE"/>
                      </a:solidFill>
                      <a:prstDash val="solid"/>
                      <a:round/>
                      <a:headEnd type="none" w="med" len="med"/>
                      <a:tailEnd type="none" w="med" len="med"/>
                    </a:lnR>
                    <a:lnT w="6350" cap="flat" cmpd="sng" algn="ctr">
                      <a:solidFill>
                        <a:srgbClr val="DFE6EE"/>
                      </a:solidFill>
                      <a:prstDash val="solid"/>
                      <a:round/>
                      <a:headEnd type="none" w="med" len="med"/>
                      <a:tailEnd type="none" w="med" len="med"/>
                    </a:lnT>
                    <a:lnB w="6350" cap="flat" cmpd="sng" algn="ctr">
                      <a:solidFill>
                        <a:srgbClr val="DFE6EE"/>
                      </a:solidFill>
                      <a:prstDash val="solid"/>
                      <a:round/>
                      <a:headEnd type="none" w="med" len="med"/>
                      <a:tailEnd type="none" w="med" len="med"/>
                    </a:lnB>
                    <a:solidFill>
                      <a:srgbClr val="16263F"/>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Proof gate</a:t>
                      </a:r>
                      <a:endParaRPr lang="en-US" sz="1000" dirty="0">
                        <a:latin typeface="Calibri" charset="0"/>
                        <a:ea typeface="Calibri" charset="0"/>
                        <a:cs typeface="Calibri" charset="0"/>
                      </a:endParaRPr>
                    </a:p>
                  </a:txBody>
                  <a:tcPr marL="45720" marR="45720" marT="45720" marB="45720" anchor="ctr">
                    <a:lnL w="6350" cap="flat" cmpd="sng" algn="ctr">
                      <a:solidFill>
                        <a:srgbClr val="DFE6EE"/>
                      </a:solidFill>
                      <a:prstDash val="solid"/>
                      <a:round/>
                      <a:headEnd type="none" w="med" len="med"/>
                      <a:tailEnd type="none" w="med" len="med"/>
                    </a:lnL>
                    <a:lnR w="6350" cap="flat" cmpd="sng" algn="ctr">
                      <a:solidFill>
                        <a:srgbClr val="DFE6EE"/>
                      </a:solidFill>
                      <a:prstDash val="solid"/>
                      <a:round/>
                      <a:headEnd type="none" w="med" len="med"/>
                      <a:tailEnd type="none" w="med" len="med"/>
                    </a:lnR>
                    <a:lnT w="6350" cap="flat" cmpd="sng" algn="ctr">
                      <a:solidFill>
                        <a:srgbClr val="DFE6EE"/>
                      </a:solidFill>
                      <a:prstDash val="solid"/>
                      <a:round/>
                      <a:headEnd type="none" w="med" len="med"/>
                      <a:tailEnd type="none" w="med" len="med"/>
                    </a:lnT>
                    <a:lnB w="6350" cap="flat" cmpd="sng" algn="ctr">
                      <a:solidFill>
                        <a:srgbClr val="DFE6EE"/>
                      </a:solidFill>
                      <a:prstDash val="solid"/>
                      <a:round/>
                      <a:headEnd type="none" w="med" len="med"/>
                      <a:tailEnd type="none" w="med" len="med"/>
                    </a:lnB>
                    <a:solidFill>
                      <a:srgbClr val="16263F"/>
                    </a:solidFill>
                  </a:tcPr>
                </a:tc>
              </a:tr>
              <a:tr h="621792">
                <a:tc>
                  <a:txBody>
                    <a:bodyPr/>
                    <a:lstStyle/>
                    <a:p>
                      <a:pPr indent="0" marL="0">
                        <a:buNone/>
                      </a:pPr>
                      <a:r>
                        <a:rPr lang="en-US" sz="940" b="1" dirty="0">
                          <a:solidFill>
                            <a:srgbClr val="16263F"/>
                          </a:solidFill>
                          <a:latin typeface="Calibri" pitchFamily="34" charset="0"/>
                          <a:ea typeface="Calibri" pitchFamily="34" charset="-122"/>
                          <a:cs typeface="Calibri" pitchFamily="34" charset="-120"/>
                        </a:rPr>
                        <a:t>Endpoint &amp; rollout</a:t>
                      </a:r>
                      <a:endParaRPr lang="en-US" sz="940" dirty="0">
                        <a:latin typeface="Calibri" charset="0"/>
                        <a:ea typeface="Calibri" charset="0"/>
                        <a:cs typeface="Calibri" charset="0"/>
                      </a:endParaRPr>
                    </a:p>
                    <a:p>
                      <a:pPr indent="0" marL="0">
                        <a:buNone/>
                      </a:pPr>
                      <a:r>
                        <a:rPr lang="en-US" sz="940" b="1" dirty="0">
                          <a:solidFill>
                            <a:srgbClr val="16263F"/>
                          </a:solidFill>
                          <a:latin typeface="Calibri" pitchFamily="34" charset="0"/>
                          <a:ea typeface="Calibri" pitchFamily="34" charset="-122"/>
                          <a:cs typeface="Calibri" pitchFamily="34" charset="-120"/>
                        </a:rPr>
                        <a:t>(D1 · D7)</a:t>
                      </a:r>
                      <a:endParaRPr lang="en-US" sz="940" dirty="0">
                        <a:latin typeface="Calibri" charset="0"/>
                        <a:ea typeface="Calibri" charset="0"/>
                        <a:cs typeface="Calibri" charset="0"/>
                      </a:endParaRPr>
                    </a:p>
                  </a:txBody>
                  <a:tcPr marL="45720" marR="45720" marT="45720" marB="45720" anchor="ctr">
                    <a:lnL w="6350" cap="flat" cmpd="sng" algn="ctr">
                      <a:solidFill>
                        <a:srgbClr val="DFE6EE"/>
                      </a:solidFill>
                      <a:prstDash val="solid"/>
                      <a:round/>
                      <a:headEnd type="none" w="med" len="med"/>
                      <a:tailEnd type="none" w="med" len="med"/>
                    </a:lnL>
                    <a:lnR w="6350" cap="flat" cmpd="sng" algn="ctr">
                      <a:solidFill>
                        <a:srgbClr val="DFE6EE"/>
                      </a:solidFill>
                      <a:prstDash val="solid"/>
                      <a:round/>
                      <a:headEnd type="none" w="med" len="med"/>
                      <a:tailEnd type="none" w="med" len="med"/>
                    </a:lnR>
                    <a:lnT w="6350" cap="flat" cmpd="sng" algn="ctr">
                      <a:solidFill>
                        <a:srgbClr val="DFE6EE"/>
                      </a:solidFill>
                      <a:prstDash val="solid"/>
                      <a:round/>
                      <a:headEnd type="none" w="med" len="med"/>
                      <a:tailEnd type="none" w="med" len="med"/>
                    </a:lnT>
                    <a:lnB w="6350" cap="flat" cmpd="sng" algn="ctr">
                      <a:solidFill>
                        <a:srgbClr val="DFE6EE"/>
                      </a:solidFill>
                      <a:prstDash val="solid"/>
                      <a:round/>
                      <a:headEnd type="none" w="med" len="med"/>
                      <a:tailEnd type="none" w="med" len="med"/>
                    </a:lnB>
                    <a:solidFill>
                      <a:srgbClr val="FFFFFF"/>
                    </a:solidFill>
                  </a:tcPr>
                </a:tc>
                <a:tc>
                  <a:txBody>
                    <a:bodyPr/>
                    <a:lstStyle/>
                    <a:p>
                      <a:pPr indent="0" marL="0">
                        <a:buNone/>
                      </a:pPr>
                      <a:r>
                        <a:rPr lang="en-US" sz="940" dirty="0">
                          <a:solidFill>
                            <a:srgbClr val="1F2A38"/>
                          </a:solidFill>
                          <a:latin typeface="Calibri" pitchFamily="34" charset="0"/>
                          <a:ea typeface="Calibri" pitchFamily="34" charset="-122"/>
                          <a:cs typeface="Calibri" pitchFamily="34" charset="-120"/>
                        </a:rPr>
                        <a:t>Web track over the Twin API for viewer / approver personas — Angular + glTF viewer: zero-install, SSO'd, continuously deployed. Unity remains the authoring client.</a:t>
                      </a:r>
                      <a:endParaRPr lang="en-US" sz="940" dirty="0">
                        <a:latin typeface="Calibri" charset="0"/>
                        <a:ea typeface="Calibri" charset="0"/>
                        <a:cs typeface="Calibri" charset="0"/>
                      </a:endParaRPr>
                    </a:p>
                  </a:txBody>
                  <a:tcPr marL="45720" marR="45720" marT="45720" marB="45720" anchor="ctr">
                    <a:lnL w="6350" cap="flat" cmpd="sng" algn="ctr">
                      <a:solidFill>
                        <a:srgbClr val="DFE6EE"/>
                      </a:solidFill>
                      <a:prstDash val="solid"/>
                      <a:round/>
                      <a:headEnd type="none" w="med" len="med"/>
                      <a:tailEnd type="none" w="med" len="med"/>
                    </a:lnL>
                    <a:lnR w="6350" cap="flat" cmpd="sng" algn="ctr">
                      <a:solidFill>
                        <a:srgbClr val="DFE6EE"/>
                      </a:solidFill>
                      <a:prstDash val="solid"/>
                      <a:round/>
                      <a:headEnd type="none" w="med" len="med"/>
                      <a:tailEnd type="none" w="med" len="med"/>
                    </a:lnR>
                    <a:lnT w="6350" cap="flat" cmpd="sng" algn="ctr">
                      <a:solidFill>
                        <a:srgbClr val="DFE6EE"/>
                      </a:solidFill>
                      <a:prstDash val="solid"/>
                      <a:round/>
                      <a:headEnd type="none" w="med" len="med"/>
                      <a:tailEnd type="none" w="med" len="med"/>
                    </a:lnT>
                    <a:lnB w="6350" cap="flat" cmpd="sng" algn="ctr">
                      <a:solidFill>
                        <a:srgbClr val="DFE6EE"/>
                      </a:solidFill>
                      <a:prstDash val="solid"/>
                      <a:round/>
                      <a:headEnd type="none" w="med" len="med"/>
                      <a:tailEnd type="none" w="med" len="med"/>
                    </a:lnB>
                    <a:solidFill>
                      <a:srgbClr val="FFFFFF"/>
                    </a:solidFill>
                  </a:tcPr>
                </a:tc>
                <a:tc>
                  <a:txBody>
                    <a:bodyPr/>
                    <a:lstStyle/>
                    <a:p>
                      <a:pPr indent="0" marL="0">
                        <a:buNone/>
                      </a:pPr>
                      <a:r>
                        <a:rPr lang="en-US" sz="940" dirty="0">
                          <a:solidFill>
                            <a:srgbClr val="1F2A38"/>
                          </a:solidFill>
                          <a:latin typeface="Calibri" pitchFamily="34" charset="0"/>
                          <a:ea typeface="Calibri" pitchFamily="34" charset="-122"/>
                          <a:cs typeface="Calibri" pitchFamily="34" charset="-120"/>
                        </a:rPr>
                        <a:t>Reference room set renders on a GPU-less VDI profile; releases ride the 2-week train.</a:t>
                      </a:r>
                      <a:endParaRPr lang="en-US" sz="940" dirty="0">
                        <a:latin typeface="Calibri" charset="0"/>
                        <a:ea typeface="Calibri" charset="0"/>
                        <a:cs typeface="Calibri" charset="0"/>
                      </a:endParaRPr>
                    </a:p>
                  </a:txBody>
                  <a:tcPr marL="45720" marR="45720" marT="45720" marB="45720" anchor="ctr">
                    <a:lnL w="6350" cap="flat" cmpd="sng" algn="ctr">
                      <a:solidFill>
                        <a:srgbClr val="DFE6EE"/>
                      </a:solidFill>
                      <a:prstDash val="solid"/>
                      <a:round/>
                      <a:headEnd type="none" w="med" len="med"/>
                      <a:tailEnd type="none" w="med" len="med"/>
                    </a:lnL>
                    <a:lnR w="6350" cap="flat" cmpd="sng" algn="ctr">
                      <a:solidFill>
                        <a:srgbClr val="DFE6EE"/>
                      </a:solidFill>
                      <a:prstDash val="solid"/>
                      <a:round/>
                      <a:headEnd type="none" w="med" len="med"/>
                      <a:tailEnd type="none" w="med" len="med"/>
                    </a:lnR>
                    <a:lnT w="6350" cap="flat" cmpd="sng" algn="ctr">
                      <a:solidFill>
                        <a:srgbClr val="DFE6EE"/>
                      </a:solidFill>
                      <a:prstDash val="solid"/>
                      <a:round/>
                      <a:headEnd type="none" w="med" len="med"/>
                      <a:tailEnd type="none" w="med" len="med"/>
                    </a:lnT>
                    <a:lnB w="6350" cap="flat" cmpd="sng" algn="ctr">
                      <a:solidFill>
                        <a:srgbClr val="DFE6EE"/>
                      </a:solidFill>
                      <a:prstDash val="solid"/>
                      <a:round/>
                      <a:headEnd type="none" w="med" len="med"/>
                      <a:tailEnd type="none" w="med" len="med"/>
                    </a:lnB>
                    <a:solidFill>
                      <a:srgbClr val="FBF2DC"/>
                    </a:solidFill>
                  </a:tcPr>
                </a:tc>
              </a:tr>
              <a:tr h="621792">
                <a:tc>
                  <a:txBody>
                    <a:bodyPr/>
                    <a:lstStyle/>
                    <a:p>
                      <a:pPr indent="0" marL="0">
                        <a:buNone/>
                      </a:pPr>
                      <a:r>
                        <a:rPr lang="en-US" sz="940" b="1" dirty="0">
                          <a:solidFill>
                            <a:srgbClr val="16263F"/>
                          </a:solidFill>
                          <a:latin typeface="Calibri" pitchFamily="34" charset="0"/>
                          <a:ea typeface="Calibri" pitchFamily="34" charset="-122"/>
                          <a:cs typeface="Calibri" pitchFamily="34" charset="-120"/>
                        </a:rPr>
                        <a:t>Scale &amp; economics</a:t>
                      </a:r>
                      <a:endParaRPr lang="en-US" sz="940" dirty="0">
                        <a:latin typeface="Calibri" charset="0"/>
                        <a:ea typeface="Calibri" charset="0"/>
                        <a:cs typeface="Calibri" charset="0"/>
                      </a:endParaRPr>
                    </a:p>
                    <a:p>
                      <a:pPr indent="0" marL="0">
                        <a:buNone/>
                      </a:pPr>
                      <a:r>
                        <a:rPr lang="en-US" sz="940" b="1" dirty="0">
                          <a:solidFill>
                            <a:srgbClr val="16263F"/>
                          </a:solidFill>
                          <a:latin typeface="Calibri" pitchFamily="34" charset="0"/>
                          <a:ea typeface="Calibri" pitchFamily="34" charset="-122"/>
                          <a:cs typeface="Calibri" pitchFamily="34" charset="-120"/>
                        </a:rPr>
                        <a:t>(D2 · D3)</a:t>
                      </a:r>
                      <a:endParaRPr lang="en-US" sz="940" dirty="0">
                        <a:latin typeface="Calibri" charset="0"/>
                        <a:ea typeface="Calibri" charset="0"/>
                        <a:cs typeface="Calibri" charset="0"/>
                      </a:endParaRPr>
                    </a:p>
                  </a:txBody>
                  <a:tcPr marL="45720" marR="45720" marT="45720" marB="45720" anchor="ctr">
                    <a:lnL w="6350" cap="flat" cmpd="sng" algn="ctr">
                      <a:solidFill>
                        <a:srgbClr val="DFE6EE"/>
                      </a:solidFill>
                      <a:prstDash val="solid"/>
                      <a:round/>
                      <a:headEnd type="none" w="med" len="med"/>
                      <a:tailEnd type="none" w="med" len="med"/>
                    </a:lnL>
                    <a:lnR w="6350" cap="flat" cmpd="sng" algn="ctr">
                      <a:solidFill>
                        <a:srgbClr val="DFE6EE"/>
                      </a:solidFill>
                      <a:prstDash val="solid"/>
                      <a:round/>
                      <a:headEnd type="none" w="med" len="med"/>
                      <a:tailEnd type="none" w="med" len="med"/>
                    </a:lnR>
                    <a:lnT w="6350" cap="flat" cmpd="sng" algn="ctr">
                      <a:solidFill>
                        <a:srgbClr val="DFE6EE"/>
                      </a:solidFill>
                      <a:prstDash val="solid"/>
                      <a:round/>
                      <a:headEnd type="none" w="med" len="med"/>
                      <a:tailEnd type="none" w="med" len="med"/>
                    </a:lnT>
                    <a:lnB w="6350" cap="flat" cmpd="sng" algn="ctr">
                      <a:solidFill>
                        <a:srgbClr val="DFE6EE"/>
                      </a:solidFill>
                      <a:prstDash val="solid"/>
                      <a:round/>
                      <a:headEnd type="none" w="med" len="med"/>
                      <a:tailEnd type="none" w="med" len="med"/>
                    </a:lnB>
                    <a:solidFill>
                      <a:srgbClr val="F3F6FA"/>
                    </a:solidFill>
                  </a:tcPr>
                </a:tc>
                <a:tc>
                  <a:txBody>
                    <a:bodyPr/>
                    <a:lstStyle/>
                    <a:p>
                      <a:pPr indent="0" marL="0">
                        <a:buNone/>
                      </a:pPr>
                      <a:r>
                        <a:rPr lang="en-US" sz="940" dirty="0">
                          <a:solidFill>
                            <a:srgbClr val="1F2A38"/>
                          </a:solidFill>
                          <a:latin typeface="Calibri" pitchFamily="34" charset="0"/>
                          <a:ea typeface="Calibri" pitchFamily="34" charset="-122"/>
                          <a:cs typeface="Calibri" pitchFamily="34" charset="-120"/>
                        </a:rPr>
                        <a:t>Thin payload contract + server-side simplification / tiling for web scenes; pixel streaming reserved for full-fidelity edge cases and priced per use.</a:t>
                      </a:r>
                      <a:endParaRPr lang="en-US" sz="940" dirty="0">
                        <a:latin typeface="Calibri" charset="0"/>
                        <a:ea typeface="Calibri" charset="0"/>
                        <a:cs typeface="Calibri" charset="0"/>
                      </a:endParaRPr>
                    </a:p>
                  </a:txBody>
                  <a:tcPr marL="45720" marR="45720" marT="45720" marB="45720" anchor="ctr">
                    <a:lnL w="6350" cap="flat" cmpd="sng" algn="ctr">
                      <a:solidFill>
                        <a:srgbClr val="DFE6EE"/>
                      </a:solidFill>
                      <a:prstDash val="solid"/>
                      <a:round/>
                      <a:headEnd type="none" w="med" len="med"/>
                      <a:tailEnd type="none" w="med" len="med"/>
                    </a:lnL>
                    <a:lnR w="6350" cap="flat" cmpd="sng" algn="ctr">
                      <a:solidFill>
                        <a:srgbClr val="DFE6EE"/>
                      </a:solidFill>
                      <a:prstDash val="solid"/>
                      <a:round/>
                      <a:headEnd type="none" w="med" len="med"/>
                      <a:tailEnd type="none" w="med" len="med"/>
                    </a:lnR>
                    <a:lnT w="6350" cap="flat" cmpd="sng" algn="ctr">
                      <a:solidFill>
                        <a:srgbClr val="DFE6EE"/>
                      </a:solidFill>
                      <a:prstDash val="solid"/>
                      <a:round/>
                      <a:headEnd type="none" w="med" len="med"/>
                      <a:tailEnd type="none" w="med" len="med"/>
                    </a:lnT>
                    <a:lnB w="6350" cap="flat" cmpd="sng" algn="ctr">
                      <a:solidFill>
                        <a:srgbClr val="DFE6EE"/>
                      </a:solidFill>
                      <a:prstDash val="solid"/>
                      <a:round/>
                      <a:headEnd type="none" w="med" len="med"/>
                      <a:tailEnd type="none" w="med" len="med"/>
                    </a:lnB>
                    <a:solidFill>
                      <a:srgbClr val="F3F6FA"/>
                    </a:solidFill>
                  </a:tcPr>
                </a:tc>
                <a:tc>
                  <a:txBody>
                    <a:bodyPr/>
                    <a:lstStyle/>
                    <a:p>
                      <a:pPr indent="0" marL="0">
                        <a:buNone/>
                      </a:pPr>
                      <a:r>
                        <a:rPr lang="en-US" sz="940" dirty="0">
                          <a:solidFill>
                            <a:srgbClr val="1F2A38"/>
                          </a:solidFill>
                          <a:latin typeface="Calibri" pitchFamily="34" charset="0"/>
                          <a:ea typeface="Calibri" pitchFamily="34" charset="-122"/>
                          <a:cs typeface="Calibri" pitchFamily="34" charset="-120"/>
                        </a:rPr>
                        <a:t>Hospital-scale scene inside the agreed budget; cost-per-seat model at or under target.</a:t>
                      </a:r>
                      <a:endParaRPr lang="en-US" sz="940" dirty="0">
                        <a:latin typeface="Calibri" charset="0"/>
                        <a:ea typeface="Calibri" charset="0"/>
                        <a:cs typeface="Calibri" charset="0"/>
                      </a:endParaRPr>
                    </a:p>
                  </a:txBody>
                  <a:tcPr marL="45720" marR="45720" marT="45720" marB="45720" anchor="ctr">
                    <a:lnL w="6350" cap="flat" cmpd="sng" algn="ctr">
                      <a:solidFill>
                        <a:srgbClr val="DFE6EE"/>
                      </a:solidFill>
                      <a:prstDash val="solid"/>
                      <a:round/>
                      <a:headEnd type="none" w="med" len="med"/>
                      <a:tailEnd type="none" w="med" len="med"/>
                    </a:lnL>
                    <a:lnR w="6350" cap="flat" cmpd="sng" algn="ctr">
                      <a:solidFill>
                        <a:srgbClr val="DFE6EE"/>
                      </a:solidFill>
                      <a:prstDash val="solid"/>
                      <a:round/>
                      <a:headEnd type="none" w="med" len="med"/>
                      <a:tailEnd type="none" w="med" len="med"/>
                    </a:lnR>
                    <a:lnT w="6350" cap="flat" cmpd="sng" algn="ctr">
                      <a:solidFill>
                        <a:srgbClr val="DFE6EE"/>
                      </a:solidFill>
                      <a:prstDash val="solid"/>
                      <a:round/>
                      <a:headEnd type="none" w="med" len="med"/>
                      <a:tailEnd type="none" w="med" len="med"/>
                    </a:lnT>
                    <a:lnB w="6350" cap="flat" cmpd="sng" algn="ctr">
                      <a:solidFill>
                        <a:srgbClr val="DFE6EE"/>
                      </a:solidFill>
                      <a:prstDash val="solid"/>
                      <a:round/>
                      <a:headEnd type="none" w="med" len="med"/>
                      <a:tailEnd type="none" w="med" len="med"/>
                    </a:lnB>
                    <a:solidFill>
                      <a:srgbClr val="FBF2DC"/>
                    </a:solidFill>
                  </a:tcPr>
                </a:tc>
              </a:tr>
              <a:tr h="621792">
                <a:tc>
                  <a:txBody>
                    <a:bodyPr/>
                    <a:lstStyle/>
                    <a:p>
                      <a:pPr indent="0" marL="0">
                        <a:buNone/>
                      </a:pPr>
                      <a:r>
                        <a:rPr lang="en-US" sz="940" b="1" dirty="0">
                          <a:solidFill>
                            <a:srgbClr val="16263F"/>
                          </a:solidFill>
                          <a:latin typeface="Calibri" pitchFamily="34" charset="0"/>
                          <a:ea typeface="Calibri" pitchFamily="34" charset="-122"/>
                          <a:cs typeface="Calibri" pitchFamily="34" charset="-120"/>
                        </a:rPr>
                        <a:t>Procurement &amp; enterprise</a:t>
                      </a:r>
                      <a:endParaRPr lang="en-US" sz="940" dirty="0">
                        <a:latin typeface="Calibri" charset="0"/>
                        <a:ea typeface="Calibri" charset="0"/>
                        <a:cs typeface="Calibri" charset="0"/>
                      </a:endParaRPr>
                    </a:p>
                    <a:p>
                      <a:pPr indent="0" marL="0">
                        <a:buNone/>
                      </a:pPr>
                      <a:r>
                        <a:rPr lang="en-US" sz="940" b="1" dirty="0">
                          <a:solidFill>
                            <a:srgbClr val="16263F"/>
                          </a:solidFill>
                          <a:latin typeface="Calibri" pitchFamily="34" charset="0"/>
                          <a:ea typeface="Calibri" pitchFamily="34" charset="-122"/>
                          <a:cs typeface="Calibri" pitchFamily="34" charset="-120"/>
                        </a:rPr>
                        <a:t>(D4 · D5)</a:t>
                      </a:r>
                      <a:endParaRPr lang="en-US" sz="940" dirty="0">
                        <a:latin typeface="Calibri" charset="0"/>
                        <a:ea typeface="Calibri" charset="0"/>
                        <a:cs typeface="Calibri" charset="0"/>
                      </a:endParaRPr>
                    </a:p>
                  </a:txBody>
                  <a:tcPr marL="45720" marR="45720" marT="45720" marB="45720" anchor="ctr">
                    <a:lnL w="6350" cap="flat" cmpd="sng" algn="ctr">
                      <a:solidFill>
                        <a:srgbClr val="DFE6EE"/>
                      </a:solidFill>
                      <a:prstDash val="solid"/>
                      <a:round/>
                      <a:headEnd type="none" w="med" len="med"/>
                      <a:tailEnd type="none" w="med" len="med"/>
                    </a:lnL>
                    <a:lnR w="6350" cap="flat" cmpd="sng" algn="ctr">
                      <a:solidFill>
                        <a:srgbClr val="DFE6EE"/>
                      </a:solidFill>
                      <a:prstDash val="solid"/>
                      <a:round/>
                      <a:headEnd type="none" w="med" len="med"/>
                      <a:tailEnd type="none" w="med" len="med"/>
                    </a:lnR>
                    <a:lnT w="6350" cap="flat" cmpd="sng" algn="ctr">
                      <a:solidFill>
                        <a:srgbClr val="DFE6EE"/>
                      </a:solidFill>
                      <a:prstDash val="solid"/>
                      <a:round/>
                      <a:headEnd type="none" w="med" len="med"/>
                      <a:tailEnd type="none" w="med" len="med"/>
                    </a:lnT>
                    <a:lnB w="6350" cap="flat" cmpd="sng" algn="ctr">
                      <a:solidFill>
                        <a:srgbClr val="DFE6EE"/>
                      </a:solidFill>
                      <a:prstDash val="solid"/>
                      <a:round/>
                      <a:headEnd type="none" w="med" len="med"/>
                      <a:tailEnd type="none" w="med" len="med"/>
                    </a:lnB>
                    <a:solidFill>
                      <a:srgbClr val="FFFFFF"/>
                    </a:solidFill>
                  </a:tcPr>
                </a:tc>
                <a:tc>
                  <a:txBody>
                    <a:bodyPr/>
                    <a:lstStyle/>
                    <a:p>
                      <a:pPr indent="0" marL="0">
                        <a:buNone/>
                      </a:pPr>
                      <a:r>
                        <a:rPr lang="en-US" sz="940" dirty="0">
                          <a:solidFill>
                            <a:srgbClr val="1F2A38"/>
                          </a:solidFill>
                          <a:latin typeface="Calibri" pitchFamily="34" charset="0"/>
                          <a:ea typeface="Calibri" pitchFamily="34" charset="-122"/>
                          <a:cs typeface="Calibri" pitchFamily="34" charset="-120"/>
                        </a:rPr>
                        <a:t>All non-3D surfaces DOM-first; WCAG / VPAT on the web track; SSO via the hospital IdP; URL-addressable twin state for deep links and embedding.</a:t>
                      </a:r>
                      <a:endParaRPr lang="en-US" sz="940" dirty="0">
                        <a:latin typeface="Calibri" charset="0"/>
                        <a:ea typeface="Calibri" charset="0"/>
                        <a:cs typeface="Calibri" charset="0"/>
                      </a:endParaRPr>
                    </a:p>
                  </a:txBody>
                  <a:tcPr marL="45720" marR="45720" marT="45720" marB="45720" anchor="ctr">
                    <a:lnL w="6350" cap="flat" cmpd="sng" algn="ctr">
                      <a:solidFill>
                        <a:srgbClr val="DFE6EE"/>
                      </a:solidFill>
                      <a:prstDash val="solid"/>
                      <a:round/>
                      <a:headEnd type="none" w="med" len="med"/>
                      <a:tailEnd type="none" w="med" len="med"/>
                    </a:lnL>
                    <a:lnR w="6350" cap="flat" cmpd="sng" algn="ctr">
                      <a:solidFill>
                        <a:srgbClr val="DFE6EE"/>
                      </a:solidFill>
                      <a:prstDash val="solid"/>
                      <a:round/>
                      <a:headEnd type="none" w="med" len="med"/>
                      <a:tailEnd type="none" w="med" len="med"/>
                    </a:lnR>
                    <a:lnT w="6350" cap="flat" cmpd="sng" algn="ctr">
                      <a:solidFill>
                        <a:srgbClr val="DFE6EE"/>
                      </a:solidFill>
                      <a:prstDash val="solid"/>
                      <a:round/>
                      <a:headEnd type="none" w="med" len="med"/>
                      <a:tailEnd type="none" w="med" len="med"/>
                    </a:lnT>
                    <a:lnB w="6350" cap="flat" cmpd="sng" algn="ctr">
                      <a:solidFill>
                        <a:srgbClr val="DFE6EE"/>
                      </a:solidFill>
                      <a:prstDash val="solid"/>
                      <a:round/>
                      <a:headEnd type="none" w="med" len="med"/>
                      <a:tailEnd type="none" w="med" len="med"/>
                    </a:lnB>
                    <a:solidFill>
                      <a:srgbClr val="FFFFFF"/>
                    </a:solidFill>
                  </a:tcPr>
                </a:tc>
                <a:tc>
                  <a:txBody>
                    <a:bodyPr/>
                    <a:lstStyle/>
                    <a:p>
                      <a:pPr indent="0" marL="0">
                        <a:buNone/>
                      </a:pPr>
                      <a:r>
                        <a:rPr lang="en-US" sz="940" dirty="0">
                          <a:solidFill>
                            <a:srgbClr val="1F2A38"/>
                          </a:solidFill>
                          <a:latin typeface="Calibri" pitchFamily="34" charset="0"/>
                          <a:ea typeface="Calibri" pitchFamily="34" charset="-122"/>
                          <a:cs typeface="Calibri" pitchFamily="34" charset="-120"/>
                        </a:rPr>
                        <a:t>Draft VPAT passes review; SSO + deep-link demo on a design-partner tenant.</a:t>
                      </a:r>
                      <a:endParaRPr lang="en-US" sz="940" dirty="0">
                        <a:latin typeface="Calibri" charset="0"/>
                        <a:ea typeface="Calibri" charset="0"/>
                        <a:cs typeface="Calibri" charset="0"/>
                      </a:endParaRPr>
                    </a:p>
                  </a:txBody>
                  <a:tcPr marL="45720" marR="45720" marT="45720" marB="45720" anchor="ctr">
                    <a:lnL w="6350" cap="flat" cmpd="sng" algn="ctr">
                      <a:solidFill>
                        <a:srgbClr val="DFE6EE"/>
                      </a:solidFill>
                      <a:prstDash val="solid"/>
                      <a:round/>
                      <a:headEnd type="none" w="med" len="med"/>
                      <a:tailEnd type="none" w="med" len="med"/>
                    </a:lnL>
                    <a:lnR w="6350" cap="flat" cmpd="sng" algn="ctr">
                      <a:solidFill>
                        <a:srgbClr val="DFE6EE"/>
                      </a:solidFill>
                      <a:prstDash val="solid"/>
                      <a:round/>
                      <a:headEnd type="none" w="med" len="med"/>
                      <a:tailEnd type="none" w="med" len="med"/>
                    </a:lnR>
                    <a:lnT w="6350" cap="flat" cmpd="sng" algn="ctr">
                      <a:solidFill>
                        <a:srgbClr val="DFE6EE"/>
                      </a:solidFill>
                      <a:prstDash val="solid"/>
                      <a:round/>
                      <a:headEnd type="none" w="med" len="med"/>
                      <a:tailEnd type="none" w="med" len="med"/>
                    </a:lnT>
                    <a:lnB w="6350" cap="flat" cmpd="sng" algn="ctr">
                      <a:solidFill>
                        <a:srgbClr val="DFE6EE"/>
                      </a:solidFill>
                      <a:prstDash val="solid"/>
                      <a:round/>
                      <a:headEnd type="none" w="med" len="med"/>
                      <a:tailEnd type="none" w="med" len="med"/>
                    </a:lnB>
                    <a:solidFill>
                      <a:srgbClr val="FBF2DC"/>
                    </a:solidFill>
                  </a:tcPr>
                </a:tc>
              </a:tr>
              <a:tr h="621792">
                <a:tc>
                  <a:txBody>
                    <a:bodyPr/>
                    <a:lstStyle/>
                    <a:p>
                      <a:pPr indent="0" marL="0">
                        <a:buNone/>
                      </a:pPr>
                      <a:r>
                        <a:rPr lang="en-US" sz="940" b="1" dirty="0">
                          <a:solidFill>
                            <a:srgbClr val="16263F"/>
                          </a:solidFill>
                          <a:latin typeface="Calibri" pitchFamily="34" charset="0"/>
                          <a:ea typeface="Calibri" pitchFamily="34" charset="-122"/>
                          <a:cs typeface="Calibri" pitchFamily="34" charset="-120"/>
                        </a:rPr>
                        <a:t>Data &amp; collaboration</a:t>
                      </a:r>
                      <a:endParaRPr lang="en-US" sz="940" dirty="0">
                        <a:latin typeface="Calibri" charset="0"/>
                        <a:ea typeface="Calibri" charset="0"/>
                        <a:cs typeface="Calibri" charset="0"/>
                      </a:endParaRPr>
                    </a:p>
                    <a:p>
                      <a:pPr indent="0" marL="0">
                        <a:buNone/>
                      </a:pPr>
                      <a:r>
                        <a:rPr lang="en-US" sz="940" b="1" dirty="0">
                          <a:solidFill>
                            <a:srgbClr val="16263F"/>
                          </a:solidFill>
                          <a:latin typeface="Calibri" pitchFamily="34" charset="0"/>
                          <a:ea typeface="Calibri" pitchFamily="34" charset="-122"/>
                          <a:cs typeface="Calibri" pitchFamily="34" charset="-120"/>
                        </a:rPr>
                        <a:t>(D6 · D8)</a:t>
                      </a:r>
                      <a:endParaRPr lang="en-US" sz="940" dirty="0">
                        <a:latin typeface="Calibri" charset="0"/>
                        <a:ea typeface="Calibri" charset="0"/>
                        <a:cs typeface="Calibri" charset="0"/>
                      </a:endParaRPr>
                    </a:p>
                  </a:txBody>
                  <a:tcPr marL="45720" marR="45720" marT="45720" marB="45720" anchor="ctr">
                    <a:lnL w="6350" cap="flat" cmpd="sng" algn="ctr">
                      <a:solidFill>
                        <a:srgbClr val="DFE6EE"/>
                      </a:solidFill>
                      <a:prstDash val="solid"/>
                      <a:round/>
                      <a:headEnd type="none" w="med" len="med"/>
                      <a:tailEnd type="none" w="med" len="med"/>
                    </a:lnL>
                    <a:lnR w="6350" cap="flat" cmpd="sng" algn="ctr">
                      <a:solidFill>
                        <a:srgbClr val="DFE6EE"/>
                      </a:solidFill>
                      <a:prstDash val="solid"/>
                      <a:round/>
                      <a:headEnd type="none" w="med" len="med"/>
                      <a:tailEnd type="none" w="med" len="med"/>
                    </a:lnR>
                    <a:lnT w="6350" cap="flat" cmpd="sng" algn="ctr">
                      <a:solidFill>
                        <a:srgbClr val="DFE6EE"/>
                      </a:solidFill>
                      <a:prstDash val="solid"/>
                      <a:round/>
                      <a:headEnd type="none" w="med" len="med"/>
                      <a:tailEnd type="none" w="med" len="med"/>
                    </a:lnT>
                    <a:lnB w="6350" cap="flat" cmpd="sng" algn="ctr">
                      <a:solidFill>
                        <a:srgbClr val="DFE6EE"/>
                      </a:solidFill>
                      <a:prstDash val="solid"/>
                      <a:round/>
                      <a:headEnd type="none" w="med" len="med"/>
                      <a:tailEnd type="none" w="med" len="med"/>
                    </a:lnB>
                    <a:solidFill>
                      <a:srgbClr val="F3F6FA"/>
                    </a:solidFill>
                  </a:tcPr>
                </a:tc>
                <a:tc>
                  <a:txBody>
                    <a:bodyPr/>
                    <a:lstStyle/>
                    <a:p>
                      <a:pPr indent="0" marL="0">
                        <a:buNone/>
                      </a:pPr>
                      <a:r>
                        <a:rPr lang="en-US" sz="940" dirty="0">
                          <a:solidFill>
                            <a:srgbClr val="1F2A38"/>
                          </a:solidFill>
                          <a:latin typeface="Calibri" pitchFamily="34" charset="0"/>
                          <a:ea typeface="Calibri" pitchFamily="34" charset="-122"/>
                          <a:cs typeface="Calibri" pitchFamily="34" charset="-120"/>
                        </a:rPr>
                        <a:t>State lives behind the Twin API — change journal v1, event-sourced v2 — never the engine; CRDT / websocket co-editing on web; IFC / COBie exported from the twin.</a:t>
                      </a:r>
                      <a:endParaRPr lang="en-US" sz="940" dirty="0">
                        <a:latin typeface="Calibri" charset="0"/>
                        <a:ea typeface="Calibri" charset="0"/>
                        <a:cs typeface="Calibri" charset="0"/>
                      </a:endParaRPr>
                    </a:p>
                  </a:txBody>
                  <a:tcPr marL="45720" marR="45720" marT="45720" marB="45720" anchor="ctr">
                    <a:lnL w="6350" cap="flat" cmpd="sng" algn="ctr">
                      <a:solidFill>
                        <a:srgbClr val="DFE6EE"/>
                      </a:solidFill>
                      <a:prstDash val="solid"/>
                      <a:round/>
                      <a:headEnd type="none" w="med" len="med"/>
                      <a:tailEnd type="none" w="med" len="med"/>
                    </a:lnL>
                    <a:lnR w="6350" cap="flat" cmpd="sng" algn="ctr">
                      <a:solidFill>
                        <a:srgbClr val="DFE6EE"/>
                      </a:solidFill>
                      <a:prstDash val="solid"/>
                      <a:round/>
                      <a:headEnd type="none" w="med" len="med"/>
                      <a:tailEnd type="none" w="med" len="med"/>
                    </a:lnR>
                    <a:lnT w="6350" cap="flat" cmpd="sng" algn="ctr">
                      <a:solidFill>
                        <a:srgbClr val="DFE6EE"/>
                      </a:solidFill>
                      <a:prstDash val="solid"/>
                      <a:round/>
                      <a:headEnd type="none" w="med" len="med"/>
                      <a:tailEnd type="none" w="med" len="med"/>
                    </a:lnT>
                    <a:lnB w="6350" cap="flat" cmpd="sng" algn="ctr">
                      <a:solidFill>
                        <a:srgbClr val="DFE6EE"/>
                      </a:solidFill>
                      <a:prstDash val="solid"/>
                      <a:round/>
                      <a:headEnd type="none" w="med" len="med"/>
                      <a:tailEnd type="none" w="med" len="med"/>
                    </a:lnB>
                    <a:solidFill>
                      <a:srgbClr val="F3F6FA"/>
                    </a:solidFill>
                  </a:tcPr>
                </a:tc>
                <a:tc>
                  <a:txBody>
                    <a:bodyPr/>
                    <a:lstStyle/>
                    <a:p>
                      <a:pPr indent="0" marL="0">
                        <a:buNone/>
                      </a:pPr>
                      <a:r>
                        <a:rPr lang="en-US" sz="940" dirty="0">
                          <a:solidFill>
                            <a:srgbClr val="1F2A38"/>
                          </a:solidFill>
                          <a:latin typeface="Calibri" pitchFamily="34" charset="0"/>
                          <a:ea typeface="Calibri" pitchFamily="34" charset="-122"/>
                          <a:cs typeface="Calibri" pitchFamily="34" charset="-120"/>
                        </a:rPr>
                        <a:t>Owner-side FM checklist validates the export; two-user co-edit demo.</a:t>
                      </a:r>
                      <a:endParaRPr lang="en-US" sz="940" dirty="0">
                        <a:latin typeface="Calibri" charset="0"/>
                        <a:ea typeface="Calibri" charset="0"/>
                        <a:cs typeface="Calibri" charset="0"/>
                      </a:endParaRPr>
                    </a:p>
                  </a:txBody>
                  <a:tcPr marL="45720" marR="45720" marT="45720" marB="45720" anchor="ctr">
                    <a:lnL w="6350" cap="flat" cmpd="sng" algn="ctr">
                      <a:solidFill>
                        <a:srgbClr val="DFE6EE"/>
                      </a:solidFill>
                      <a:prstDash val="solid"/>
                      <a:round/>
                      <a:headEnd type="none" w="med" len="med"/>
                      <a:tailEnd type="none" w="med" len="med"/>
                    </a:lnL>
                    <a:lnR w="6350" cap="flat" cmpd="sng" algn="ctr">
                      <a:solidFill>
                        <a:srgbClr val="DFE6EE"/>
                      </a:solidFill>
                      <a:prstDash val="solid"/>
                      <a:round/>
                      <a:headEnd type="none" w="med" len="med"/>
                      <a:tailEnd type="none" w="med" len="med"/>
                    </a:lnR>
                    <a:lnT w="6350" cap="flat" cmpd="sng" algn="ctr">
                      <a:solidFill>
                        <a:srgbClr val="DFE6EE"/>
                      </a:solidFill>
                      <a:prstDash val="solid"/>
                      <a:round/>
                      <a:headEnd type="none" w="med" len="med"/>
                      <a:tailEnd type="none" w="med" len="med"/>
                    </a:lnT>
                    <a:lnB w="6350" cap="flat" cmpd="sng" algn="ctr">
                      <a:solidFill>
                        <a:srgbClr val="DFE6EE"/>
                      </a:solidFill>
                      <a:prstDash val="solid"/>
                      <a:round/>
                      <a:headEnd type="none" w="med" len="med"/>
                      <a:tailEnd type="none" w="med" len="med"/>
                    </a:lnB>
                    <a:solidFill>
                      <a:srgbClr val="FBF2DC"/>
                    </a:solidFill>
                  </a:tcPr>
                </a:tc>
              </a:tr>
            </a:tbl>
          </a:graphicData>
        </a:graphic>
      </p:graphicFrame>
      <p:sp>
        <p:nvSpPr>
          <p:cNvPr id="5" name="Text 2"/>
          <p:cNvSpPr/>
          <p:nvPr/>
        </p:nvSpPr>
        <p:spPr>
          <a:xfrm>
            <a:off x="457200" y="4553712"/>
            <a:ext cx="8229600" cy="274320"/>
          </a:xfrm>
          <a:prstGeom prst="rect">
            <a:avLst/>
          </a:prstGeom>
          <a:noFill/>
          <a:ln/>
        </p:spPr>
        <p:txBody>
          <a:bodyPr wrap="square" lIns="0" tIns="0" rIns="0" bIns="0" rtlCol="0" anchor="ctr"/>
          <a:lstStyle/>
          <a:p>
            <a:pPr indent="0" marL="0">
              <a:buNone/>
            </a:pPr>
            <a:r>
              <a:rPr lang="en-US" sz="1100" b="1" i="1" dirty="0">
                <a:solidFill>
                  <a:srgbClr val="1E7A4C"/>
                </a:solidFill>
                <a:latin typeface="Calibri" pitchFamily="34" charset="0"/>
                <a:ea typeface="Calibri" pitchFamily="34" charset="-122"/>
                <a:cs typeface="Calibri" pitchFamily="34" charset="-120"/>
              </a:rPr>
              <a:t>Unity stays green where it wins: high-fidelity authoring and XR design reviews — unchanged.</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92608"/>
            <a:ext cx="8229600" cy="274320"/>
          </a:xfrm>
          <a:prstGeom prst="rect">
            <a:avLst/>
          </a:prstGeom>
          <a:noFill/>
          <a:ln/>
        </p:spPr>
        <p:txBody>
          <a:bodyPr wrap="square" lIns="0" tIns="0" rIns="0" bIns="0" rtlCol="0" anchor="ctr"/>
          <a:lstStyle/>
          <a:p>
            <a:pPr indent="0" marL="0">
              <a:buNone/>
            </a:pPr>
            <a:r>
              <a:rPr lang="en-US" sz="1050" b="1" spc="200" kern="0" dirty="0">
                <a:solidFill>
                  <a:srgbClr val="C78F0D"/>
                </a:solidFill>
                <a:latin typeface="Calibri" pitchFamily="34" charset="0"/>
                <a:ea typeface="Calibri" pitchFamily="34" charset="-122"/>
                <a:cs typeface="Calibri" pitchFamily="34" charset="-120"/>
              </a:rPr>
              <a:t>BACKUP · PATH TO GREEN</a:t>
            </a:r>
            <a:endParaRPr lang="en-US" sz="1050" dirty="0"/>
          </a:p>
        </p:txBody>
      </p:sp>
      <p:sp>
        <p:nvSpPr>
          <p:cNvPr id="3" name="Text 1"/>
          <p:cNvSpPr/>
          <p:nvPr/>
        </p:nvSpPr>
        <p:spPr>
          <a:xfrm>
            <a:off x="457200" y="530352"/>
            <a:ext cx="8229600" cy="566928"/>
          </a:xfrm>
          <a:prstGeom prst="rect">
            <a:avLst/>
          </a:prstGeom>
          <a:noFill/>
          <a:ln/>
        </p:spPr>
        <p:txBody>
          <a:bodyPr wrap="square" lIns="0" tIns="0" rIns="0" bIns="0" rtlCol="0" anchor="ctr"/>
          <a:lstStyle/>
          <a:p>
            <a:pPr indent="0" marL="0">
              <a:buNone/>
            </a:pPr>
            <a:r>
              <a:rPr lang="en-US" sz="2800" b="1" dirty="0">
                <a:solidFill>
                  <a:srgbClr val="16263F"/>
                </a:solidFill>
                <a:latin typeface="Cambria" pitchFamily="34" charset="0"/>
                <a:ea typeface="Cambria" pitchFamily="34" charset="-122"/>
                <a:cs typeface="Cambria" pitchFamily="34" charset="-120"/>
              </a:rPr>
              <a:t>Twelve weeks, three gates, no leap of faith</a:t>
            </a:r>
            <a:endParaRPr lang="en-US" sz="2800" dirty="0"/>
          </a:p>
        </p:txBody>
      </p:sp>
      <p:sp>
        <p:nvSpPr>
          <p:cNvPr id="4" name="Shape 2"/>
          <p:cNvSpPr/>
          <p:nvPr/>
        </p:nvSpPr>
        <p:spPr>
          <a:xfrm>
            <a:off x="457200" y="1298448"/>
            <a:ext cx="2624328" cy="2651760"/>
          </a:xfrm>
          <a:prstGeom prst="roundRect">
            <a:avLst>
              <a:gd name="adj" fmla="val 2091"/>
            </a:avLst>
          </a:prstGeom>
          <a:solidFill>
            <a:srgbClr val="F3F6FA"/>
          </a:solidFill>
          <a:ln/>
          <a:effectLst>
            <a:outerShdw sx="100000" sy="100000" kx="0" ky="0" algn="bl" rotWithShape="0" blurRad="88900" dist="25400" dir="2700000">
              <a:srgbClr val="000000">
                <a:alpha val="14000"/>
              </a:srgbClr>
            </a:outerShdw>
          </a:effectLst>
        </p:spPr>
      </p:sp>
      <p:sp>
        <p:nvSpPr>
          <p:cNvPr id="5" name="Text 3"/>
          <p:cNvSpPr/>
          <p:nvPr/>
        </p:nvSpPr>
        <p:spPr>
          <a:xfrm>
            <a:off x="640080" y="1444752"/>
            <a:ext cx="2286000" cy="237744"/>
          </a:xfrm>
          <a:prstGeom prst="rect">
            <a:avLst/>
          </a:prstGeom>
          <a:noFill/>
          <a:ln/>
        </p:spPr>
        <p:txBody>
          <a:bodyPr wrap="square" lIns="0" tIns="0" rIns="0" bIns="0" rtlCol="0" anchor="ctr"/>
          <a:lstStyle/>
          <a:p>
            <a:pPr indent="0" marL="0">
              <a:buNone/>
            </a:pPr>
            <a:r>
              <a:rPr lang="en-US" sz="1100" b="1" spc="100" kern="0" dirty="0">
                <a:solidFill>
                  <a:srgbClr val="16263F"/>
                </a:solidFill>
                <a:latin typeface="Calibri" pitchFamily="34" charset="0"/>
                <a:ea typeface="Calibri" pitchFamily="34" charset="-122"/>
                <a:cs typeface="Calibri" pitchFamily="34" charset="-120"/>
              </a:rPr>
              <a:t>WKS 1–2 · SPIKE</a:t>
            </a:r>
            <a:endParaRPr lang="en-US" sz="1100" dirty="0"/>
          </a:p>
        </p:txBody>
      </p:sp>
      <p:sp>
        <p:nvSpPr>
          <p:cNvPr id="6" name="Shape 4"/>
          <p:cNvSpPr/>
          <p:nvPr/>
        </p:nvSpPr>
        <p:spPr>
          <a:xfrm>
            <a:off x="640080" y="1755648"/>
            <a:ext cx="164592" cy="164592"/>
          </a:xfrm>
          <a:prstGeom prst="ellipse">
            <a:avLst/>
          </a:prstGeom>
          <a:solidFill>
            <a:srgbClr val="B3402F"/>
          </a:solidFill>
          <a:ln/>
        </p:spPr>
      </p:sp>
      <p:pic>
        <p:nvPicPr>
          <p:cNvPr id="7" name="Image 0" descr="preencoded.png">    </p:cNvPr>
          <p:cNvPicPr>
            <a:picLocks noChangeAspect="1"/>
          </p:cNvPicPr>
          <p:nvPr/>
        </p:nvPicPr>
        <p:blipFill>
          <a:blip r:embed="rId1"/>
          <a:stretch>
            <a:fillRect/>
          </a:stretch>
        </p:blipFill>
        <p:spPr>
          <a:xfrm>
            <a:off x="877824" y="1755648"/>
            <a:ext cx="164592" cy="164592"/>
          </a:xfrm>
          <a:prstGeom prst="rect">
            <a:avLst/>
          </a:prstGeom>
        </p:spPr>
      </p:pic>
      <p:sp>
        <p:nvSpPr>
          <p:cNvPr id="8" name="Shape 5"/>
          <p:cNvSpPr/>
          <p:nvPr/>
        </p:nvSpPr>
        <p:spPr>
          <a:xfrm>
            <a:off x="1115568" y="1755648"/>
            <a:ext cx="164592" cy="164592"/>
          </a:xfrm>
          <a:prstGeom prst="ellipse">
            <a:avLst/>
          </a:prstGeom>
          <a:solidFill>
            <a:srgbClr val="D89A12"/>
          </a:solidFill>
          <a:ln/>
        </p:spPr>
      </p:sp>
      <p:sp>
        <p:nvSpPr>
          <p:cNvPr id="9" name="Text 6"/>
          <p:cNvSpPr/>
          <p:nvPr/>
        </p:nvSpPr>
        <p:spPr>
          <a:xfrm>
            <a:off x="658368" y="2066544"/>
            <a:ext cx="2286000" cy="1783080"/>
          </a:xfrm>
          <a:prstGeom prst="rect">
            <a:avLst/>
          </a:prstGeom>
          <a:noFill/>
          <a:ln/>
        </p:spPr>
        <p:txBody>
          <a:bodyPr wrap="square" lIns="0" tIns="0" rIns="0" bIns="0" rtlCol="0" anchor="ctr"/>
          <a:lstStyle/>
          <a:p>
            <a:pPr marL="342900" indent="-342900">
              <a:spcAft>
                <a:spcPts val="600"/>
              </a:spcAft>
              <a:buSzPct val="100000"/>
              <a:buChar char="•"/>
            </a:pPr>
            <a:r>
              <a:rPr lang="en-US" sz="960" dirty="0">
                <a:solidFill>
                  <a:srgbClr val="1F2A38"/>
                </a:solidFill>
                <a:latin typeface="Calibri" pitchFamily="34" charset="0"/>
                <a:ea typeface="Calibri" pitchFamily="34" charset="-122"/>
                <a:cs typeface="Calibri" pitchFamily="34" charset="-120"/>
              </a:rPr>
              <a:t>Gates on your content: VDI-profile render · WebGL cold-load &amp; memory · concurrent-edit sync · cost / seat; UE5 by paper evaluation</a:t>
            </a:r>
            <a:endParaRPr lang="en-US" sz="960" dirty="0"/>
          </a:p>
          <a:p>
            <a:pPr marL="342900" indent="-342900">
              <a:spcAft>
                <a:spcPts val="600"/>
              </a:spcAft>
              <a:buSzPct val="100000"/>
              <a:buChar char="•"/>
            </a:pPr>
            <a:r>
              <a:rPr lang="en-US" sz="960" dirty="0">
                <a:solidFill>
                  <a:srgbClr val="1F2A38"/>
                </a:solidFill>
                <a:latin typeface="Calibri" pitchFamily="34" charset="0"/>
                <a:ea typeface="Calibri" pitchFamily="34" charset="-122"/>
                <a:cs typeface="Calibri" pitchFamily="34" charset="-120"/>
              </a:rPr>
              <a:t>Output: ADR-Unity signed, with a revisit date</a:t>
            </a:r>
            <a:endParaRPr lang="en-US" sz="960" dirty="0"/>
          </a:p>
        </p:txBody>
      </p:sp>
      <p:pic>
        <p:nvPicPr>
          <p:cNvPr id="10" name="Image 1" descr="preencoded.png">    </p:cNvPr>
          <p:cNvPicPr>
            <a:picLocks noChangeAspect="1"/>
          </p:cNvPicPr>
          <p:nvPr/>
        </p:nvPicPr>
        <p:blipFill>
          <a:blip r:embed="rId2"/>
          <a:stretch>
            <a:fillRect/>
          </a:stretch>
        </p:blipFill>
        <p:spPr>
          <a:xfrm>
            <a:off x="3108960" y="2468880"/>
            <a:ext cx="237744" cy="237744"/>
          </a:xfrm>
          <a:prstGeom prst="rect">
            <a:avLst/>
          </a:prstGeom>
        </p:spPr>
      </p:pic>
      <p:sp>
        <p:nvSpPr>
          <p:cNvPr id="11" name="Shape 7"/>
          <p:cNvSpPr/>
          <p:nvPr/>
        </p:nvSpPr>
        <p:spPr>
          <a:xfrm>
            <a:off x="3264408" y="1298448"/>
            <a:ext cx="2624328" cy="2651760"/>
          </a:xfrm>
          <a:prstGeom prst="roundRect">
            <a:avLst>
              <a:gd name="adj" fmla="val 2091"/>
            </a:avLst>
          </a:prstGeom>
          <a:solidFill>
            <a:srgbClr val="F3F6FA"/>
          </a:solidFill>
          <a:ln/>
          <a:effectLst>
            <a:outerShdw sx="100000" sy="100000" kx="0" ky="0" algn="bl" rotWithShape="0" blurRad="88900" dist="25400" dir="2700000">
              <a:srgbClr val="000000">
                <a:alpha val="14000"/>
              </a:srgbClr>
            </a:outerShdw>
          </a:effectLst>
        </p:spPr>
      </p:sp>
      <p:sp>
        <p:nvSpPr>
          <p:cNvPr id="12" name="Text 8"/>
          <p:cNvSpPr/>
          <p:nvPr/>
        </p:nvSpPr>
        <p:spPr>
          <a:xfrm>
            <a:off x="3447288" y="1444752"/>
            <a:ext cx="2286000" cy="237744"/>
          </a:xfrm>
          <a:prstGeom prst="rect">
            <a:avLst/>
          </a:prstGeom>
          <a:noFill/>
          <a:ln/>
        </p:spPr>
        <p:txBody>
          <a:bodyPr wrap="square" lIns="0" tIns="0" rIns="0" bIns="0" rtlCol="0" anchor="ctr"/>
          <a:lstStyle/>
          <a:p>
            <a:pPr indent="0" marL="0">
              <a:buNone/>
            </a:pPr>
            <a:r>
              <a:rPr lang="en-US" sz="1100" b="1" spc="100" kern="0" dirty="0">
                <a:solidFill>
                  <a:srgbClr val="16263F"/>
                </a:solidFill>
                <a:latin typeface="Calibri" pitchFamily="34" charset="0"/>
                <a:ea typeface="Calibri" pitchFamily="34" charset="-122"/>
                <a:cs typeface="Calibri" pitchFamily="34" charset="-120"/>
              </a:rPr>
              <a:t>WKS 3–8 · DECOUPLE</a:t>
            </a:r>
            <a:endParaRPr lang="en-US" sz="1100" dirty="0"/>
          </a:p>
        </p:txBody>
      </p:sp>
      <p:sp>
        <p:nvSpPr>
          <p:cNvPr id="13" name="Shape 9"/>
          <p:cNvSpPr/>
          <p:nvPr/>
        </p:nvSpPr>
        <p:spPr>
          <a:xfrm>
            <a:off x="3447288" y="1755648"/>
            <a:ext cx="164592" cy="164592"/>
          </a:xfrm>
          <a:prstGeom prst="ellipse">
            <a:avLst/>
          </a:prstGeom>
          <a:solidFill>
            <a:srgbClr val="D89A12"/>
          </a:solidFill>
          <a:ln/>
        </p:spPr>
      </p:sp>
      <p:pic>
        <p:nvPicPr>
          <p:cNvPr id="14" name="Image 2" descr="preencoded.png">    </p:cNvPr>
          <p:cNvPicPr>
            <a:picLocks noChangeAspect="1"/>
          </p:cNvPicPr>
          <p:nvPr/>
        </p:nvPicPr>
        <p:blipFill>
          <a:blip r:embed="rId3"/>
          <a:stretch>
            <a:fillRect/>
          </a:stretch>
        </p:blipFill>
        <p:spPr>
          <a:xfrm>
            <a:off x="3685032" y="1755648"/>
            <a:ext cx="164592" cy="164592"/>
          </a:xfrm>
          <a:prstGeom prst="rect">
            <a:avLst/>
          </a:prstGeom>
        </p:spPr>
      </p:pic>
      <p:sp>
        <p:nvSpPr>
          <p:cNvPr id="15" name="Shape 10"/>
          <p:cNvSpPr/>
          <p:nvPr/>
        </p:nvSpPr>
        <p:spPr>
          <a:xfrm>
            <a:off x="3922776" y="1755648"/>
            <a:ext cx="164592" cy="164592"/>
          </a:xfrm>
          <a:prstGeom prst="ellipse">
            <a:avLst/>
          </a:prstGeom>
          <a:solidFill>
            <a:srgbClr val="D89A12"/>
          </a:solidFill>
          <a:ln/>
        </p:spPr>
      </p:sp>
      <p:sp>
        <p:nvSpPr>
          <p:cNvPr id="16" name="Text 11"/>
          <p:cNvSpPr/>
          <p:nvPr/>
        </p:nvSpPr>
        <p:spPr>
          <a:xfrm>
            <a:off x="3465576" y="2066544"/>
            <a:ext cx="2286000" cy="1783080"/>
          </a:xfrm>
          <a:prstGeom prst="rect">
            <a:avLst/>
          </a:prstGeom>
          <a:noFill/>
          <a:ln/>
        </p:spPr>
        <p:txBody>
          <a:bodyPr wrap="square" lIns="0" tIns="0" rIns="0" bIns="0" rtlCol="0" anchor="ctr"/>
          <a:lstStyle/>
          <a:p>
            <a:pPr marL="342900" indent="-342900">
              <a:spcAft>
                <a:spcPts val="600"/>
              </a:spcAft>
              <a:buSzPct val="100000"/>
              <a:buChar char="•"/>
            </a:pPr>
            <a:r>
              <a:rPr lang="en-US" sz="960" dirty="0">
                <a:solidFill>
                  <a:srgbClr val="1F2A38"/>
                </a:solidFill>
                <a:latin typeface="Calibri" pitchFamily="34" charset="0"/>
                <a:ea typeface="Calibri" pitchFamily="34" charset="-122"/>
                <a:cs typeface="Calibri" pitchFamily="34" charset="-120"/>
              </a:rPr>
              <a:t>Twin payload contract v1 — business logic out of the client</a:t>
            </a:r>
            <a:endParaRPr lang="en-US" sz="960" dirty="0"/>
          </a:p>
          <a:p>
            <a:pPr marL="342900" indent="-342900">
              <a:spcAft>
                <a:spcPts val="600"/>
              </a:spcAft>
              <a:buSzPct val="100000"/>
              <a:buChar char="•"/>
            </a:pPr>
            <a:r>
              <a:rPr lang="en-US" sz="960" dirty="0">
                <a:solidFill>
                  <a:srgbClr val="1F2A38"/>
                </a:solidFill>
                <a:latin typeface="Calibri" pitchFamily="34" charset="0"/>
                <a:ea typeface="Calibri" pitchFamily="34" charset="-122"/>
                <a:cs typeface="Calibri" pitchFamily="34" charset="-120"/>
              </a:rPr>
              <a:t>Web viewer alpha on one room template</a:t>
            </a:r>
            <a:endParaRPr lang="en-US" sz="960" dirty="0"/>
          </a:p>
          <a:p>
            <a:pPr marL="342900" indent="-342900">
              <a:spcAft>
                <a:spcPts val="600"/>
              </a:spcAft>
              <a:buSzPct val="100000"/>
              <a:buChar char="•"/>
            </a:pPr>
            <a:r>
              <a:rPr lang="en-US" sz="960" dirty="0">
                <a:solidFill>
                  <a:srgbClr val="1F2A38"/>
                </a:solidFill>
                <a:latin typeface="Calibri" pitchFamily="34" charset="0"/>
                <a:ea typeface="Calibri" pitchFamily="34" charset="-122"/>
                <a:cs typeface="Calibri" pitchFamily="34" charset="-120"/>
              </a:rPr>
              <a:t>Draft VPAT + SSO wiring on the web track</a:t>
            </a:r>
            <a:endParaRPr lang="en-US" sz="960" dirty="0"/>
          </a:p>
        </p:txBody>
      </p:sp>
      <p:pic>
        <p:nvPicPr>
          <p:cNvPr id="17" name="Image 3" descr="preencoded.png">    </p:cNvPr>
          <p:cNvPicPr>
            <a:picLocks noChangeAspect="1"/>
          </p:cNvPicPr>
          <p:nvPr/>
        </p:nvPicPr>
        <p:blipFill>
          <a:blip r:embed="rId4"/>
          <a:stretch>
            <a:fillRect/>
          </a:stretch>
        </p:blipFill>
        <p:spPr>
          <a:xfrm>
            <a:off x="5916168" y="2468880"/>
            <a:ext cx="237744" cy="237744"/>
          </a:xfrm>
          <a:prstGeom prst="rect">
            <a:avLst/>
          </a:prstGeom>
        </p:spPr>
      </p:pic>
      <p:sp>
        <p:nvSpPr>
          <p:cNvPr id="18" name="Shape 12"/>
          <p:cNvSpPr/>
          <p:nvPr/>
        </p:nvSpPr>
        <p:spPr>
          <a:xfrm>
            <a:off x="6071616" y="1298448"/>
            <a:ext cx="2624328" cy="2651760"/>
          </a:xfrm>
          <a:prstGeom prst="roundRect">
            <a:avLst>
              <a:gd name="adj" fmla="val 2091"/>
            </a:avLst>
          </a:prstGeom>
          <a:solidFill>
            <a:srgbClr val="F3F6FA"/>
          </a:solidFill>
          <a:ln/>
          <a:effectLst>
            <a:outerShdw sx="100000" sy="100000" kx="0" ky="0" algn="bl" rotWithShape="0" blurRad="88900" dist="25400" dir="2700000">
              <a:srgbClr val="000000">
                <a:alpha val="14000"/>
              </a:srgbClr>
            </a:outerShdw>
          </a:effectLst>
        </p:spPr>
      </p:sp>
      <p:sp>
        <p:nvSpPr>
          <p:cNvPr id="19" name="Text 13"/>
          <p:cNvSpPr/>
          <p:nvPr/>
        </p:nvSpPr>
        <p:spPr>
          <a:xfrm>
            <a:off x="6254496" y="1444752"/>
            <a:ext cx="2286000" cy="237744"/>
          </a:xfrm>
          <a:prstGeom prst="rect">
            <a:avLst/>
          </a:prstGeom>
          <a:noFill/>
          <a:ln/>
        </p:spPr>
        <p:txBody>
          <a:bodyPr wrap="square" lIns="0" tIns="0" rIns="0" bIns="0" rtlCol="0" anchor="ctr"/>
          <a:lstStyle/>
          <a:p>
            <a:pPr indent="0" marL="0">
              <a:buNone/>
            </a:pPr>
            <a:r>
              <a:rPr lang="en-US" sz="1100" b="1" spc="100" kern="0" dirty="0">
                <a:solidFill>
                  <a:srgbClr val="16263F"/>
                </a:solidFill>
                <a:latin typeface="Calibri" pitchFamily="34" charset="0"/>
                <a:ea typeface="Calibri" pitchFamily="34" charset="-122"/>
                <a:cs typeface="Calibri" pitchFamily="34" charset="-120"/>
              </a:rPr>
              <a:t>WKS 9–12 · PROVE</a:t>
            </a:r>
            <a:endParaRPr lang="en-US" sz="1100" dirty="0"/>
          </a:p>
        </p:txBody>
      </p:sp>
      <p:sp>
        <p:nvSpPr>
          <p:cNvPr id="20" name="Shape 14"/>
          <p:cNvSpPr/>
          <p:nvPr/>
        </p:nvSpPr>
        <p:spPr>
          <a:xfrm>
            <a:off x="6254496" y="1755648"/>
            <a:ext cx="164592" cy="164592"/>
          </a:xfrm>
          <a:prstGeom prst="ellipse">
            <a:avLst/>
          </a:prstGeom>
          <a:solidFill>
            <a:srgbClr val="D89A12"/>
          </a:solidFill>
          <a:ln/>
        </p:spPr>
      </p:sp>
      <p:pic>
        <p:nvPicPr>
          <p:cNvPr id="21" name="Image 4" descr="preencoded.png">    </p:cNvPr>
          <p:cNvPicPr>
            <a:picLocks noChangeAspect="1"/>
          </p:cNvPicPr>
          <p:nvPr/>
        </p:nvPicPr>
        <p:blipFill>
          <a:blip r:embed="rId5"/>
          <a:stretch>
            <a:fillRect/>
          </a:stretch>
        </p:blipFill>
        <p:spPr>
          <a:xfrm>
            <a:off x="6492240" y="1755648"/>
            <a:ext cx="164592" cy="164592"/>
          </a:xfrm>
          <a:prstGeom prst="rect">
            <a:avLst/>
          </a:prstGeom>
        </p:spPr>
      </p:pic>
      <p:sp>
        <p:nvSpPr>
          <p:cNvPr id="22" name="Shape 15"/>
          <p:cNvSpPr/>
          <p:nvPr/>
        </p:nvSpPr>
        <p:spPr>
          <a:xfrm>
            <a:off x="6729984" y="1755648"/>
            <a:ext cx="164592" cy="164592"/>
          </a:xfrm>
          <a:prstGeom prst="ellipse">
            <a:avLst/>
          </a:prstGeom>
          <a:solidFill>
            <a:srgbClr val="1E7A4C"/>
          </a:solidFill>
          <a:ln/>
        </p:spPr>
      </p:sp>
      <p:sp>
        <p:nvSpPr>
          <p:cNvPr id="23" name="Text 16"/>
          <p:cNvSpPr/>
          <p:nvPr/>
        </p:nvSpPr>
        <p:spPr>
          <a:xfrm>
            <a:off x="6272784" y="2066544"/>
            <a:ext cx="2286000" cy="1783080"/>
          </a:xfrm>
          <a:prstGeom prst="rect">
            <a:avLst/>
          </a:prstGeom>
          <a:noFill/>
          <a:ln/>
        </p:spPr>
        <p:txBody>
          <a:bodyPr wrap="square" lIns="0" tIns="0" rIns="0" bIns="0" rtlCol="0" anchor="ctr"/>
          <a:lstStyle/>
          <a:p>
            <a:pPr marL="342900" indent="-342900">
              <a:spcAft>
                <a:spcPts val="600"/>
              </a:spcAft>
              <a:buSzPct val="100000"/>
              <a:buChar char="•"/>
            </a:pPr>
            <a:r>
              <a:rPr lang="en-US" sz="960" dirty="0">
                <a:solidFill>
                  <a:srgbClr val="1F2A38"/>
                </a:solidFill>
                <a:latin typeface="Calibri" pitchFamily="34" charset="0"/>
                <a:ea typeface="Calibri" pitchFamily="34" charset="-122"/>
                <a:cs typeface="Calibri" pitchFamily="34" charset="-120"/>
              </a:rPr>
              <a:t>Web-track beta with the design partner</a:t>
            </a:r>
            <a:endParaRPr lang="en-US" sz="960" dirty="0"/>
          </a:p>
          <a:p>
            <a:pPr marL="342900" indent="-342900">
              <a:spcAft>
                <a:spcPts val="600"/>
              </a:spcAft>
              <a:buSzPct val="100000"/>
              <a:buChar char="•"/>
            </a:pPr>
            <a:r>
              <a:rPr lang="en-US" sz="960" dirty="0">
                <a:solidFill>
                  <a:srgbClr val="1F2A38"/>
                </a:solidFill>
                <a:latin typeface="Calibri" pitchFamily="34" charset="0"/>
                <a:ea typeface="Calibri" pitchFamily="34" charset="-122"/>
                <a:cs typeface="Calibri" pitchFamily="34" charset="-120"/>
              </a:rPr>
              <a:t>Deep links + IFC / COBie export v1</a:t>
            </a:r>
            <a:endParaRPr lang="en-US" sz="960" dirty="0"/>
          </a:p>
          <a:p>
            <a:pPr marL="342900" indent="-342900">
              <a:spcAft>
                <a:spcPts val="600"/>
              </a:spcAft>
              <a:buSzPct val="100000"/>
              <a:buChar char="•"/>
            </a:pPr>
            <a:r>
              <a:rPr lang="en-US" sz="960" dirty="0">
                <a:solidFill>
                  <a:srgbClr val="1F2A38"/>
                </a:solidFill>
                <a:latin typeface="Calibri" pitchFamily="34" charset="0"/>
                <a:ea typeface="Calibri" pitchFamily="34" charset="-122"/>
                <a:cs typeface="Calibri" pitchFamily="34" charset="-120"/>
              </a:rPr>
              <a:t>Two-user co-edit demo; scorecard line goes live</a:t>
            </a:r>
            <a:endParaRPr lang="en-US" sz="960" dirty="0"/>
          </a:p>
        </p:txBody>
      </p:sp>
      <p:sp>
        <p:nvSpPr>
          <p:cNvPr id="24" name="Shape 17"/>
          <p:cNvSpPr/>
          <p:nvPr/>
        </p:nvSpPr>
        <p:spPr>
          <a:xfrm>
            <a:off x="457200" y="4133088"/>
            <a:ext cx="8229600" cy="713232"/>
          </a:xfrm>
          <a:prstGeom prst="roundRect">
            <a:avLst>
              <a:gd name="adj" fmla="val 8974"/>
            </a:avLst>
          </a:prstGeom>
          <a:solidFill>
            <a:srgbClr val="16263F"/>
          </a:solidFill>
          <a:ln/>
          <a:effectLst>
            <a:outerShdw sx="100000" sy="100000" kx="0" ky="0" algn="bl" rotWithShape="0" blurRad="88900" dist="25400" dir="2700000">
              <a:srgbClr val="000000">
                <a:alpha val="14000"/>
              </a:srgbClr>
            </a:outerShdw>
          </a:effectLst>
        </p:spPr>
      </p:sp>
      <p:sp>
        <p:nvSpPr>
          <p:cNvPr id="25" name="Text 18"/>
          <p:cNvSpPr/>
          <p:nvPr/>
        </p:nvSpPr>
        <p:spPr>
          <a:xfrm>
            <a:off x="713232" y="4206240"/>
            <a:ext cx="7772400" cy="566928"/>
          </a:xfrm>
          <a:prstGeom prst="rect">
            <a:avLst/>
          </a:prstGeom>
          <a:noFill/>
          <a:ln/>
        </p:spPr>
        <p:txBody>
          <a:bodyPr wrap="square" lIns="0" tIns="0" rIns="0" bIns="0" rtlCol="0" anchor="ctr"/>
          <a:lstStyle/>
          <a:p>
            <a:pPr indent="0" marL="0">
              <a:buNone/>
            </a:pPr>
            <a:r>
              <a:rPr lang="en-US" sz="1100" b="1" dirty="0">
                <a:solidFill>
                  <a:srgbClr val="E8A816"/>
                </a:solidFill>
                <a:latin typeface="Calibri" pitchFamily="34" charset="0"/>
                <a:ea typeface="Calibri" pitchFamily="34" charset="-122"/>
                <a:cs typeface="Calibri" pitchFamily="34" charset="-120"/>
              </a:rPr>
              <a:t>GREEN means:  </a:t>
            </a:r>
            <a:pPr indent="0" marL="0">
              <a:buNone/>
            </a:pPr>
            <a:r>
              <a:rPr lang="en-US" sz="1100" dirty="0">
                <a:solidFill>
                  <a:srgbClr val="FFFFFF"/>
                </a:solidFill>
                <a:latin typeface="Calibri" pitchFamily="34" charset="0"/>
                <a:ea typeface="Calibri" pitchFamily="34" charset="-122"/>
                <a:cs typeface="Calibri" pitchFamily="34" charset="-120"/>
              </a:rPr>
              <a:t>the viewer / approver journey runs in a managed browser on a GPU-less endpoint, WCAG-conformant, at or under target cost per seat — with Unity authoring untouched.</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92608"/>
            <a:ext cx="8229600" cy="274320"/>
          </a:xfrm>
          <a:prstGeom prst="rect">
            <a:avLst/>
          </a:prstGeom>
          <a:noFill/>
          <a:ln/>
        </p:spPr>
        <p:txBody>
          <a:bodyPr wrap="square" lIns="0" tIns="0" rIns="0" bIns="0" rtlCol="0" anchor="ctr"/>
          <a:lstStyle/>
          <a:p>
            <a:pPr indent="0" marL="0">
              <a:buNone/>
            </a:pPr>
            <a:r>
              <a:rPr lang="en-US" sz="1050" b="1" spc="200" kern="0" dirty="0">
                <a:solidFill>
                  <a:srgbClr val="C78F0D"/>
                </a:solidFill>
                <a:latin typeface="Calibri" pitchFamily="34" charset="0"/>
                <a:ea typeface="Calibri" pitchFamily="34" charset="-122"/>
                <a:cs typeface="Calibri" pitchFamily="34" charset="-120"/>
              </a:rPr>
              <a:t>BACKUP · RUNTIME ARCHITECTURE</a:t>
            </a:r>
            <a:endParaRPr lang="en-US" sz="1050" dirty="0"/>
          </a:p>
        </p:txBody>
      </p:sp>
      <p:sp>
        <p:nvSpPr>
          <p:cNvPr id="3" name="Text 1"/>
          <p:cNvSpPr/>
          <p:nvPr/>
        </p:nvSpPr>
        <p:spPr>
          <a:xfrm>
            <a:off x="457200" y="530352"/>
            <a:ext cx="8229600" cy="566928"/>
          </a:xfrm>
          <a:prstGeom prst="rect">
            <a:avLst/>
          </a:prstGeom>
          <a:noFill/>
          <a:ln/>
        </p:spPr>
        <p:txBody>
          <a:bodyPr wrap="square" lIns="0" tIns="0" rIns="0" bIns="0" rtlCol="0" anchor="ctr"/>
          <a:lstStyle/>
          <a:p>
            <a:pPr indent="0" marL="0">
              <a:buNone/>
            </a:pPr>
            <a:r>
              <a:rPr lang="en-US" sz="2800" b="1" dirty="0">
                <a:solidFill>
                  <a:srgbClr val="16263F"/>
                </a:solidFill>
                <a:latin typeface="Cambria" pitchFamily="34" charset="0"/>
                <a:ea typeface="Cambria" pitchFamily="34" charset="-122"/>
                <a:cs typeface="Cambria" pitchFamily="34" charset="-120"/>
              </a:rPr>
              <a:t>Thin-state client · edge content · regional brain</a:t>
            </a:r>
            <a:endParaRPr lang="en-US" sz="2800" dirty="0"/>
          </a:p>
        </p:txBody>
      </p:sp>
      <p:sp>
        <p:nvSpPr>
          <p:cNvPr id="4" name="Shape 2"/>
          <p:cNvSpPr/>
          <p:nvPr/>
        </p:nvSpPr>
        <p:spPr>
          <a:xfrm>
            <a:off x="457200" y="1207008"/>
            <a:ext cx="2624328" cy="1371600"/>
          </a:xfrm>
          <a:prstGeom prst="roundRect">
            <a:avLst>
              <a:gd name="adj" fmla="val 4000"/>
            </a:avLst>
          </a:prstGeom>
          <a:solidFill>
            <a:srgbClr val="16263F"/>
          </a:solidFill>
          <a:ln/>
          <a:effectLst>
            <a:outerShdw sx="100000" sy="100000" kx="0" ky="0" algn="bl" rotWithShape="0" blurRad="88900" dist="25400" dir="2700000">
              <a:srgbClr val="000000">
                <a:alpha val="14000"/>
              </a:srgbClr>
            </a:outerShdw>
          </a:effectLst>
        </p:spPr>
      </p:sp>
      <p:sp>
        <p:nvSpPr>
          <p:cNvPr id="5" name="Shape 3"/>
          <p:cNvSpPr/>
          <p:nvPr/>
        </p:nvSpPr>
        <p:spPr>
          <a:xfrm>
            <a:off x="603504" y="1335024"/>
            <a:ext cx="329184" cy="329184"/>
          </a:xfrm>
          <a:prstGeom prst="ellipse">
            <a:avLst/>
          </a:prstGeom>
          <a:solidFill>
            <a:srgbClr val="23375A"/>
          </a:solidFill>
          <a:ln/>
        </p:spPr>
      </p:sp>
      <p:pic>
        <p:nvPicPr>
          <p:cNvPr id="6" name="Image 0" descr="preencoded.png">    </p:cNvPr>
          <p:cNvPicPr>
            <a:picLocks noChangeAspect="1"/>
          </p:cNvPicPr>
          <p:nvPr/>
        </p:nvPicPr>
        <p:blipFill>
          <a:blip r:embed="rId1"/>
          <a:stretch>
            <a:fillRect/>
          </a:stretch>
        </p:blipFill>
        <p:spPr>
          <a:xfrm>
            <a:off x="689092" y="1420612"/>
            <a:ext cx="158008" cy="158008"/>
          </a:xfrm>
          <a:prstGeom prst="rect">
            <a:avLst/>
          </a:prstGeom>
        </p:spPr>
      </p:pic>
      <p:sp>
        <p:nvSpPr>
          <p:cNvPr id="7" name="Text 4"/>
          <p:cNvSpPr/>
          <p:nvPr/>
        </p:nvSpPr>
        <p:spPr>
          <a:xfrm>
            <a:off x="1005840" y="1344168"/>
            <a:ext cx="2011680" cy="310896"/>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UNITY CLIENT — the GPU</a:t>
            </a:r>
            <a:endParaRPr lang="en-US" sz="1050" dirty="0"/>
          </a:p>
        </p:txBody>
      </p:sp>
      <p:sp>
        <p:nvSpPr>
          <p:cNvPr id="8" name="Text 5"/>
          <p:cNvSpPr/>
          <p:nvPr/>
        </p:nvSpPr>
        <p:spPr>
          <a:xfrm>
            <a:off x="621792" y="1700784"/>
            <a:ext cx="2377440" cy="841248"/>
          </a:xfrm>
          <a:prstGeom prst="rect">
            <a:avLst/>
          </a:prstGeom>
          <a:noFill/>
          <a:ln/>
        </p:spPr>
        <p:txBody>
          <a:bodyPr wrap="square" lIns="0" tIns="0" rIns="0" bIns="0" rtlCol="0" anchor="ctr"/>
          <a:lstStyle/>
          <a:p>
            <a:pPr marL="342900" indent="-342900">
              <a:spcAft>
                <a:spcPts val="300"/>
              </a:spcAft>
              <a:buSzPct val="100000"/>
              <a:buChar char="•"/>
            </a:pPr>
            <a:r>
              <a:rPr lang="en-US" sz="860" dirty="0">
                <a:solidFill>
                  <a:srgbClr val="C9D6E8"/>
                </a:solidFill>
                <a:latin typeface="Calibri" pitchFamily="34" charset="0"/>
                <a:ea typeface="Calibri" pitchFamily="34" charset="-122"/>
                <a:cs typeface="Calibri" pitchFamily="34" charset="-120"/>
              </a:rPr>
              <a:t>Rich rendering: culling, LOD, instancing, selection, XR</a:t>
            </a:r>
            <a:endParaRPr lang="en-US" sz="860" dirty="0"/>
          </a:p>
          <a:p>
            <a:pPr marL="342900" indent="-342900">
              <a:spcAft>
                <a:spcPts val="300"/>
              </a:spcAft>
              <a:buSzPct val="100000"/>
              <a:buChar char="•"/>
            </a:pPr>
            <a:r>
              <a:rPr lang="en-US" sz="860" dirty="0">
                <a:solidFill>
                  <a:srgbClr val="C9D6E8"/>
                </a:solidFill>
                <a:latin typeface="Calibri" pitchFamily="34" charset="0"/>
                <a:ea typeface="Calibri" pitchFamily="34" charset="-122"/>
                <a:cs typeface="Calibri" pitchFamily="34" charset="-120"/>
              </a:rPr>
              <a:t>Zero domain truth — ephemeral view state only</a:t>
            </a:r>
            <a:endParaRPr lang="en-US" sz="860" dirty="0"/>
          </a:p>
          <a:p>
            <a:pPr marL="342900" indent="-342900">
              <a:spcAft>
                <a:spcPts val="300"/>
              </a:spcAft>
              <a:buSzPct val="100000"/>
              <a:buChar char="•"/>
            </a:pPr>
            <a:r>
              <a:rPr lang="en-US" sz="860" dirty="0">
                <a:solidFill>
                  <a:srgbClr val="C9D6E8"/>
                </a:solidFill>
                <a:latin typeface="Calibri" pitchFamily="34" charset="0"/>
                <a:ea typeface="Calibri" pitchFamily="34" charset="-122"/>
                <a:cs typeface="Calibri" pitchFamily="34" charset="-120"/>
              </a:rPr>
              <a:t>Emits intents; renders versioned twin payloads</a:t>
            </a:r>
            <a:endParaRPr lang="en-US" sz="860" dirty="0"/>
          </a:p>
        </p:txBody>
      </p:sp>
      <p:pic>
        <p:nvPicPr>
          <p:cNvPr id="9" name="Image 1" descr="preencoded.png">    </p:cNvPr>
          <p:cNvPicPr>
            <a:picLocks noChangeAspect="1"/>
          </p:cNvPicPr>
          <p:nvPr/>
        </p:nvPicPr>
        <p:blipFill>
          <a:blip r:embed="rId2"/>
          <a:stretch>
            <a:fillRect/>
          </a:stretch>
        </p:blipFill>
        <p:spPr>
          <a:xfrm>
            <a:off x="3099816" y="1783080"/>
            <a:ext cx="219456" cy="219456"/>
          </a:xfrm>
          <a:prstGeom prst="rect">
            <a:avLst/>
          </a:prstGeom>
        </p:spPr>
      </p:pic>
      <p:sp>
        <p:nvSpPr>
          <p:cNvPr id="10" name="Shape 6"/>
          <p:cNvSpPr/>
          <p:nvPr/>
        </p:nvSpPr>
        <p:spPr>
          <a:xfrm>
            <a:off x="3264408" y="1207008"/>
            <a:ext cx="2624328" cy="1371600"/>
          </a:xfrm>
          <a:prstGeom prst="roundRect">
            <a:avLst>
              <a:gd name="adj" fmla="val 4000"/>
            </a:avLst>
          </a:prstGeom>
          <a:solidFill>
            <a:srgbClr val="FBF2DC"/>
          </a:solidFill>
          <a:ln/>
          <a:effectLst>
            <a:outerShdw sx="100000" sy="100000" kx="0" ky="0" algn="bl" rotWithShape="0" blurRad="88900" dist="25400" dir="2700000">
              <a:srgbClr val="000000">
                <a:alpha val="14000"/>
              </a:srgbClr>
            </a:outerShdw>
          </a:effectLst>
        </p:spPr>
      </p:sp>
      <p:sp>
        <p:nvSpPr>
          <p:cNvPr id="11" name="Shape 7"/>
          <p:cNvSpPr/>
          <p:nvPr/>
        </p:nvSpPr>
        <p:spPr>
          <a:xfrm>
            <a:off x="3410712" y="1335024"/>
            <a:ext cx="329184" cy="329184"/>
          </a:xfrm>
          <a:prstGeom prst="ellipse">
            <a:avLst/>
          </a:prstGeom>
          <a:solidFill>
            <a:srgbClr val="E8A816"/>
          </a:solidFill>
          <a:ln/>
        </p:spPr>
      </p:sp>
      <p:pic>
        <p:nvPicPr>
          <p:cNvPr id="12" name="Image 2" descr="preencoded.png">    </p:cNvPr>
          <p:cNvPicPr>
            <a:picLocks noChangeAspect="1"/>
          </p:cNvPicPr>
          <p:nvPr/>
        </p:nvPicPr>
        <p:blipFill>
          <a:blip r:embed="rId3"/>
          <a:stretch>
            <a:fillRect/>
          </a:stretch>
        </p:blipFill>
        <p:spPr>
          <a:xfrm>
            <a:off x="3496300" y="1420612"/>
            <a:ext cx="158008" cy="158008"/>
          </a:xfrm>
          <a:prstGeom prst="rect">
            <a:avLst/>
          </a:prstGeom>
        </p:spPr>
      </p:pic>
      <p:sp>
        <p:nvSpPr>
          <p:cNvPr id="13" name="Text 8"/>
          <p:cNvSpPr/>
          <p:nvPr/>
        </p:nvSpPr>
        <p:spPr>
          <a:xfrm>
            <a:off x="3813048" y="1344168"/>
            <a:ext cx="2011680" cy="310896"/>
          </a:xfrm>
          <a:prstGeom prst="rect">
            <a:avLst/>
          </a:prstGeom>
          <a:noFill/>
          <a:ln/>
        </p:spPr>
        <p:txBody>
          <a:bodyPr wrap="square" lIns="0" tIns="0" rIns="0" bIns="0" rtlCol="0" anchor="ctr"/>
          <a:lstStyle/>
          <a:p>
            <a:pPr indent="0" marL="0">
              <a:buNone/>
            </a:pPr>
            <a:r>
              <a:rPr lang="en-US" sz="1050" b="1" dirty="0">
                <a:solidFill>
                  <a:srgbClr val="16263F"/>
                </a:solidFill>
                <a:latin typeface="Calibri" pitchFamily="34" charset="0"/>
                <a:ea typeface="Calibri" pitchFamily="34" charset="-122"/>
                <a:cs typeface="Calibri" pitchFamily="34" charset="-120"/>
              </a:rPr>
              <a:t>EDGE — the bytes</a:t>
            </a:r>
            <a:endParaRPr lang="en-US" sz="1050" dirty="0"/>
          </a:p>
        </p:txBody>
      </p:sp>
      <p:sp>
        <p:nvSpPr>
          <p:cNvPr id="14" name="Text 9"/>
          <p:cNvSpPr/>
          <p:nvPr/>
        </p:nvSpPr>
        <p:spPr>
          <a:xfrm>
            <a:off x="3429000" y="1700784"/>
            <a:ext cx="2377440" cy="841248"/>
          </a:xfrm>
          <a:prstGeom prst="rect">
            <a:avLst/>
          </a:prstGeom>
          <a:noFill/>
          <a:ln/>
        </p:spPr>
        <p:txBody>
          <a:bodyPr wrap="square" lIns="0" tIns="0" rIns="0" bIns="0" rtlCol="0" anchor="ctr"/>
          <a:lstStyle/>
          <a:p>
            <a:pPr marL="342900" indent="-342900">
              <a:spcAft>
                <a:spcPts val="300"/>
              </a:spcAft>
              <a:buSzPct val="100000"/>
              <a:buChar char="•"/>
            </a:pPr>
            <a:r>
              <a:rPr lang="en-US" sz="860" dirty="0">
                <a:solidFill>
                  <a:srgbClr val="1F2A38"/>
                </a:solidFill>
                <a:latin typeface="Calibri" pitchFamily="34" charset="0"/>
                <a:ea typeface="Calibri" pitchFamily="34" charset="-122"/>
                <a:cs typeface="Calibri" pitchFamily="34" charset="-120"/>
              </a:rPr>
              <a:t>Content-addressed glTF / USD bundles on CDN (immutable, cache-forever)</a:t>
            </a:r>
            <a:endParaRPr lang="en-US" sz="860" dirty="0"/>
          </a:p>
          <a:p>
            <a:pPr marL="342900" indent="-342900">
              <a:spcAft>
                <a:spcPts val="300"/>
              </a:spcAft>
              <a:buSzPct val="100000"/>
              <a:buChar char="•"/>
            </a:pPr>
            <a:r>
              <a:rPr lang="en-US" sz="860" dirty="0">
                <a:solidFill>
                  <a:srgbClr val="1F2A38"/>
                </a:solidFill>
                <a:latin typeface="Calibri" pitchFamily="34" charset="0"/>
                <a:ea typeface="Calibri" pitchFamily="34" charset="-122"/>
                <a:cs typeface="Calibri" pitchFamily="34" charset="-120"/>
              </a:rPr>
              <a:t>Snapshot + delta stream from regional read replicas</a:t>
            </a:r>
            <a:endParaRPr lang="en-US" sz="860" dirty="0"/>
          </a:p>
          <a:p>
            <a:pPr marL="342900" indent="-342900">
              <a:spcAft>
                <a:spcPts val="300"/>
              </a:spcAft>
              <a:buSzPct val="100000"/>
              <a:buChar char="•"/>
            </a:pPr>
            <a:r>
              <a:rPr lang="en-US" sz="860" dirty="0">
                <a:solidFill>
                  <a:srgbClr val="1F2A38"/>
                </a:solidFill>
                <a:latin typeface="Calibri" pitchFamily="34" charset="0"/>
                <a:ea typeface="Calibri" pitchFamily="34" charset="-122"/>
                <a:cs typeface="Calibri" pitchFamily="34" charset="-120"/>
              </a:rPr>
              <a:t>Jobsite node: offline-first viewer + local validation, syncs when the link is up</a:t>
            </a:r>
            <a:endParaRPr lang="en-US" sz="860" dirty="0"/>
          </a:p>
        </p:txBody>
      </p:sp>
      <p:pic>
        <p:nvPicPr>
          <p:cNvPr id="15" name="Image 3" descr="preencoded.png">    </p:cNvPr>
          <p:cNvPicPr>
            <a:picLocks noChangeAspect="1"/>
          </p:cNvPicPr>
          <p:nvPr/>
        </p:nvPicPr>
        <p:blipFill>
          <a:blip r:embed="rId4"/>
          <a:stretch>
            <a:fillRect/>
          </a:stretch>
        </p:blipFill>
        <p:spPr>
          <a:xfrm>
            <a:off x="5907024" y="1783080"/>
            <a:ext cx="219456" cy="219456"/>
          </a:xfrm>
          <a:prstGeom prst="rect">
            <a:avLst/>
          </a:prstGeom>
        </p:spPr>
      </p:pic>
      <p:sp>
        <p:nvSpPr>
          <p:cNvPr id="16" name="Shape 10"/>
          <p:cNvSpPr/>
          <p:nvPr/>
        </p:nvSpPr>
        <p:spPr>
          <a:xfrm>
            <a:off x="6071616" y="1207008"/>
            <a:ext cx="2624328" cy="1371600"/>
          </a:xfrm>
          <a:prstGeom prst="roundRect">
            <a:avLst>
              <a:gd name="adj" fmla="val 4000"/>
            </a:avLst>
          </a:prstGeom>
          <a:solidFill>
            <a:srgbClr val="23375A"/>
          </a:solidFill>
          <a:ln/>
          <a:effectLst>
            <a:outerShdw sx="100000" sy="100000" kx="0" ky="0" algn="bl" rotWithShape="0" blurRad="88900" dist="25400" dir="2700000">
              <a:srgbClr val="000000">
                <a:alpha val="14000"/>
              </a:srgbClr>
            </a:outerShdw>
          </a:effectLst>
        </p:spPr>
      </p:sp>
      <p:sp>
        <p:nvSpPr>
          <p:cNvPr id="17" name="Shape 11"/>
          <p:cNvSpPr/>
          <p:nvPr/>
        </p:nvSpPr>
        <p:spPr>
          <a:xfrm>
            <a:off x="6217920" y="1335024"/>
            <a:ext cx="329184" cy="329184"/>
          </a:xfrm>
          <a:prstGeom prst="ellipse">
            <a:avLst/>
          </a:prstGeom>
          <a:solidFill>
            <a:srgbClr val="16263F"/>
          </a:solidFill>
          <a:ln/>
        </p:spPr>
      </p:sp>
      <p:pic>
        <p:nvPicPr>
          <p:cNvPr id="18" name="Image 4" descr="preencoded.png">    </p:cNvPr>
          <p:cNvPicPr>
            <a:picLocks noChangeAspect="1"/>
          </p:cNvPicPr>
          <p:nvPr/>
        </p:nvPicPr>
        <p:blipFill>
          <a:blip r:embed="rId5"/>
          <a:stretch>
            <a:fillRect/>
          </a:stretch>
        </p:blipFill>
        <p:spPr>
          <a:xfrm>
            <a:off x="6303508" y="1420612"/>
            <a:ext cx="158008" cy="158008"/>
          </a:xfrm>
          <a:prstGeom prst="rect">
            <a:avLst/>
          </a:prstGeom>
        </p:spPr>
      </p:pic>
      <p:sp>
        <p:nvSpPr>
          <p:cNvPr id="19" name="Text 12"/>
          <p:cNvSpPr/>
          <p:nvPr/>
        </p:nvSpPr>
        <p:spPr>
          <a:xfrm>
            <a:off x="6620256" y="1344168"/>
            <a:ext cx="2011680" cy="310896"/>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REGIONAL BRAIN — the truth</a:t>
            </a:r>
            <a:endParaRPr lang="en-US" sz="1050" dirty="0"/>
          </a:p>
        </p:txBody>
      </p:sp>
      <p:sp>
        <p:nvSpPr>
          <p:cNvPr id="20" name="Text 13"/>
          <p:cNvSpPr/>
          <p:nvPr/>
        </p:nvSpPr>
        <p:spPr>
          <a:xfrm>
            <a:off x="6236208" y="1700784"/>
            <a:ext cx="2377440" cy="841248"/>
          </a:xfrm>
          <a:prstGeom prst="rect">
            <a:avLst/>
          </a:prstGeom>
          <a:noFill/>
          <a:ln/>
        </p:spPr>
        <p:txBody>
          <a:bodyPr wrap="square" lIns="0" tIns="0" rIns="0" bIns="0" rtlCol="0" anchor="ctr"/>
          <a:lstStyle/>
          <a:p>
            <a:pPr marL="342900" indent="-342900">
              <a:spcAft>
                <a:spcPts val="300"/>
              </a:spcAft>
              <a:buSzPct val="100000"/>
              <a:buChar char="•"/>
            </a:pPr>
            <a:r>
              <a:rPr lang="en-US" sz="860" dirty="0">
                <a:solidFill>
                  <a:srgbClr val="C9D6E8"/>
                </a:solidFill>
                <a:latin typeface="Calibri" pitchFamily="34" charset="0"/>
                <a:ea typeface="Calibri" pitchFamily="34" charset="-122"/>
                <a:cs typeface="Calibri" pitchFamily="34" charset="-120"/>
              </a:rPr>
              <a:t>Event-sourced Twin API: commands in, events out</a:t>
            </a:r>
            <a:endParaRPr lang="en-US" sz="860" dirty="0"/>
          </a:p>
          <a:p>
            <a:pPr marL="342900" indent="-342900">
              <a:spcAft>
                <a:spcPts val="300"/>
              </a:spcAft>
              <a:buSzPct val="100000"/>
              <a:buChar char="•"/>
            </a:pPr>
            <a:r>
              <a:rPr lang="en-US" sz="860" dirty="0">
                <a:solidFill>
                  <a:srgbClr val="C9D6E8"/>
                </a:solidFill>
                <a:latin typeface="Calibri" pitchFamily="34" charset="0"/>
                <a:ea typeface="Calibri" pitchFamily="34" charset="-122"/>
                <a:cs typeface="Calibri" pitchFamily="34" charset="-120"/>
              </a:rPr>
              <a:t>Knowledge graph + vector retrieval co-located</a:t>
            </a:r>
            <a:endParaRPr lang="en-US" sz="860" dirty="0"/>
          </a:p>
          <a:p>
            <a:pPr marL="342900" indent="-342900">
              <a:spcAft>
                <a:spcPts val="300"/>
              </a:spcAft>
              <a:buSzPct val="100000"/>
              <a:buChar char="•"/>
            </a:pPr>
            <a:r>
              <a:rPr lang="en-US" sz="860" dirty="0">
                <a:solidFill>
                  <a:srgbClr val="C9D6E8"/>
                </a:solidFill>
                <a:latin typeface="Calibri" pitchFamily="34" charset="0"/>
                <a:ea typeface="Calibri" pitchFamily="34" charset="-122"/>
                <a:cs typeface="Calibri" pitchFamily="34" charset="-120"/>
              </a:rPr>
              <a:t>Local-first LLM serving + flywheel — inference stays with the data</a:t>
            </a:r>
            <a:endParaRPr lang="en-US" sz="86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457200" y="2743200"/>
          <a:ext cx="8229600" cy="914400"/>
        </p:xfrm>
        <a:graphic>
          <a:graphicData uri="http://schemas.openxmlformats.org/drawingml/2006/table">
            <a:tbl>
              <a:tblPr/>
              <a:tblGrid>
                <a:gridCol w="548640"/>
                <a:gridCol w="1051560"/>
                <a:gridCol w="3246120"/>
                <a:gridCol w="3383280"/>
              </a:tblGrid>
              <a:tr h="347472">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Tier</a:t>
                      </a:r>
                      <a:endParaRPr lang="en-US" sz="950" dirty="0">
                        <a:latin typeface="Calibri" charset="0"/>
                        <a:ea typeface="Calibri" charset="0"/>
                        <a:cs typeface="Calibri" charset="0"/>
                      </a:endParaRPr>
                    </a:p>
                  </a:txBody>
                  <a:tcPr marL="41148" marR="41148" marT="41148" marB="41148" anchor="ctr">
                    <a:lnL w="6350" cap="flat" cmpd="sng" algn="ctr">
                      <a:solidFill>
                        <a:srgbClr val="DFE6EE"/>
                      </a:solidFill>
                      <a:prstDash val="solid"/>
                      <a:round/>
                      <a:headEnd type="none" w="med" len="med"/>
                      <a:tailEnd type="none" w="med" len="med"/>
                    </a:lnL>
                    <a:lnR w="6350" cap="flat" cmpd="sng" algn="ctr">
                      <a:solidFill>
                        <a:srgbClr val="DFE6EE"/>
                      </a:solidFill>
                      <a:prstDash val="solid"/>
                      <a:round/>
                      <a:headEnd type="none" w="med" len="med"/>
                      <a:tailEnd type="none" w="med" len="med"/>
                    </a:lnR>
                    <a:lnT w="6350" cap="flat" cmpd="sng" algn="ctr">
                      <a:solidFill>
                        <a:srgbClr val="DFE6EE"/>
                      </a:solidFill>
                      <a:prstDash val="solid"/>
                      <a:round/>
                      <a:headEnd type="none" w="med" len="med"/>
                      <a:tailEnd type="none" w="med" len="med"/>
                    </a:lnT>
                    <a:lnB w="6350" cap="flat" cmpd="sng" algn="ctr">
                      <a:solidFill>
                        <a:srgbClr val="DFE6EE"/>
                      </a:solidFill>
                      <a:prstDash val="solid"/>
                      <a:round/>
                      <a:headEnd type="none" w="med" len="med"/>
                      <a:tailEnd type="none" w="med" len="med"/>
                    </a:lnB>
                    <a:solidFill>
                      <a:srgbClr val="16263F"/>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Budget</a:t>
                      </a:r>
                      <a:endParaRPr lang="en-US" sz="950" dirty="0">
                        <a:latin typeface="Calibri" charset="0"/>
                        <a:ea typeface="Calibri" charset="0"/>
                        <a:cs typeface="Calibri" charset="0"/>
                      </a:endParaRPr>
                    </a:p>
                  </a:txBody>
                  <a:tcPr marL="41148" marR="41148" marT="41148" marB="41148" anchor="ctr">
                    <a:lnL w="6350" cap="flat" cmpd="sng" algn="ctr">
                      <a:solidFill>
                        <a:srgbClr val="DFE6EE"/>
                      </a:solidFill>
                      <a:prstDash val="solid"/>
                      <a:round/>
                      <a:headEnd type="none" w="med" len="med"/>
                      <a:tailEnd type="none" w="med" len="med"/>
                    </a:lnL>
                    <a:lnR w="6350" cap="flat" cmpd="sng" algn="ctr">
                      <a:solidFill>
                        <a:srgbClr val="DFE6EE"/>
                      </a:solidFill>
                      <a:prstDash val="solid"/>
                      <a:round/>
                      <a:headEnd type="none" w="med" len="med"/>
                      <a:tailEnd type="none" w="med" len="med"/>
                    </a:lnR>
                    <a:lnT w="6350" cap="flat" cmpd="sng" algn="ctr">
                      <a:solidFill>
                        <a:srgbClr val="DFE6EE"/>
                      </a:solidFill>
                      <a:prstDash val="solid"/>
                      <a:round/>
                      <a:headEnd type="none" w="med" len="med"/>
                      <a:tailEnd type="none" w="med" len="med"/>
                    </a:lnT>
                    <a:lnB w="6350" cap="flat" cmpd="sng" algn="ctr">
                      <a:solidFill>
                        <a:srgbClr val="DFE6EE"/>
                      </a:solidFill>
                      <a:prstDash val="solid"/>
                      <a:round/>
                      <a:headEnd type="none" w="med" len="med"/>
                      <a:tailEnd type="none" w="med" len="med"/>
                    </a:lnB>
                    <a:solidFill>
                      <a:srgbClr val="16263F"/>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Mechanism</a:t>
                      </a:r>
                      <a:endParaRPr lang="en-US" sz="950" dirty="0">
                        <a:latin typeface="Calibri" charset="0"/>
                        <a:ea typeface="Calibri" charset="0"/>
                        <a:cs typeface="Calibri" charset="0"/>
                      </a:endParaRPr>
                    </a:p>
                  </a:txBody>
                  <a:tcPr marL="41148" marR="41148" marT="41148" marB="41148" anchor="ctr">
                    <a:lnL w="6350" cap="flat" cmpd="sng" algn="ctr">
                      <a:solidFill>
                        <a:srgbClr val="DFE6EE"/>
                      </a:solidFill>
                      <a:prstDash val="solid"/>
                      <a:round/>
                      <a:headEnd type="none" w="med" len="med"/>
                      <a:tailEnd type="none" w="med" len="med"/>
                    </a:lnL>
                    <a:lnR w="6350" cap="flat" cmpd="sng" algn="ctr">
                      <a:solidFill>
                        <a:srgbClr val="DFE6EE"/>
                      </a:solidFill>
                      <a:prstDash val="solid"/>
                      <a:round/>
                      <a:headEnd type="none" w="med" len="med"/>
                      <a:tailEnd type="none" w="med" len="med"/>
                    </a:lnR>
                    <a:lnT w="6350" cap="flat" cmpd="sng" algn="ctr">
                      <a:solidFill>
                        <a:srgbClr val="DFE6EE"/>
                      </a:solidFill>
                      <a:prstDash val="solid"/>
                      <a:round/>
                      <a:headEnd type="none" w="med" len="med"/>
                      <a:tailEnd type="none" w="med" len="med"/>
                    </a:lnT>
                    <a:lnB w="6350" cap="flat" cmpd="sng" algn="ctr">
                      <a:solidFill>
                        <a:srgbClr val="DFE6EE"/>
                      </a:solidFill>
                      <a:prstDash val="solid"/>
                      <a:round/>
                      <a:headEnd type="none" w="med" len="med"/>
                      <a:tailEnd type="none" w="med" len="med"/>
                    </a:lnB>
                    <a:solidFill>
                      <a:srgbClr val="16263F"/>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What lives here</a:t>
                      </a:r>
                      <a:endParaRPr lang="en-US" sz="950" dirty="0">
                        <a:latin typeface="Calibri" charset="0"/>
                        <a:ea typeface="Calibri" charset="0"/>
                        <a:cs typeface="Calibri" charset="0"/>
                      </a:endParaRPr>
                    </a:p>
                  </a:txBody>
                  <a:tcPr marL="41148" marR="41148" marT="41148" marB="41148" anchor="ctr">
                    <a:lnL w="6350" cap="flat" cmpd="sng" algn="ctr">
                      <a:solidFill>
                        <a:srgbClr val="DFE6EE"/>
                      </a:solidFill>
                      <a:prstDash val="solid"/>
                      <a:round/>
                      <a:headEnd type="none" w="med" len="med"/>
                      <a:tailEnd type="none" w="med" len="med"/>
                    </a:lnL>
                    <a:lnR w="6350" cap="flat" cmpd="sng" algn="ctr">
                      <a:solidFill>
                        <a:srgbClr val="DFE6EE"/>
                      </a:solidFill>
                      <a:prstDash val="solid"/>
                      <a:round/>
                      <a:headEnd type="none" w="med" len="med"/>
                      <a:tailEnd type="none" w="med" len="med"/>
                    </a:lnR>
                    <a:lnT w="6350" cap="flat" cmpd="sng" algn="ctr">
                      <a:solidFill>
                        <a:srgbClr val="DFE6EE"/>
                      </a:solidFill>
                      <a:prstDash val="solid"/>
                      <a:round/>
                      <a:headEnd type="none" w="med" len="med"/>
                      <a:tailEnd type="none" w="med" len="med"/>
                    </a:lnT>
                    <a:lnB w="6350" cap="flat" cmpd="sng" algn="ctr">
                      <a:solidFill>
                        <a:srgbClr val="DFE6EE"/>
                      </a:solidFill>
                      <a:prstDash val="solid"/>
                      <a:round/>
                      <a:headEnd type="none" w="med" len="med"/>
                      <a:tailEnd type="none" w="med" len="med"/>
                    </a:lnB>
                    <a:solidFill>
                      <a:srgbClr val="16263F"/>
                    </a:solidFill>
                  </a:tcPr>
                </a:tc>
              </a:tr>
              <a:tr h="347472">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T0</a:t>
                      </a:r>
                      <a:endParaRPr lang="en-US" sz="950" dirty="0">
                        <a:latin typeface="Calibri" charset="0"/>
                        <a:ea typeface="Calibri" charset="0"/>
                        <a:cs typeface="Calibri" charset="0"/>
                      </a:endParaRPr>
                    </a:p>
                  </a:txBody>
                  <a:tcPr marL="41148" marR="41148" marT="41148" marB="41148" anchor="ctr">
                    <a:lnL w="6350" cap="flat" cmpd="sng" algn="ctr">
                      <a:solidFill>
                        <a:srgbClr val="DFE6EE"/>
                      </a:solidFill>
                      <a:prstDash val="solid"/>
                      <a:round/>
                      <a:headEnd type="none" w="med" len="med"/>
                      <a:tailEnd type="none" w="med" len="med"/>
                    </a:lnL>
                    <a:lnR w="6350" cap="flat" cmpd="sng" algn="ctr">
                      <a:solidFill>
                        <a:srgbClr val="DFE6EE"/>
                      </a:solidFill>
                      <a:prstDash val="solid"/>
                      <a:round/>
                      <a:headEnd type="none" w="med" len="med"/>
                      <a:tailEnd type="none" w="med" len="med"/>
                    </a:lnR>
                    <a:lnT w="6350" cap="flat" cmpd="sng" algn="ctr">
                      <a:solidFill>
                        <a:srgbClr val="DFE6EE"/>
                      </a:solidFill>
                      <a:prstDash val="solid"/>
                      <a:round/>
                      <a:headEnd type="none" w="med" len="med"/>
                      <a:tailEnd type="none" w="med" len="med"/>
                    </a:lnT>
                    <a:lnB w="6350" cap="flat" cmpd="sng" algn="ctr">
                      <a:solidFill>
                        <a:srgbClr val="DFE6EE"/>
                      </a:solidFill>
                      <a:prstDash val="solid"/>
                      <a:round/>
                      <a:headEnd type="none" w="med" len="med"/>
                      <a:tailEnd type="none" w="med" len="med"/>
                    </a:lnB>
                    <a:solidFill>
                      <a:srgbClr val="C78F0D"/>
                    </a:solidFill>
                  </a:tcPr>
                </a:tc>
                <a:tc>
                  <a:txBody>
                    <a:bodyPr/>
                    <a:lstStyle/>
                    <a:p>
                      <a:pPr indent="0" marL="0">
                        <a:buNone/>
                      </a:pPr>
                      <a:r>
                        <a:rPr lang="en-US" sz="900" b="1" dirty="0">
                          <a:solidFill>
                            <a:srgbClr val="16263F"/>
                          </a:solidFill>
                          <a:latin typeface="Calibri" pitchFamily="34" charset="0"/>
                          <a:ea typeface="Calibri" pitchFamily="34" charset="-122"/>
                          <a:cs typeface="Calibri" pitchFamily="34" charset="-120"/>
                        </a:rPr>
                        <a:t>&lt; 16 ms</a:t>
                      </a:r>
                      <a:endParaRPr lang="en-US" sz="900" dirty="0">
                        <a:latin typeface="Calibri" charset="0"/>
                        <a:ea typeface="Calibri" charset="0"/>
                        <a:cs typeface="Calibri" charset="0"/>
                      </a:endParaRPr>
                    </a:p>
                  </a:txBody>
                  <a:tcPr marL="41148" marR="41148" marT="41148" marB="41148" anchor="ctr">
                    <a:lnL w="6350" cap="flat" cmpd="sng" algn="ctr">
                      <a:solidFill>
                        <a:srgbClr val="DFE6EE"/>
                      </a:solidFill>
                      <a:prstDash val="solid"/>
                      <a:round/>
                      <a:headEnd type="none" w="med" len="med"/>
                      <a:tailEnd type="none" w="med" len="med"/>
                    </a:lnL>
                    <a:lnR w="6350" cap="flat" cmpd="sng" algn="ctr">
                      <a:solidFill>
                        <a:srgbClr val="DFE6EE"/>
                      </a:solidFill>
                      <a:prstDash val="solid"/>
                      <a:round/>
                      <a:headEnd type="none" w="med" len="med"/>
                      <a:tailEnd type="none" w="med" len="med"/>
                    </a:lnR>
                    <a:lnT w="6350" cap="flat" cmpd="sng" algn="ctr">
                      <a:solidFill>
                        <a:srgbClr val="DFE6EE"/>
                      </a:solidFill>
                      <a:prstDash val="solid"/>
                      <a:round/>
                      <a:headEnd type="none" w="med" len="med"/>
                      <a:tailEnd type="none" w="med" len="med"/>
                    </a:lnT>
                    <a:lnB w="6350" cap="flat" cmpd="sng" algn="ctr">
                      <a:solidFill>
                        <a:srgbClr val="DFE6EE"/>
                      </a:solidFill>
                      <a:prstDash val="solid"/>
                      <a:round/>
                      <a:headEnd type="none" w="med" len="med"/>
                      <a:tailEnd type="none" w="med" len="med"/>
                    </a:lnB>
                    <a:solidFill>
                      <a:srgbClr val="FFFFFF"/>
                    </a:solidFill>
                  </a:tcPr>
                </a:tc>
                <a:tc>
                  <a:txBody>
                    <a:bodyPr/>
                    <a:lstStyle/>
                    <a:p>
                      <a:pPr indent="0" marL="0">
                        <a:buNone/>
                      </a:pPr>
                      <a:r>
                        <a:rPr lang="en-US" sz="900" dirty="0">
                          <a:solidFill>
                            <a:srgbClr val="1F2A38"/>
                          </a:solidFill>
                          <a:latin typeface="Calibri" pitchFamily="34" charset="0"/>
                          <a:ea typeface="Calibri" pitchFamily="34" charset="-122"/>
                          <a:cs typeface="Calibri" pitchFamily="34" charset="-120"/>
                        </a:rPr>
                        <a:t>Never networked — pure Unity</a:t>
                      </a:r>
                      <a:endParaRPr lang="en-US" sz="900" dirty="0">
                        <a:latin typeface="Calibri" charset="0"/>
                        <a:ea typeface="Calibri" charset="0"/>
                        <a:cs typeface="Calibri" charset="0"/>
                      </a:endParaRPr>
                    </a:p>
                  </a:txBody>
                  <a:tcPr marL="41148" marR="41148" marT="41148" marB="41148" anchor="ctr">
                    <a:lnL w="6350" cap="flat" cmpd="sng" algn="ctr">
                      <a:solidFill>
                        <a:srgbClr val="DFE6EE"/>
                      </a:solidFill>
                      <a:prstDash val="solid"/>
                      <a:round/>
                      <a:headEnd type="none" w="med" len="med"/>
                      <a:tailEnd type="none" w="med" len="med"/>
                    </a:lnL>
                    <a:lnR w="6350" cap="flat" cmpd="sng" algn="ctr">
                      <a:solidFill>
                        <a:srgbClr val="DFE6EE"/>
                      </a:solidFill>
                      <a:prstDash val="solid"/>
                      <a:round/>
                      <a:headEnd type="none" w="med" len="med"/>
                      <a:tailEnd type="none" w="med" len="med"/>
                    </a:lnR>
                    <a:lnT w="6350" cap="flat" cmpd="sng" algn="ctr">
                      <a:solidFill>
                        <a:srgbClr val="DFE6EE"/>
                      </a:solidFill>
                      <a:prstDash val="solid"/>
                      <a:round/>
                      <a:headEnd type="none" w="med" len="med"/>
                      <a:tailEnd type="none" w="med" len="med"/>
                    </a:lnT>
                    <a:lnB w="6350" cap="flat" cmpd="sng" algn="ctr">
                      <a:solidFill>
                        <a:srgbClr val="DFE6EE"/>
                      </a:solidFill>
                      <a:prstDash val="solid"/>
                      <a:round/>
                      <a:headEnd type="none" w="med" len="med"/>
                      <a:tailEnd type="none" w="med" len="med"/>
                    </a:lnB>
                    <a:solidFill>
                      <a:srgbClr val="FFFFFF"/>
                    </a:solidFill>
                  </a:tcPr>
                </a:tc>
                <a:tc>
                  <a:txBody>
                    <a:bodyPr/>
                    <a:lstStyle/>
                    <a:p>
                      <a:pPr indent="0" marL="0">
                        <a:buNone/>
                      </a:pPr>
                      <a:r>
                        <a:rPr lang="en-US" sz="900" dirty="0">
                          <a:solidFill>
                            <a:srgbClr val="1F2A38"/>
                          </a:solidFill>
                          <a:latin typeface="Calibri" pitchFamily="34" charset="0"/>
                          <a:ea typeface="Calibri" pitchFamily="34" charset="-122"/>
                          <a:cs typeface="Calibri" pitchFamily="34" charset="-120"/>
                        </a:rPr>
                        <a:t>Camera, hover, selection, drag preview</a:t>
                      </a:r>
                      <a:endParaRPr lang="en-US" sz="900" dirty="0">
                        <a:latin typeface="Calibri" charset="0"/>
                        <a:ea typeface="Calibri" charset="0"/>
                        <a:cs typeface="Calibri" charset="0"/>
                      </a:endParaRPr>
                    </a:p>
                  </a:txBody>
                  <a:tcPr marL="41148" marR="41148" marT="41148" marB="41148" anchor="ctr">
                    <a:lnL w="6350" cap="flat" cmpd="sng" algn="ctr">
                      <a:solidFill>
                        <a:srgbClr val="DFE6EE"/>
                      </a:solidFill>
                      <a:prstDash val="solid"/>
                      <a:round/>
                      <a:headEnd type="none" w="med" len="med"/>
                      <a:tailEnd type="none" w="med" len="med"/>
                    </a:lnL>
                    <a:lnR w="6350" cap="flat" cmpd="sng" algn="ctr">
                      <a:solidFill>
                        <a:srgbClr val="DFE6EE"/>
                      </a:solidFill>
                      <a:prstDash val="solid"/>
                      <a:round/>
                      <a:headEnd type="none" w="med" len="med"/>
                      <a:tailEnd type="none" w="med" len="med"/>
                    </a:lnR>
                    <a:lnT w="6350" cap="flat" cmpd="sng" algn="ctr">
                      <a:solidFill>
                        <a:srgbClr val="DFE6EE"/>
                      </a:solidFill>
                      <a:prstDash val="solid"/>
                      <a:round/>
                      <a:headEnd type="none" w="med" len="med"/>
                      <a:tailEnd type="none" w="med" len="med"/>
                    </a:lnT>
                    <a:lnB w="6350" cap="flat" cmpd="sng" algn="ctr">
                      <a:solidFill>
                        <a:srgbClr val="DFE6EE"/>
                      </a:solidFill>
                      <a:prstDash val="solid"/>
                      <a:round/>
                      <a:headEnd type="none" w="med" len="med"/>
                      <a:tailEnd type="none" w="med" len="med"/>
                    </a:lnB>
                    <a:solidFill>
                      <a:srgbClr val="FFFFFF"/>
                    </a:solidFill>
                  </a:tcPr>
                </a:tc>
              </a:tr>
              <a:tr h="347472">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T1</a:t>
                      </a:r>
                      <a:endParaRPr lang="en-US" sz="950" dirty="0">
                        <a:latin typeface="Calibri" charset="0"/>
                        <a:ea typeface="Calibri" charset="0"/>
                        <a:cs typeface="Calibri" charset="0"/>
                      </a:endParaRPr>
                    </a:p>
                  </a:txBody>
                  <a:tcPr marL="41148" marR="41148" marT="41148" marB="41148" anchor="ctr">
                    <a:lnL w="6350" cap="flat" cmpd="sng" algn="ctr">
                      <a:solidFill>
                        <a:srgbClr val="DFE6EE"/>
                      </a:solidFill>
                      <a:prstDash val="solid"/>
                      <a:round/>
                      <a:headEnd type="none" w="med" len="med"/>
                      <a:tailEnd type="none" w="med" len="med"/>
                    </a:lnL>
                    <a:lnR w="6350" cap="flat" cmpd="sng" algn="ctr">
                      <a:solidFill>
                        <a:srgbClr val="DFE6EE"/>
                      </a:solidFill>
                      <a:prstDash val="solid"/>
                      <a:round/>
                      <a:headEnd type="none" w="med" len="med"/>
                      <a:tailEnd type="none" w="med" len="med"/>
                    </a:lnR>
                    <a:lnT w="6350" cap="flat" cmpd="sng" algn="ctr">
                      <a:solidFill>
                        <a:srgbClr val="DFE6EE"/>
                      </a:solidFill>
                      <a:prstDash val="solid"/>
                      <a:round/>
                      <a:headEnd type="none" w="med" len="med"/>
                      <a:tailEnd type="none" w="med" len="med"/>
                    </a:lnT>
                    <a:lnB w="6350" cap="flat" cmpd="sng" algn="ctr">
                      <a:solidFill>
                        <a:srgbClr val="DFE6EE"/>
                      </a:solidFill>
                      <a:prstDash val="solid"/>
                      <a:round/>
                      <a:headEnd type="none" w="med" len="med"/>
                      <a:tailEnd type="none" w="med" len="med"/>
                    </a:lnB>
                    <a:solidFill>
                      <a:srgbClr val="C78F0D"/>
                    </a:solidFill>
                  </a:tcPr>
                </a:tc>
                <a:tc>
                  <a:txBody>
                    <a:bodyPr/>
                    <a:lstStyle/>
                    <a:p>
                      <a:pPr indent="0" marL="0">
                        <a:buNone/>
                      </a:pPr>
                      <a:r>
                        <a:rPr lang="en-US" sz="900" b="1" dirty="0">
                          <a:solidFill>
                            <a:srgbClr val="16263F"/>
                          </a:solidFill>
                          <a:latin typeface="Calibri" pitchFamily="34" charset="0"/>
                          <a:ea typeface="Calibri" pitchFamily="34" charset="-122"/>
                          <a:cs typeface="Calibri" pitchFamily="34" charset="-120"/>
                        </a:rPr>
                        <a:t>50–150 ms</a:t>
                      </a:r>
                      <a:endParaRPr lang="en-US" sz="900" dirty="0">
                        <a:latin typeface="Calibri" charset="0"/>
                        <a:ea typeface="Calibri" charset="0"/>
                        <a:cs typeface="Calibri" charset="0"/>
                      </a:endParaRPr>
                    </a:p>
                  </a:txBody>
                  <a:tcPr marL="41148" marR="41148" marT="41148" marB="41148" anchor="ctr">
                    <a:lnL w="6350" cap="flat" cmpd="sng" algn="ctr">
                      <a:solidFill>
                        <a:srgbClr val="DFE6EE"/>
                      </a:solidFill>
                      <a:prstDash val="solid"/>
                      <a:round/>
                      <a:headEnd type="none" w="med" len="med"/>
                      <a:tailEnd type="none" w="med" len="med"/>
                    </a:lnL>
                    <a:lnR w="6350" cap="flat" cmpd="sng" algn="ctr">
                      <a:solidFill>
                        <a:srgbClr val="DFE6EE"/>
                      </a:solidFill>
                      <a:prstDash val="solid"/>
                      <a:round/>
                      <a:headEnd type="none" w="med" len="med"/>
                      <a:tailEnd type="none" w="med" len="med"/>
                    </a:lnR>
                    <a:lnT w="6350" cap="flat" cmpd="sng" algn="ctr">
                      <a:solidFill>
                        <a:srgbClr val="DFE6EE"/>
                      </a:solidFill>
                      <a:prstDash val="solid"/>
                      <a:round/>
                      <a:headEnd type="none" w="med" len="med"/>
                      <a:tailEnd type="none" w="med" len="med"/>
                    </a:lnT>
                    <a:lnB w="6350" cap="flat" cmpd="sng" algn="ctr">
                      <a:solidFill>
                        <a:srgbClr val="DFE6EE"/>
                      </a:solidFill>
                      <a:prstDash val="solid"/>
                      <a:round/>
                      <a:headEnd type="none" w="med" len="med"/>
                      <a:tailEnd type="none" w="med" len="med"/>
                    </a:lnB>
                    <a:solidFill>
                      <a:srgbClr val="F3F6FA"/>
                    </a:solidFill>
                  </a:tcPr>
                </a:tc>
                <a:tc>
                  <a:txBody>
                    <a:bodyPr/>
                    <a:lstStyle/>
                    <a:p>
                      <a:pPr indent="0" marL="0">
                        <a:buNone/>
                      </a:pPr>
                      <a:r>
                        <a:rPr lang="en-US" sz="900" dirty="0">
                          <a:solidFill>
                            <a:srgbClr val="1F2A38"/>
                          </a:solidFill>
                          <a:latin typeface="Calibri" pitchFamily="34" charset="0"/>
                          <a:ea typeface="Calibri" pitchFamily="34" charset="-122"/>
                          <a:cs typeface="Calibri" pitchFamily="34" charset="-120"/>
                        </a:rPr>
                        <a:t>Optimistic + edge confirm — snaps instantly, certifies asynchronously</a:t>
                      </a:r>
                      <a:endParaRPr lang="en-US" sz="900" dirty="0">
                        <a:latin typeface="Calibri" charset="0"/>
                        <a:ea typeface="Calibri" charset="0"/>
                        <a:cs typeface="Calibri" charset="0"/>
                      </a:endParaRPr>
                    </a:p>
                  </a:txBody>
                  <a:tcPr marL="41148" marR="41148" marT="41148" marB="41148" anchor="ctr">
                    <a:lnL w="6350" cap="flat" cmpd="sng" algn="ctr">
                      <a:solidFill>
                        <a:srgbClr val="DFE6EE"/>
                      </a:solidFill>
                      <a:prstDash val="solid"/>
                      <a:round/>
                      <a:headEnd type="none" w="med" len="med"/>
                      <a:tailEnd type="none" w="med" len="med"/>
                    </a:lnL>
                    <a:lnR w="6350" cap="flat" cmpd="sng" algn="ctr">
                      <a:solidFill>
                        <a:srgbClr val="DFE6EE"/>
                      </a:solidFill>
                      <a:prstDash val="solid"/>
                      <a:round/>
                      <a:headEnd type="none" w="med" len="med"/>
                      <a:tailEnd type="none" w="med" len="med"/>
                    </a:lnR>
                    <a:lnT w="6350" cap="flat" cmpd="sng" algn="ctr">
                      <a:solidFill>
                        <a:srgbClr val="DFE6EE"/>
                      </a:solidFill>
                      <a:prstDash val="solid"/>
                      <a:round/>
                      <a:headEnd type="none" w="med" len="med"/>
                      <a:tailEnd type="none" w="med" len="med"/>
                    </a:lnT>
                    <a:lnB w="6350" cap="flat" cmpd="sng" algn="ctr">
                      <a:solidFill>
                        <a:srgbClr val="DFE6EE"/>
                      </a:solidFill>
                      <a:prstDash val="solid"/>
                      <a:round/>
                      <a:headEnd type="none" w="med" len="med"/>
                      <a:tailEnd type="none" w="med" len="med"/>
                    </a:lnB>
                    <a:solidFill>
                      <a:srgbClr val="F3F6FA"/>
                    </a:solidFill>
                  </a:tcPr>
                </a:tc>
                <a:tc>
                  <a:txBody>
                    <a:bodyPr/>
                    <a:lstStyle/>
                    <a:p>
                      <a:pPr indent="0" marL="0">
                        <a:buNone/>
                      </a:pPr>
                      <a:r>
                        <a:rPr lang="en-US" sz="900" dirty="0">
                          <a:solidFill>
                            <a:srgbClr val="1F2A38"/>
                          </a:solidFill>
                          <a:latin typeface="Calibri" pitchFamily="34" charset="0"/>
                          <a:ea typeface="Calibri" pitchFamily="34" charset="-122"/>
                          <a:cs typeface="Calibri" pitchFamily="34" charset="-120"/>
                        </a:rPr>
                        <a:t>Placement validated against a cached rule subset; authoritative verdict replaces the provisional one</a:t>
                      </a:r>
                      <a:endParaRPr lang="en-US" sz="900" dirty="0">
                        <a:latin typeface="Calibri" charset="0"/>
                        <a:ea typeface="Calibri" charset="0"/>
                        <a:cs typeface="Calibri" charset="0"/>
                      </a:endParaRPr>
                    </a:p>
                  </a:txBody>
                  <a:tcPr marL="41148" marR="41148" marT="41148" marB="41148" anchor="ctr">
                    <a:lnL w="6350" cap="flat" cmpd="sng" algn="ctr">
                      <a:solidFill>
                        <a:srgbClr val="DFE6EE"/>
                      </a:solidFill>
                      <a:prstDash val="solid"/>
                      <a:round/>
                      <a:headEnd type="none" w="med" len="med"/>
                      <a:tailEnd type="none" w="med" len="med"/>
                    </a:lnL>
                    <a:lnR w="6350" cap="flat" cmpd="sng" algn="ctr">
                      <a:solidFill>
                        <a:srgbClr val="DFE6EE"/>
                      </a:solidFill>
                      <a:prstDash val="solid"/>
                      <a:round/>
                      <a:headEnd type="none" w="med" len="med"/>
                      <a:tailEnd type="none" w="med" len="med"/>
                    </a:lnR>
                    <a:lnT w="6350" cap="flat" cmpd="sng" algn="ctr">
                      <a:solidFill>
                        <a:srgbClr val="DFE6EE"/>
                      </a:solidFill>
                      <a:prstDash val="solid"/>
                      <a:round/>
                      <a:headEnd type="none" w="med" len="med"/>
                      <a:tailEnd type="none" w="med" len="med"/>
                    </a:lnT>
                    <a:lnB w="6350" cap="flat" cmpd="sng" algn="ctr">
                      <a:solidFill>
                        <a:srgbClr val="DFE6EE"/>
                      </a:solidFill>
                      <a:prstDash val="solid"/>
                      <a:round/>
                      <a:headEnd type="none" w="med" len="med"/>
                      <a:tailEnd type="none" w="med" len="med"/>
                    </a:lnB>
                    <a:solidFill>
                      <a:srgbClr val="F3F6FA"/>
                    </a:solidFill>
                  </a:tcPr>
                </a:tc>
              </a:tr>
              <a:tr h="347472">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T2</a:t>
                      </a:r>
                      <a:endParaRPr lang="en-US" sz="950" dirty="0">
                        <a:latin typeface="Calibri" charset="0"/>
                        <a:ea typeface="Calibri" charset="0"/>
                        <a:cs typeface="Calibri" charset="0"/>
                      </a:endParaRPr>
                    </a:p>
                  </a:txBody>
                  <a:tcPr marL="41148" marR="41148" marT="41148" marB="41148" anchor="ctr">
                    <a:lnL w="6350" cap="flat" cmpd="sng" algn="ctr">
                      <a:solidFill>
                        <a:srgbClr val="DFE6EE"/>
                      </a:solidFill>
                      <a:prstDash val="solid"/>
                      <a:round/>
                      <a:headEnd type="none" w="med" len="med"/>
                      <a:tailEnd type="none" w="med" len="med"/>
                    </a:lnL>
                    <a:lnR w="6350" cap="flat" cmpd="sng" algn="ctr">
                      <a:solidFill>
                        <a:srgbClr val="DFE6EE"/>
                      </a:solidFill>
                      <a:prstDash val="solid"/>
                      <a:round/>
                      <a:headEnd type="none" w="med" len="med"/>
                      <a:tailEnd type="none" w="med" len="med"/>
                    </a:lnR>
                    <a:lnT w="6350" cap="flat" cmpd="sng" algn="ctr">
                      <a:solidFill>
                        <a:srgbClr val="DFE6EE"/>
                      </a:solidFill>
                      <a:prstDash val="solid"/>
                      <a:round/>
                      <a:headEnd type="none" w="med" len="med"/>
                      <a:tailEnd type="none" w="med" len="med"/>
                    </a:lnT>
                    <a:lnB w="6350" cap="flat" cmpd="sng" algn="ctr">
                      <a:solidFill>
                        <a:srgbClr val="DFE6EE"/>
                      </a:solidFill>
                      <a:prstDash val="solid"/>
                      <a:round/>
                      <a:headEnd type="none" w="med" len="med"/>
                      <a:tailEnd type="none" w="med" len="med"/>
                    </a:lnB>
                    <a:solidFill>
                      <a:srgbClr val="C78F0D"/>
                    </a:solidFill>
                  </a:tcPr>
                </a:tc>
                <a:tc>
                  <a:txBody>
                    <a:bodyPr/>
                    <a:lstStyle/>
                    <a:p>
                      <a:pPr indent="0" marL="0">
                        <a:buNone/>
                      </a:pPr>
                      <a:r>
                        <a:rPr lang="en-US" sz="900" b="1" dirty="0">
                          <a:solidFill>
                            <a:srgbClr val="16263F"/>
                          </a:solidFill>
                          <a:latin typeface="Calibri" pitchFamily="34" charset="0"/>
                          <a:ea typeface="Calibri" pitchFamily="34" charset="-122"/>
                          <a:cs typeface="Calibri" pitchFamily="34" charset="-120"/>
                        </a:rPr>
                        <a:t>Seconds</a:t>
                      </a:r>
                      <a:endParaRPr lang="en-US" sz="900" dirty="0">
                        <a:latin typeface="Calibri" charset="0"/>
                        <a:ea typeface="Calibri" charset="0"/>
                        <a:cs typeface="Calibri" charset="0"/>
                      </a:endParaRPr>
                    </a:p>
                  </a:txBody>
                  <a:tcPr marL="41148" marR="41148" marT="41148" marB="41148" anchor="ctr">
                    <a:lnL w="6350" cap="flat" cmpd="sng" algn="ctr">
                      <a:solidFill>
                        <a:srgbClr val="DFE6EE"/>
                      </a:solidFill>
                      <a:prstDash val="solid"/>
                      <a:round/>
                      <a:headEnd type="none" w="med" len="med"/>
                      <a:tailEnd type="none" w="med" len="med"/>
                    </a:lnL>
                    <a:lnR w="6350" cap="flat" cmpd="sng" algn="ctr">
                      <a:solidFill>
                        <a:srgbClr val="DFE6EE"/>
                      </a:solidFill>
                      <a:prstDash val="solid"/>
                      <a:round/>
                      <a:headEnd type="none" w="med" len="med"/>
                      <a:tailEnd type="none" w="med" len="med"/>
                    </a:lnR>
                    <a:lnT w="6350" cap="flat" cmpd="sng" algn="ctr">
                      <a:solidFill>
                        <a:srgbClr val="DFE6EE"/>
                      </a:solidFill>
                      <a:prstDash val="solid"/>
                      <a:round/>
                      <a:headEnd type="none" w="med" len="med"/>
                      <a:tailEnd type="none" w="med" len="med"/>
                    </a:lnT>
                    <a:lnB w="6350" cap="flat" cmpd="sng" algn="ctr">
                      <a:solidFill>
                        <a:srgbClr val="DFE6EE"/>
                      </a:solidFill>
                      <a:prstDash val="solid"/>
                      <a:round/>
                      <a:headEnd type="none" w="med" len="med"/>
                      <a:tailEnd type="none" w="med" len="med"/>
                    </a:lnB>
                    <a:solidFill>
                      <a:srgbClr val="FFFFFF"/>
                    </a:solidFill>
                  </a:tcPr>
                </a:tc>
                <a:tc>
                  <a:txBody>
                    <a:bodyPr/>
                    <a:lstStyle/>
                    <a:p>
                      <a:pPr indent="0" marL="0">
                        <a:buNone/>
                      </a:pPr>
                      <a:r>
                        <a:rPr lang="en-US" sz="900" dirty="0">
                          <a:solidFill>
                            <a:srgbClr val="1F2A38"/>
                          </a:solidFill>
                          <a:latin typeface="Calibri" pitchFamily="34" charset="0"/>
                          <a:ea typeface="Calibri" pitchFamily="34" charset="-122"/>
                          <a:cs typeface="Calibri" pitchFamily="34" charset="-120"/>
                        </a:rPr>
                        <a:t>Streamed, non-blocking overlays</a:t>
                      </a:r>
                      <a:endParaRPr lang="en-US" sz="900" dirty="0">
                        <a:latin typeface="Calibri" charset="0"/>
                        <a:ea typeface="Calibri" charset="0"/>
                        <a:cs typeface="Calibri" charset="0"/>
                      </a:endParaRPr>
                    </a:p>
                  </a:txBody>
                  <a:tcPr marL="41148" marR="41148" marT="41148" marB="41148" anchor="ctr">
                    <a:lnL w="6350" cap="flat" cmpd="sng" algn="ctr">
                      <a:solidFill>
                        <a:srgbClr val="DFE6EE"/>
                      </a:solidFill>
                      <a:prstDash val="solid"/>
                      <a:round/>
                      <a:headEnd type="none" w="med" len="med"/>
                      <a:tailEnd type="none" w="med" len="med"/>
                    </a:lnL>
                    <a:lnR w="6350" cap="flat" cmpd="sng" algn="ctr">
                      <a:solidFill>
                        <a:srgbClr val="DFE6EE"/>
                      </a:solidFill>
                      <a:prstDash val="solid"/>
                      <a:round/>
                      <a:headEnd type="none" w="med" len="med"/>
                      <a:tailEnd type="none" w="med" len="med"/>
                    </a:lnR>
                    <a:lnT w="6350" cap="flat" cmpd="sng" algn="ctr">
                      <a:solidFill>
                        <a:srgbClr val="DFE6EE"/>
                      </a:solidFill>
                      <a:prstDash val="solid"/>
                      <a:round/>
                      <a:headEnd type="none" w="med" len="med"/>
                      <a:tailEnd type="none" w="med" len="med"/>
                    </a:lnT>
                    <a:lnB w="6350" cap="flat" cmpd="sng" algn="ctr">
                      <a:solidFill>
                        <a:srgbClr val="DFE6EE"/>
                      </a:solidFill>
                      <a:prstDash val="solid"/>
                      <a:round/>
                      <a:headEnd type="none" w="med" len="med"/>
                      <a:tailEnd type="none" w="med" len="med"/>
                    </a:lnB>
                    <a:solidFill>
                      <a:srgbClr val="FFFFFF"/>
                    </a:solidFill>
                  </a:tcPr>
                </a:tc>
                <a:tc>
                  <a:txBody>
                    <a:bodyPr/>
                    <a:lstStyle/>
                    <a:p>
                      <a:pPr indent="0" marL="0">
                        <a:buNone/>
                      </a:pPr>
                      <a:r>
                        <a:rPr lang="en-US" sz="900" dirty="0">
                          <a:solidFill>
                            <a:srgbClr val="1F2A38"/>
                          </a:solidFill>
                          <a:latin typeface="Calibri" pitchFamily="34" charset="0"/>
                          <a:ea typeface="Calibri" pitchFamily="34" charset="-122"/>
                          <a:cs typeface="Calibri" pitchFamily="34" charset="-120"/>
                        </a:rPr>
                        <a:t>AI proposals, GraphRAG answers with citations</a:t>
                      </a:r>
                      <a:endParaRPr lang="en-US" sz="900" dirty="0">
                        <a:latin typeface="Calibri" charset="0"/>
                        <a:ea typeface="Calibri" charset="0"/>
                        <a:cs typeface="Calibri" charset="0"/>
                      </a:endParaRPr>
                    </a:p>
                  </a:txBody>
                  <a:tcPr marL="41148" marR="41148" marT="41148" marB="41148" anchor="ctr">
                    <a:lnL w="6350" cap="flat" cmpd="sng" algn="ctr">
                      <a:solidFill>
                        <a:srgbClr val="DFE6EE"/>
                      </a:solidFill>
                      <a:prstDash val="solid"/>
                      <a:round/>
                      <a:headEnd type="none" w="med" len="med"/>
                      <a:tailEnd type="none" w="med" len="med"/>
                    </a:lnL>
                    <a:lnR w="6350" cap="flat" cmpd="sng" algn="ctr">
                      <a:solidFill>
                        <a:srgbClr val="DFE6EE"/>
                      </a:solidFill>
                      <a:prstDash val="solid"/>
                      <a:round/>
                      <a:headEnd type="none" w="med" len="med"/>
                      <a:tailEnd type="none" w="med" len="med"/>
                    </a:lnR>
                    <a:lnT w="6350" cap="flat" cmpd="sng" algn="ctr">
                      <a:solidFill>
                        <a:srgbClr val="DFE6EE"/>
                      </a:solidFill>
                      <a:prstDash val="solid"/>
                      <a:round/>
                      <a:headEnd type="none" w="med" len="med"/>
                      <a:tailEnd type="none" w="med" len="med"/>
                    </a:lnT>
                    <a:lnB w="6350" cap="flat" cmpd="sng" algn="ctr">
                      <a:solidFill>
                        <a:srgbClr val="DFE6EE"/>
                      </a:solidFill>
                      <a:prstDash val="solid"/>
                      <a:round/>
                      <a:headEnd type="none" w="med" len="med"/>
                      <a:tailEnd type="none" w="med" len="med"/>
                    </a:lnB>
                    <a:solidFill>
                      <a:srgbClr val="FFFFFF"/>
                    </a:solidFill>
                  </a:tcPr>
                </a:tc>
              </a:tr>
              <a:tr h="347472">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T3</a:t>
                      </a:r>
                      <a:endParaRPr lang="en-US" sz="950" dirty="0">
                        <a:latin typeface="Calibri" charset="0"/>
                        <a:ea typeface="Calibri" charset="0"/>
                        <a:cs typeface="Calibri" charset="0"/>
                      </a:endParaRPr>
                    </a:p>
                  </a:txBody>
                  <a:tcPr marL="41148" marR="41148" marT="41148" marB="41148" anchor="ctr">
                    <a:lnL w="6350" cap="flat" cmpd="sng" algn="ctr">
                      <a:solidFill>
                        <a:srgbClr val="DFE6EE"/>
                      </a:solidFill>
                      <a:prstDash val="solid"/>
                      <a:round/>
                      <a:headEnd type="none" w="med" len="med"/>
                      <a:tailEnd type="none" w="med" len="med"/>
                    </a:lnL>
                    <a:lnR w="6350" cap="flat" cmpd="sng" algn="ctr">
                      <a:solidFill>
                        <a:srgbClr val="DFE6EE"/>
                      </a:solidFill>
                      <a:prstDash val="solid"/>
                      <a:round/>
                      <a:headEnd type="none" w="med" len="med"/>
                      <a:tailEnd type="none" w="med" len="med"/>
                    </a:lnR>
                    <a:lnT w="6350" cap="flat" cmpd="sng" algn="ctr">
                      <a:solidFill>
                        <a:srgbClr val="DFE6EE"/>
                      </a:solidFill>
                      <a:prstDash val="solid"/>
                      <a:round/>
                      <a:headEnd type="none" w="med" len="med"/>
                      <a:tailEnd type="none" w="med" len="med"/>
                    </a:lnT>
                    <a:lnB w="6350" cap="flat" cmpd="sng" algn="ctr">
                      <a:solidFill>
                        <a:srgbClr val="DFE6EE"/>
                      </a:solidFill>
                      <a:prstDash val="solid"/>
                      <a:round/>
                      <a:headEnd type="none" w="med" len="med"/>
                      <a:tailEnd type="none" w="med" len="med"/>
                    </a:lnB>
                    <a:solidFill>
                      <a:srgbClr val="C78F0D"/>
                    </a:solidFill>
                  </a:tcPr>
                </a:tc>
                <a:tc>
                  <a:txBody>
                    <a:bodyPr/>
                    <a:lstStyle/>
                    <a:p>
                      <a:pPr indent="0" marL="0">
                        <a:buNone/>
                      </a:pPr>
                      <a:r>
                        <a:rPr lang="en-US" sz="900" b="1" dirty="0">
                          <a:solidFill>
                            <a:srgbClr val="16263F"/>
                          </a:solidFill>
                          <a:latin typeface="Calibri" pitchFamily="34" charset="0"/>
                          <a:ea typeface="Calibri" pitchFamily="34" charset="-122"/>
                          <a:cs typeface="Calibri" pitchFamily="34" charset="-120"/>
                        </a:rPr>
                        <a:t>Minutes–hours</a:t>
                      </a:r>
                      <a:endParaRPr lang="en-US" sz="900" dirty="0">
                        <a:latin typeface="Calibri" charset="0"/>
                        <a:ea typeface="Calibri" charset="0"/>
                        <a:cs typeface="Calibri" charset="0"/>
                      </a:endParaRPr>
                    </a:p>
                  </a:txBody>
                  <a:tcPr marL="41148" marR="41148" marT="41148" marB="41148" anchor="ctr">
                    <a:lnL w="6350" cap="flat" cmpd="sng" algn="ctr">
                      <a:solidFill>
                        <a:srgbClr val="DFE6EE"/>
                      </a:solidFill>
                      <a:prstDash val="solid"/>
                      <a:round/>
                      <a:headEnd type="none" w="med" len="med"/>
                      <a:tailEnd type="none" w="med" len="med"/>
                    </a:lnL>
                    <a:lnR w="6350" cap="flat" cmpd="sng" algn="ctr">
                      <a:solidFill>
                        <a:srgbClr val="DFE6EE"/>
                      </a:solidFill>
                      <a:prstDash val="solid"/>
                      <a:round/>
                      <a:headEnd type="none" w="med" len="med"/>
                      <a:tailEnd type="none" w="med" len="med"/>
                    </a:lnR>
                    <a:lnT w="6350" cap="flat" cmpd="sng" algn="ctr">
                      <a:solidFill>
                        <a:srgbClr val="DFE6EE"/>
                      </a:solidFill>
                      <a:prstDash val="solid"/>
                      <a:round/>
                      <a:headEnd type="none" w="med" len="med"/>
                      <a:tailEnd type="none" w="med" len="med"/>
                    </a:lnT>
                    <a:lnB w="6350" cap="flat" cmpd="sng" algn="ctr">
                      <a:solidFill>
                        <a:srgbClr val="DFE6EE"/>
                      </a:solidFill>
                      <a:prstDash val="solid"/>
                      <a:round/>
                      <a:headEnd type="none" w="med" len="med"/>
                      <a:tailEnd type="none" w="med" len="med"/>
                    </a:lnB>
                    <a:solidFill>
                      <a:srgbClr val="F3F6FA"/>
                    </a:solidFill>
                  </a:tcPr>
                </a:tc>
                <a:tc>
                  <a:txBody>
                    <a:bodyPr/>
                    <a:lstStyle/>
                    <a:p>
                      <a:pPr indent="0" marL="0">
                        <a:buNone/>
                      </a:pPr>
                      <a:r>
                        <a:rPr lang="en-US" sz="900" dirty="0">
                          <a:solidFill>
                            <a:srgbClr val="1F2A38"/>
                          </a:solidFill>
                          <a:latin typeface="Calibri" pitchFamily="34" charset="0"/>
                          <a:ea typeface="Calibri" pitchFamily="34" charset="-122"/>
                          <a:cs typeface="Calibri" pitchFamily="34" charset="-120"/>
                        </a:rPr>
                        <a:t>Durable workflows; client re-syncs on resume</a:t>
                      </a:r>
                      <a:endParaRPr lang="en-US" sz="900" dirty="0">
                        <a:latin typeface="Calibri" charset="0"/>
                        <a:ea typeface="Calibri" charset="0"/>
                        <a:cs typeface="Calibri" charset="0"/>
                      </a:endParaRPr>
                    </a:p>
                  </a:txBody>
                  <a:tcPr marL="41148" marR="41148" marT="41148" marB="41148" anchor="ctr">
                    <a:lnL w="6350" cap="flat" cmpd="sng" algn="ctr">
                      <a:solidFill>
                        <a:srgbClr val="DFE6EE"/>
                      </a:solidFill>
                      <a:prstDash val="solid"/>
                      <a:round/>
                      <a:headEnd type="none" w="med" len="med"/>
                      <a:tailEnd type="none" w="med" len="med"/>
                    </a:lnL>
                    <a:lnR w="6350" cap="flat" cmpd="sng" algn="ctr">
                      <a:solidFill>
                        <a:srgbClr val="DFE6EE"/>
                      </a:solidFill>
                      <a:prstDash val="solid"/>
                      <a:round/>
                      <a:headEnd type="none" w="med" len="med"/>
                      <a:tailEnd type="none" w="med" len="med"/>
                    </a:lnR>
                    <a:lnT w="6350" cap="flat" cmpd="sng" algn="ctr">
                      <a:solidFill>
                        <a:srgbClr val="DFE6EE"/>
                      </a:solidFill>
                      <a:prstDash val="solid"/>
                      <a:round/>
                      <a:headEnd type="none" w="med" len="med"/>
                      <a:tailEnd type="none" w="med" len="med"/>
                    </a:lnT>
                    <a:lnB w="6350" cap="flat" cmpd="sng" algn="ctr">
                      <a:solidFill>
                        <a:srgbClr val="DFE6EE"/>
                      </a:solidFill>
                      <a:prstDash val="solid"/>
                      <a:round/>
                      <a:headEnd type="none" w="med" len="med"/>
                      <a:tailEnd type="none" w="med" len="med"/>
                    </a:lnB>
                    <a:solidFill>
                      <a:srgbClr val="F3F6FA"/>
                    </a:solidFill>
                  </a:tcPr>
                </a:tc>
                <a:tc>
                  <a:txBody>
                    <a:bodyPr/>
                    <a:lstStyle/>
                    <a:p>
                      <a:pPr indent="0" marL="0">
                        <a:buNone/>
                      </a:pPr>
                      <a:r>
                        <a:rPr lang="en-US" sz="900" dirty="0">
                          <a:solidFill>
                            <a:srgbClr val="1F2A38"/>
                          </a:solidFill>
                          <a:latin typeface="Calibri" pitchFamily="34" charset="0"/>
                          <a:ea typeface="Calibri" pitchFamily="34" charset="-122"/>
                          <a:cs typeface="Calibri" pitchFamily="34" charset="-120"/>
                        </a:rPr>
                        <a:t>HITL approval, flywheel delta capture</a:t>
                      </a:r>
                      <a:endParaRPr lang="en-US" sz="900" dirty="0">
                        <a:latin typeface="Calibri" charset="0"/>
                        <a:ea typeface="Calibri" charset="0"/>
                        <a:cs typeface="Calibri" charset="0"/>
                      </a:endParaRPr>
                    </a:p>
                  </a:txBody>
                  <a:tcPr marL="41148" marR="41148" marT="41148" marB="41148" anchor="ctr">
                    <a:lnL w="6350" cap="flat" cmpd="sng" algn="ctr">
                      <a:solidFill>
                        <a:srgbClr val="DFE6EE"/>
                      </a:solidFill>
                      <a:prstDash val="solid"/>
                      <a:round/>
                      <a:headEnd type="none" w="med" len="med"/>
                      <a:tailEnd type="none" w="med" len="med"/>
                    </a:lnL>
                    <a:lnR w="6350" cap="flat" cmpd="sng" algn="ctr">
                      <a:solidFill>
                        <a:srgbClr val="DFE6EE"/>
                      </a:solidFill>
                      <a:prstDash val="solid"/>
                      <a:round/>
                      <a:headEnd type="none" w="med" len="med"/>
                      <a:tailEnd type="none" w="med" len="med"/>
                    </a:lnR>
                    <a:lnT w="6350" cap="flat" cmpd="sng" algn="ctr">
                      <a:solidFill>
                        <a:srgbClr val="DFE6EE"/>
                      </a:solidFill>
                      <a:prstDash val="solid"/>
                      <a:round/>
                      <a:headEnd type="none" w="med" len="med"/>
                      <a:tailEnd type="none" w="med" len="med"/>
                    </a:lnT>
                    <a:lnB w="6350" cap="flat" cmpd="sng" algn="ctr">
                      <a:solidFill>
                        <a:srgbClr val="DFE6EE"/>
                      </a:solidFill>
                      <a:prstDash val="solid"/>
                      <a:round/>
                      <a:headEnd type="none" w="med" len="med"/>
                      <a:tailEnd type="none" w="med" len="med"/>
                    </a:lnB>
                    <a:solidFill>
                      <a:srgbClr val="F3F6FA"/>
                    </a:solidFill>
                  </a:tcPr>
                </a:tc>
              </a:tr>
            </a:tbl>
          </a:graphicData>
        </a:graphic>
      </p:graphicFrame>
      <p:sp>
        <p:nvSpPr>
          <p:cNvPr id="22" name="Text 14"/>
          <p:cNvSpPr/>
          <p:nvPr/>
        </p:nvSpPr>
        <p:spPr>
          <a:xfrm>
            <a:off x="457200" y="4645152"/>
            <a:ext cx="8229600" cy="310896"/>
          </a:xfrm>
          <a:prstGeom prst="rect">
            <a:avLst/>
          </a:prstGeom>
          <a:noFill/>
          <a:ln/>
        </p:spPr>
        <p:txBody>
          <a:bodyPr wrap="square" lIns="0" tIns="0" rIns="0" bIns="0" rtlCol="0" anchor="ctr"/>
          <a:lstStyle/>
          <a:p>
            <a:pPr algn="ctr" indent="0" marL="0">
              <a:buNone/>
            </a:pPr>
            <a:r>
              <a:rPr lang="en-US" sz="1300" b="1" i="1" dirty="0">
                <a:solidFill>
                  <a:srgbClr val="C78F0D"/>
                </a:solidFill>
                <a:latin typeface="Cambria" pitchFamily="34" charset="0"/>
                <a:ea typeface="Cambria" pitchFamily="34" charset="-122"/>
                <a:cs typeface="Cambria" pitchFamily="34" charset="-120"/>
              </a:rPr>
              <a:t>“Unity becomes the GPU. The twin holds the truth. The edge carries the bytes. The brain stays where the data is.”</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Making Contextual Intelligence Construction Shippable</dc:title>
  <dc:subject>PptxGenJS Presentation</dc:subject>
  <dc:creator>StatusNeo FDE</dc:creator>
  <cp:lastModifiedBy>StatusNeo FDE</cp:lastModifiedBy>
  <cp:revision>1</cp:revision>
  <dcterms:created xsi:type="dcterms:W3CDTF">2026-06-13T01:10:02Z</dcterms:created>
  <dcterms:modified xsi:type="dcterms:W3CDTF">2026-06-13T01:10:02Z</dcterms:modified>
</cp:coreProperties>
</file>