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STAKES — WHY AN SDE, NOT JUST A PROCESS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actually bleeding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1993392" cy="2697480"/>
          </a:xfrm>
          <a:prstGeom prst="roundRect">
            <a:avLst>
              <a:gd name="adj" fmla="val 3670"/>
            </a:avLst>
          </a:prstGeom>
          <a:solidFill>
            <a:srgbClr val="F4F6FA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536192"/>
            <a:ext cx="384048" cy="384048"/>
          </a:xfrm>
          <a:prstGeom prst="ellipse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paying customers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706624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hasn't reached a revenue-able, shippable state.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87168" y="1325880"/>
            <a:ext cx="1993392" cy="2697480"/>
          </a:xfrm>
          <a:prstGeom prst="roundRect">
            <a:avLst>
              <a:gd name="adj" fmla="val 3670"/>
            </a:avLst>
          </a:prstGeom>
          <a:solidFill>
            <a:srgbClr val="F4F6FA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88336" y="1536192"/>
            <a:ext cx="384048" cy="384048"/>
          </a:xfrm>
          <a:prstGeom prst="ellipse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88336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70048" y="2084832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flow is broken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70048" y="2706624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don't complete a full, testable end-to-end path.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08576" y="1325880"/>
            <a:ext cx="1993392" cy="2697480"/>
          </a:xfrm>
          <a:prstGeom prst="roundRect">
            <a:avLst>
              <a:gd name="adj" fmla="val 3670"/>
            </a:avLst>
          </a:prstGeom>
          <a:solidFill>
            <a:srgbClr val="F4F6FA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9744" y="1536192"/>
            <a:ext cx="384048" cy="384048"/>
          </a:xfrm>
          <a:prstGeom prst="ellipse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9744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91456" y="2084832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scale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91456" y="2706624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won't carry production load or growth.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29984" y="1325880"/>
            <a:ext cx="1993392" cy="2697480"/>
          </a:xfrm>
          <a:prstGeom prst="roundRect">
            <a:avLst>
              <a:gd name="adj" fmla="val 3670"/>
            </a:avLst>
          </a:prstGeom>
          <a:solidFill>
            <a:srgbClr val="F4F6FA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31152" y="1536192"/>
            <a:ext cx="384048" cy="384048"/>
          </a:xfrm>
          <a:prstGeom prst="ellipse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3115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12864" y="2084832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Path-to-Green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12864" y="2706624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and business are blocked, with no workable way out.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425696"/>
            <a:ext cx="8412480" cy="603504"/>
          </a:xfrm>
          <a:prstGeom prst="roundRect">
            <a:avLst>
              <a:gd name="adj" fmla="val 10606"/>
            </a:avLst>
          </a:prstGeom>
          <a:solidFill>
            <a:srgbClr val="16263F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" y="4572000"/>
            <a:ext cx="310896" cy="310896"/>
          </a:xfrm>
          <a:prstGeom prst="ellipse">
            <a:avLst/>
          </a:prstGeom>
          <a:solidFill>
            <a:srgbClr val="E8A816"/>
          </a:solidFill>
          <a:ln w="12700">
            <a:solidFill>
              <a:srgbClr val="E8A8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4425696"/>
            <a:ext cx="7626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StatusNeo's transformation fixes HOW we work — ownership, SDLC, velocity. These four bleed because of WHAT we've built. They're architecture problems — that's the rescue an SDE is for.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DIAGNOSIS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bleeding: there is no spine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965960" cy="603504"/>
          </a:xfrm>
          <a:prstGeom prst="roundRect">
            <a:avLst>
              <a:gd name="adj" fmla="val 9091"/>
            </a:avLst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0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broken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395728" y="1673352"/>
            <a:ext cx="182880" cy="0"/>
          </a:xfrm>
          <a:prstGeom prst="line">
            <a:avLst/>
          </a:prstGeom>
          <a:noFill/>
          <a:ln w="19050">
            <a:solidFill>
              <a:srgbClr val="5B6B7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670048" y="1371600"/>
            <a:ext cx="6108192" cy="603504"/>
          </a:xfrm>
          <a:prstGeom prst="roundRect">
            <a:avLst>
              <a:gd name="adj" fmla="val 9091"/>
            </a:avLst>
          </a:prstGeom>
          <a:solidFill>
            <a:srgbClr val="F4F6FA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16352" y="1371600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truth lives in the Unity client; no deterministic contract between layers — so flows are non-deterministic and can't be tested headlessly.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1965960" cy="603504"/>
          </a:xfrm>
          <a:prstGeom prst="roundRect">
            <a:avLst>
              <a:gd name="adj" fmla="val 9091"/>
            </a:avLst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03120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scale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395728" y="2404872"/>
            <a:ext cx="182880" cy="0"/>
          </a:xfrm>
          <a:prstGeom prst="line">
            <a:avLst/>
          </a:prstGeom>
          <a:noFill/>
          <a:ln w="19050">
            <a:solidFill>
              <a:srgbClr val="5B6B7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670048" y="2103120"/>
            <a:ext cx="6108192" cy="603504"/>
          </a:xfrm>
          <a:prstGeom prst="roundRect">
            <a:avLst>
              <a:gd name="adj" fmla="val 9091"/>
            </a:avLst>
          </a:prstGeom>
          <a:solidFill>
            <a:srgbClr val="F4F6FA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16352" y="2103120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fat client, synchronous coupling, no CQRS or event streaming, no edge strategy for geometry.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1965960" cy="603504"/>
          </a:xfrm>
          <a:prstGeom prst="roundRect">
            <a:avLst>
              <a:gd name="adj" fmla="val 9091"/>
            </a:avLst>
          </a:prstGeom>
          <a:solidFill>
            <a:srgbClr val="C77D2A"/>
          </a:solidFill>
          <a:ln w="12700">
            <a:solidFill>
              <a:srgbClr val="C77D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834640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395728" y="3136392"/>
            <a:ext cx="182880" cy="0"/>
          </a:xfrm>
          <a:prstGeom prst="line">
            <a:avLst/>
          </a:prstGeom>
          <a:noFill/>
          <a:ln w="19050">
            <a:solidFill>
              <a:srgbClr val="5B6B7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670048" y="2834640"/>
            <a:ext cx="6108192" cy="603504"/>
          </a:xfrm>
          <a:prstGeom prst="roundRect">
            <a:avLst>
              <a:gd name="adj" fmla="val 9091"/>
            </a:avLst>
          </a:prstGeom>
          <a:solidFill>
            <a:srgbClr val="F4F6FA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16352" y="2834640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production-grade; rules enforced in batch (ASP/SPA), not inline; no BIM interoperability buyers expect.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566160"/>
            <a:ext cx="1965960" cy="603504"/>
          </a:xfrm>
          <a:prstGeom prst="roundRect">
            <a:avLst>
              <a:gd name="adj" fmla="val 9091"/>
            </a:avLst>
          </a:prstGeom>
          <a:solidFill>
            <a:srgbClr val="C77D2A"/>
          </a:solidFill>
          <a:ln w="12700">
            <a:solidFill>
              <a:srgbClr val="C77D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566160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Path-to-Green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395728" y="3867912"/>
            <a:ext cx="182880" cy="0"/>
          </a:xfrm>
          <a:prstGeom prst="line">
            <a:avLst/>
          </a:prstGeom>
          <a:noFill/>
          <a:ln w="19050">
            <a:solidFill>
              <a:srgbClr val="5B6B7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670048" y="3566160"/>
            <a:ext cx="6108192" cy="603504"/>
          </a:xfrm>
          <a:prstGeom prst="roundRect">
            <a:avLst>
              <a:gd name="adj" fmla="val 9091"/>
            </a:avLst>
          </a:prstGeom>
          <a:solidFill>
            <a:srgbClr val="F4F6FA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16352" y="3566160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of truth and no seams — every change risks everything; nothing can be isolated, tested, or shipped.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425696"/>
            <a:ext cx="8412480" cy="603504"/>
          </a:xfrm>
          <a:prstGeom prst="roundRect">
            <a:avLst>
              <a:gd name="adj" fmla="val 10606"/>
            </a:avLst>
          </a:prstGeom>
          <a:solidFill>
            <a:srgbClr val="16263F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" y="4572000"/>
            <a:ext cx="310896" cy="310896"/>
          </a:xfrm>
          <a:prstGeom prst="ellipse">
            <a:avLst/>
          </a:prstGeom>
          <a:solidFill>
            <a:srgbClr val="E8A816"/>
          </a:solidFill>
          <a:ln w="12700">
            <a:solidFill>
              <a:srgbClr val="E8A8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4425696"/>
            <a:ext cx="7626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sells "the single source of truth." Internally, that truth is scattered across Unity, GraphQL, SQL Server, and Lakebase. Build the spine and the bleeding stops — I confirm specifics Day 1; the pattern holds.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RESCUE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Path-to-Green: six steps, twelve weeks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670048" cy="1298448"/>
          </a:xfrm>
          <a:prstGeom prst="roundRect">
            <a:avLst>
              <a:gd name="adj" fmla="val 4930"/>
            </a:avLst>
          </a:prstGeom>
          <a:solidFill>
            <a:srgbClr val="F4F6FA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12064" y="1517904"/>
            <a:ext cx="384048" cy="384048"/>
          </a:xfrm>
          <a:prstGeom prst="ellipse">
            <a:avLst/>
          </a:prstGeom>
          <a:solidFill>
            <a:srgbClr val="16263F"/>
          </a:solidFill>
          <a:ln w="12700">
            <a:solidFill>
              <a:srgbClr val="1626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9264" y="1527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938528" y="152704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the spine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12064" y="19202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truth from Unity into an event-sourced twin. Unity becomes the GPU.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12064" y="23957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foundation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82112" y="1371600"/>
            <a:ext cx="2670048" cy="1298448"/>
          </a:xfrm>
          <a:prstGeom prst="roundRect">
            <a:avLst>
              <a:gd name="adj" fmla="val 4930"/>
            </a:avLst>
          </a:prstGeom>
          <a:solidFill>
            <a:srgbClr val="F4F6FA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28416" y="1517904"/>
            <a:ext cx="384048" cy="384048"/>
          </a:xfrm>
          <a:prstGeom prst="ellipse">
            <a:avLst/>
          </a:prstGeom>
          <a:solidFill>
            <a:srgbClr val="16263F"/>
          </a:solidFill>
          <a:ln w="12700">
            <a:solidFill>
              <a:srgbClr val="1626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8416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85616" y="1527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2–4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0" y="152704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E2E real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28416" y="19202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deterministic gate + versioned contracts → deterministic, headlessly testable flows.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28416" y="23957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clears E2E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98464" y="1371600"/>
            <a:ext cx="2670048" cy="1298448"/>
          </a:xfrm>
          <a:prstGeom prst="roundRect">
            <a:avLst>
              <a:gd name="adj" fmla="val 4930"/>
            </a:avLst>
          </a:prstGeom>
          <a:solidFill>
            <a:srgbClr val="F4F6FA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44768" y="1517904"/>
            <a:ext cx="384048" cy="384048"/>
          </a:xfrm>
          <a:prstGeom prst="ellipse">
            <a:avLst/>
          </a:prstGeom>
          <a:solidFill>
            <a:srgbClr val="16263F"/>
          </a:solidFill>
          <a:ln w="12700">
            <a:solidFill>
              <a:srgbClr val="1626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01968" y="1527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4–8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571232" y="152704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scale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44768" y="19202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 + event streaming + content-addressed edge geometry.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44768" y="23957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clears scale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788920"/>
            <a:ext cx="2670048" cy="1298448"/>
          </a:xfrm>
          <a:prstGeom prst="roundRect">
            <a:avLst>
              <a:gd name="adj" fmla="val 4930"/>
            </a:avLst>
          </a:prstGeom>
          <a:solidFill>
            <a:srgbClr val="F4F6FA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12064" y="2935224"/>
            <a:ext cx="384048" cy="384048"/>
          </a:xfrm>
          <a:prstGeom prst="ellipse">
            <a:avLst/>
          </a:prstGeom>
          <a:solidFill>
            <a:srgbClr val="16263F"/>
          </a:solidFill>
          <a:ln w="12700">
            <a:solidFill>
              <a:srgbClr val="1626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9264" y="2944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6–10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938528" y="294436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intelligent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2064" y="33375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— LangGraph / MCP / GraphRAG, gate-governed.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12064" y="38130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moat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182112" y="2788920"/>
            <a:ext cx="2670048" cy="1298448"/>
          </a:xfrm>
          <a:prstGeom prst="roundRect">
            <a:avLst>
              <a:gd name="adj" fmla="val 4930"/>
            </a:avLst>
          </a:prstGeom>
          <a:solidFill>
            <a:srgbClr val="F4F6FA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28416" y="2935224"/>
            <a:ext cx="384048" cy="384048"/>
          </a:xfrm>
          <a:prstGeom prst="ellipse">
            <a:avLst/>
          </a:prstGeom>
          <a:solidFill>
            <a:srgbClr val="16263F"/>
          </a:solidFill>
          <a:ln w="12700">
            <a:solidFill>
              <a:srgbClr val="16263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28416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785616" y="2944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8–12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54880" y="294436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 BIM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28416" y="33375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 / BCF / Autodesk APS interoperability.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328416" y="38130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buyer fit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998464" y="2788920"/>
            <a:ext cx="2670048" cy="1298448"/>
          </a:xfrm>
          <a:prstGeom prst="roundRect">
            <a:avLst>
              <a:gd name="adj" fmla="val 4930"/>
            </a:avLst>
          </a:prstGeom>
          <a:solidFill>
            <a:srgbClr val="F4F6FA"/>
          </a:solidFill>
          <a:ln w="12700">
            <a:solidFill>
              <a:srgbClr val="1E7A4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44768" y="2935224"/>
            <a:ext cx="384048" cy="384048"/>
          </a:xfrm>
          <a:prstGeom prst="ellipse">
            <a:avLst/>
          </a:prstGeom>
          <a:solidFill>
            <a:srgbClr val="1E7A4C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44768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601968" y="2944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10–12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571232" y="294436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i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144768" y="33375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room type, end-to-end, production-grade vertical slice.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44768" y="38130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GREEN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" y="4425696"/>
            <a:ext cx="8412480" cy="603504"/>
          </a:xfrm>
          <a:prstGeom prst="roundRect">
            <a:avLst>
              <a:gd name="adj" fmla="val 10606"/>
            </a:avLst>
          </a:prstGeom>
          <a:solidFill>
            <a:srgbClr val="16263F"/>
          </a:solidFill>
          <a:ln/>
        </p:spPr>
      </p:sp>
      <p:sp>
        <p:nvSpPr>
          <p:cNvPr id="47" name="Shape 45"/>
          <p:cNvSpPr/>
          <p:nvPr/>
        </p:nvSpPr>
        <p:spPr>
          <a:xfrm>
            <a:off x="566928" y="4572000"/>
            <a:ext cx="310896" cy="310896"/>
          </a:xfrm>
          <a:prstGeom prst="ellipse">
            <a:avLst/>
          </a:prstGeom>
          <a:solidFill>
            <a:srgbClr val="E8A816"/>
          </a:solidFill>
          <a:ln w="12700">
            <a:solidFill>
              <a:srgbClr val="E8A81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24128" y="4425696"/>
            <a:ext cx="7626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clears a named blocker. Green = a production-grade vertical slice, shippable to customer #1. This is a sequenced rescue on clean seams — not a rewrite.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STATE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Green: production-grade, scalable, sellable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435608"/>
            <a:ext cx="237744" cy="237744"/>
          </a:xfrm>
          <a:prstGeom prst="ellipse">
            <a:avLst/>
          </a:prstGeom>
          <a:solidFill>
            <a:srgbClr val="1E7A4C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35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4944" y="1371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 </a:t>
            </a:r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testable, observable, scalable spine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90288" y="1435608"/>
            <a:ext cx="237744" cy="237744"/>
          </a:xfrm>
          <a:prstGeom prst="ellipse">
            <a:avLst/>
          </a:prstGeom>
          <a:solidFill>
            <a:srgbClr val="1E7A4C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0288" y="1435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19472" y="1371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Correct-by-construction  </a:t>
            </a:r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E2E flows that work, headlessly tested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039112"/>
            <a:ext cx="237744" cy="237744"/>
          </a:xfrm>
          <a:prstGeom prst="ellipse">
            <a:avLst/>
          </a:prstGeom>
          <a:solidFill>
            <a:srgbClr val="1E7A4C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39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4944" y="197510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Horizontally scalable  </a:t>
            </a:r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CQRS, event-streaming, edge, multi-region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90288" y="2039112"/>
            <a:ext cx="237744" cy="237744"/>
          </a:xfrm>
          <a:prstGeom prst="ellipse">
            <a:avLst/>
          </a:prstGeom>
          <a:solidFill>
            <a:srgbClr val="1E7A4C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0288" y="2039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19472" y="197510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&amp; governed  </a:t>
            </a:r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agentic AI, gated — the moat Autodesk lacks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642616"/>
            <a:ext cx="237744" cy="237744"/>
          </a:xfrm>
          <a:prstGeom prst="ellipse">
            <a:avLst/>
          </a:prstGeom>
          <a:solidFill>
            <a:srgbClr val="1E7A4C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426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4944" y="25786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Interoperable  </a:t>
            </a:r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BIM-federated — credible to AEC buyers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90288" y="2642616"/>
            <a:ext cx="237744" cy="237744"/>
          </a:xfrm>
          <a:prstGeom prst="ellipse">
            <a:avLst/>
          </a:prstGeom>
          <a:solidFill>
            <a:srgbClr val="1E7A4C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0288" y="26426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19472" y="25786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Shippable  </a:t>
            </a:r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production-grade slice → first paying customers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425696"/>
            <a:ext cx="8412480" cy="603504"/>
          </a:xfrm>
          <a:prstGeom prst="roundRect">
            <a:avLst>
              <a:gd name="adj" fmla="val 10606"/>
            </a:avLst>
          </a:prstGeom>
          <a:solidFill>
            <a:srgbClr val="16263F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" y="4572000"/>
            <a:ext cx="310896" cy="310896"/>
          </a:xfrm>
          <a:prstGeom prst="ellipse">
            <a:avLst/>
          </a:prstGeom>
          <a:solidFill>
            <a:srgbClr val="E8A816"/>
          </a:solidFill>
          <a:ln w="12700">
            <a:solidFill>
              <a:srgbClr val="E8A8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4425696"/>
            <a:ext cx="7626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StatusNeo's transformation + this architecture rescue = the complete picture. Process fixes HOW we work; architecture fixes WHAT we ship. One without the other never reaches green.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Jeeth</dc:creator>
  <cp:lastModifiedBy>Jeeth</cp:lastModifiedBy>
  <cp:revision>1</cp:revision>
  <dcterms:created xsi:type="dcterms:W3CDTF">2026-06-14T04:31:35Z</dcterms:created>
  <dcterms:modified xsi:type="dcterms:W3CDTF">2026-06-14T04:31:35Z</dcterms:modified>
</cp:coreProperties>
</file>