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Be explicit: Modutecture already has the twin and Base Moducules. These three slides are the ARCHITECTURE PRINCIPLES we propose to add on top - renderer-independence, AI composition + an inline gate, and a precise relationship model. Say their platform first, our addition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Their twin holds truth. The proposal is renderer-independence: every view renders the same versioned payload and owns no state. Their Unity experience becomes a thin client over the twin (Unity as the GPU). Web lenses shown are our prototype demonstrating it. The point: swap any renderer, the truth never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this to them: Base Moducules (Get/Create) is THEIR reusable rule-bearing catalog. What we add on top: an AI agent that composes rooms from it, and an inline correctness gate. Demo proof: stamped one Standard ICU Room into three; all COMPLIANT, each bed earning its med-gas edge. Key line: stamping never bypasses the gate - reuse their design, re-earn the compliance per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data-model answer a Lead Architect probes for. Three relationship types, each with the correct structure: containment is an n-ary tree (exclusive ownership); type composition is a DAG (shared types have many parents - that's the blast radius / celebrity write); relationships are directed edges earned by validation. The closing line is the keeper: trees where you own, DAGs where you reuse, edges where you connect - every edge earned, never promiscuous. That maps to 'lego': composition with reuse, not chaos.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80360"/>
            <a:ext cx="12161520" cy="27432"/>
          </a:xfrm>
          <a:prstGeom prst="rect">
            <a:avLst/>
          </a:prstGeom>
          <a:solidFill>
            <a:srgbClr val="E8A8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MODUTECTURE PLATFORM  +  PROPOSED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Architecture Principles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Modutecture's twin and Base Moducules - the rigor we propose to add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3375A"/>
          </a:solidFill>
          <a:ln w="12700">
            <a:solidFill>
              <a:srgbClr val="3150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lenses, one twin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440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B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twin, rendered everywhere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3977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3375A"/>
          </a:solidFill>
          <a:ln w="12700">
            <a:solidFill>
              <a:srgbClr val="3150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Moducules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5440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B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reusable catalog, composed by 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3977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3375A"/>
          </a:solidFill>
          <a:ln w="12700">
            <a:solidFill>
              <a:srgbClr val="3150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7532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graph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5440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B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DAGs, earned edges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1 - ON THEIR TWIN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lenses, one twin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Modutecture's twin holds the truth. We propose renderer-independence: every view renders the same versioned payload and owns no state - so any renderer (incl. their Unity) is swappable and all stay in sync.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74920" y="3383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 w="25400">
            <a:solidFill>
              <a:srgbClr val="E8A81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33832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
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truth
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gate
</a:t>
            </a:r>
            <a:endParaRPr lang="en-US" sz="15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down - intents 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83080" y="2514600"/>
            <a:ext cx="3657600" cy="86868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803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SVG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94760" y="2514600"/>
            <a:ext cx="1645920" cy="86868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(web)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>
            <a:off x="6720840" y="2514600"/>
            <a:ext cx="1645920" cy="86868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18745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6404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H="1">
            <a:off x="6720840" y="2514600"/>
            <a:ext cx="3657600" cy="86868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892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6B4F9E"/>
          </a:solidFill>
          <a:ln w="12700">
            <a:solidFill>
              <a:srgbClr val="6B4F9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client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1783080" y="4754880"/>
            <a:ext cx="3657600" cy="13716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4892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6B4F9E"/>
          </a:solidFill>
          <a:ln w="12700">
            <a:solidFill>
              <a:srgbClr val="6B4F9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80360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client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3794760" y="4754880"/>
            <a:ext cx="1645920" cy="13716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4892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52360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IoT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6720840" y="4754880"/>
            <a:ext cx="1645920" cy="13716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64040" y="48920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5B6B7E"/>
          </a:solidFill>
          <a:ln w="12700">
            <a:solidFill>
              <a:srgbClr val="5B6B7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464040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/ Space Bot*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flipH="1" flipV="1">
            <a:off x="6720840" y="4754880"/>
            <a:ext cx="3657600" cy="137160"/>
          </a:xfrm>
          <a:prstGeom prst="line">
            <a:avLst/>
          </a:prstGeom>
          <a:noFill/>
          <a:ln w="19050">
            <a:solidFill>
              <a:srgbClr val="C3D0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773168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/>
          </a:lstStyle>
          <a:p>
            <a:pPr algn="ctr"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down - intents &amp; telemetry up</a:t>
            </a:r>
            <a:endParaRPr lang="en-US" sz="100" dirty="0"/>
          </a:p>
        </p:txBody>
      </p:sp>
      <p:sp>
        <p:nvSpPr>
          <p:cNvPr id="33" name="Text 31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 </a:t>
            </a:r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renderer, keep the truth. Web lenses are our prototype; their Unity experience becomes a thin client over the twin; </a:t>
            </a:r>
            <a:pPr indent="0" marL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Bot &amp; Builders attach the same way.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2 - THEIR FEATURE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Moducules — design once, reuse everywhere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Modutecture's own </a:t>
            </a:r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Moducules (Get/Create)</a:t>
            </a:r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their reusable, rule-bearing catalog. What we add: an AI agent that composes from it, and an inline gate that re-validates every placement.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TEMPLATE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22225">
            <a:solidFill>
              <a:srgbClr val="E8A81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ICU Room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Moducule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3383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5468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Headwall HW-204  </a:t>
            </a:r>
            <a:pPr indent="0" marL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med-gas source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867912"/>
            <a:ext cx="3383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679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Bed  </a:t>
            </a:r>
            <a:pPr indent="0" marL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med-gas edge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581144"/>
            <a:ext cx="3383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8114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Sink  </a:t>
            </a:r>
            <a:pPr indent="0" marL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side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3794760"/>
            <a:ext cx="1051560" cy="0"/>
          </a:xfrm>
          <a:prstGeom prst="line">
            <a:avLst/>
          </a:prstGeom>
          <a:noFill/>
          <a:ln w="28575">
            <a:solidFill>
              <a:srgbClr val="E8A81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343400" y="3429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3950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874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INTO MANY ROOMS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219456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Room 101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69680" y="2450592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0" y="24505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33272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items - 1 edge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0" y="3273552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2735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Room 102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869680" y="3529584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69680" y="35295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32720" y="32735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items - 1 edge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4352544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435254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Room 103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869680" y="4608576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869680" y="4608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332720" y="435254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items - 1 edge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add:  </a:t>
            </a:r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inline correctness gate so stamping never bypasses validation - each component re-checks against that room's real state. Reuse their design, </a:t>
            </a:r>
            <a:pPr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re-earn the compliance.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626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3 - PROPOSED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relationship model: a directed graph, not a free mesh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relationship types, each with the right structure. This is the data-model answer a Lead Architect probes for.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3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74520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n-ary tree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69164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3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874520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6B4F9E"/>
          </a:solidFill>
          <a:ln w="12700">
            <a:solidFill>
              <a:srgbClr val="6B4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874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COMPOSITION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2395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4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 (shared, acyclic)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3F6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1874520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874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23957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7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directed edges, earned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2834640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1626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8346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24712" y="3419856"/>
            <a:ext cx="20299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1626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419856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7552" y="3255264"/>
            <a:ext cx="137160" cy="164592"/>
          </a:xfrm>
          <a:prstGeom prst="line">
            <a:avLst/>
          </a:prstGeom>
          <a:noFill/>
          <a:ln w="15875">
            <a:solidFill>
              <a:srgbClr val="5B6B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80744" y="4005072"/>
            <a:ext cx="1773936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1626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0744" y="400507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43584" y="3840480"/>
            <a:ext cx="137160" cy="164592"/>
          </a:xfrm>
          <a:prstGeom prst="line">
            <a:avLst/>
          </a:prstGeom>
          <a:noFill/>
          <a:ln w="15875">
            <a:solidFill>
              <a:srgbClr val="5B6B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36776" y="4590288"/>
            <a:ext cx="151790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875">
            <a:solidFill>
              <a:srgbClr val="1626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36776" y="4590288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99616" y="4425696"/>
            <a:ext cx="137160" cy="164592"/>
          </a:xfrm>
          <a:prstGeom prst="line">
            <a:avLst/>
          </a:prstGeom>
          <a:noFill/>
          <a:ln w="15875">
            <a:solidFill>
              <a:srgbClr val="5B6B7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2834640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4F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834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2834640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4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834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76672" y="39776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FE9F6"/>
          </a:solidFill>
          <a:ln w="19050">
            <a:solidFill>
              <a:srgbClr val="6B4F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3977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03520" y="3291840"/>
            <a:ext cx="777240" cy="685800"/>
          </a:xfrm>
          <a:prstGeom prst="line">
            <a:avLst/>
          </a:prstGeom>
          <a:noFill/>
          <a:ln w="19050">
            <a:solidFill>
              <a:srgbClr val="6B4F9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6089904" y="3291840"/>
            <a:ext cx="685800" cy="685800"/>
          </a:xfrm>
          <a:prstGeom prst="line">
            <a:avLst/>
          </a:prstGeom>
          <a:noFill/>
          <a:ln w="19050">
            <a:solidFill>
              <a:srgbClr val="6B4F9E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736592" y="4553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4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= many parents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95360" y="292608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104120" y="384048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0412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Headwall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235440" y="3429000"/>
            <a:ext cx="1143000" cy="411480"/>
          </a:xfrm>
          <a:prstGeom prst="line">
            <a:avLst/>
          </a:prstGeom>
          <a:noFill/>
          <a:ln w="22225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23544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7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med_gas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95360" y="4526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only if reach OK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1520" y="5029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-&gt; Floor -&gt; Room -&gt; component. Strict, exclusive ownership: a component lives in exactly one room.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45152" y="5029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Moducule is built from Moducules. Shared types have many parents -&gt; that's the blast radius / 'celebrity write'.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549640" y="5029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--med_gas--&gt; headwall, adjacency, dependencies. Created only when validation passes.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6053328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16263F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60533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where you own, DAGs where you reuse, edges where you connect </a:t>
            </a:r>
            <a:pPr algn="ctr" indent="0" marL="0">
              <a:buNone/>
            </a:pPr>
            <a:r>
              <a:rPr lang="en-US" sz="1400" b="1" i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every edge is earned, never promiscuous.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Modutecture — Core Differentiators</dc:title>
  <dc:subject>PptxGenJS Presentation</dc:subject>
  <dc:creator>Jeeth</dc:creator>
  <cp:lastModifiedBy>Jeeth</cp:lastModifiedBy>
  <cp:revision>1</cp:revision>
  <dcterms:created xsi:type="dcterms:W3CDTF">2026-06-14T04:18:23Z</dcterms:created>
  <dcterms:modified xsi:type="dcterms:W3CDTF">2026-06-14T04:18:23Z</dcterms:modified>
</cp:coreProperties>
</file>